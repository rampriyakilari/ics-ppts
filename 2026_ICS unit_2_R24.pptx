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114"/>
  </p:notesMasterIdLst>
  <p:sldIdLst>
    <p:sldId id="449" r:id="rId2"/>
    <p:sldId id="447" r:id="rId3"/>
    <p:sldId id="448" r:id="rId4"/>
    <p:sldId id="334" r:id="rId5"/>
    <p:sldId id="335" r:id="rId6"/>
    <p:sldId id="336" r:id="rId7"/>
    <p:sldId id="337" r:id="rId8"/>
    <p:sldId id="338" r:id="rId9"/>
    <p:sldId id="339" r:id="rId10"/>
    <p:sldId id="340" r:id="rId11"/>
    <p:sldId id="442" r:id="rId12"/>
    <p:sldId id="343" r:id="rId13"/>
    <p:sldId id="344" r:id="rId14"/>
    <p:sldId id="345" r:id="rId15"/>
    <p:sldId id="346" r:id="rId16"/>
    <p:sldId id="350" r:id="rId17"/>
    <p:sldId id="347" r:id="rId18"/>
    <p:sldId id="348" r:id="rId19"/>
    <p:sldId id="351" r:id="rId20"/>
    <p:sldId id="273" r:id="rId21"/>
    <p:sldId id="275" r:id="rId22"/>
    <p:sldId id="276" r:id="rId23"/>
    <p:sldId id="277" r:id="rId24"/>
    <p:sldId id="278" r:id="rId25"/>
    <p:sldId id="279" r:id="rId26"/>
    <p:sldId id="280" r:id="rId27"/>
    <p:sldId id="281" r:id="rId28"/>
    <p:sldId id="272" r:id="rId29"/>
    <p:sldId id="284" r:id="rId30"/>
    <p:sldId id="285" r:id="rId31"/>
    <p:sldId id="287" r:id="rId32"/>
    <p:sldId id="288" r:id="rId33"/>
    <p:sldId id="303" r:id="rId34"/>
    <p:sldId id="305" r:id="rId35"/>
    <p:sldId id="292" r:id="rId36"/>
    <p:sldId id="293" r:id="rId37"/>
    <p:sldId id="294" r:id="rId38"/>
    <p:sldId id="295" r:id="rId39"/>
    <p:sldId id="296" r:id="rId40"/>
    <p:sldId id="297" r:id="rId41"/>
    <p:sldId id="298" r:id="rId42"/>
    <p:sldId id="479" r:id="rId43"/>
    <p:sldId id="480" r:id="rId44"/>
    <p:sldId id="481" r:id="rId45"/>
    <p:sldId id="482" r:id="rId46"/>
    <p:sldId id="299" r:id="rId47"/>
    <p:sldId id="300" r:id="rId48"/>
    <p:sldId id="301" r:id="rId49"/>
    <p:sldId id="483" r:id="rId50"/>
    <p:sldId id="484" r:id="rId51"/>
    <p:sldId id="329" r:id="rId52"/>
    <p:sldId id="306" r:id="rId53"/>
    <p:sldId id="307" r:id="rId54"/>
    <p:sldId id="308" r:id="rId55"/>
    <p:sldId id="309" r:id="rId56"/>
    <p:sldId id="310" r:id="rId57"/>
    <p:sldId id="311" r:id="rId58"/>
    <p:sldId id="312" r:id="rId59"/>
    <p:sldId id="314" r:id="rId60"/>
    <p:sldId id="446" r:id="rId61"/>
    <p:sldId id="315" r:id="rId62"/>
    <p:sldId id="316" r:id="rId63"/>
    <p:sldId id="317" r:id="rId64"/>
    <p:sldId id="318" r:id="rId65"/>
    <p:sldId id="319" r:id="rId66"/>
    <p:sldId id="320" r:id="rId67"/>
    <p:sldId id="363" r:id="rId68"/>
    <p:sldId id="364" r:id="rId69"/>
    <p:sldId id="365" r:id="rId70"/>
    <p:sldId id="366" r:id="rId71"/>
    <p:sldId id="367" r:id="rId72"/>
    <p:sldId id="370" r:id="rId73"/>
    <p:sldId id="368" r:id="rId74"/>
    <p:sldId id="369" r:id="rId75"/>
    <p:sldId id="473" r:id="rId76"/>
    <p:sldId id="283" r:id="rId77"/>
    <p:sldId id="474" r:id="rId78"/>
    <p:sldId id="475" r:id="rId79"/>
    <p:sldId id="286" r:id="rId80"/>
    <p:sldId id="476" r:id="rId81"/>
    <p:sldId id="477" r:id="rId82"/>
    <p:sldId id="289" r:id="rId83"/>
    <p:sldId id="290" r:id="rId84"/>
    <p:sldId id="478" r:id="rId85"/>
    <p:sldId id="450" r:id="rId86"/>
    <p:sldId id="451" r:id="rId87"/>
    <p:sldId id="452" r:id="rId88"/>
    <p:sldId id="453" r:id="rId89"/>
    <p:sldId id="454" r:id="rId90"/>
    <p:sldId id="455" r:id="rId91"/>
    <p:sldId id="456" r:id="rId92"/>
    <p:sldId id="457" r:id="rId93"/>
    <p:sldId id="458" r:id="rId94"/>
    <p:sldId id="459" r:id="rId95"/>
    <p:sldId id="302" r:id="rId96"/>
    <p:sldId id="460" r:id="rId97"/>
    <p:sldId id="461" r:id="rId98"/>
    <p:sldId id="462" r:id="rId99"/>
    <p:sldId id="463" r:id="rId100"/>
    <p:sldId id="464" r:id="rId101"/>
    <p:sldId id="465" r:id="rId102"/>
    <p:sldId id="466" r:id="rId103"/>
    <p:sldId id="467" r:id="rId104"/>
    <p:sldId id="468" r:id="rId105"/>
    <p:sldId id="469" r:id="rId106"/>
    <p:sldId id="313" r:id="rId107"/>
    <p:sldId id="470" r:id="rId108"/>
    <p:sldId id="341" r:id="rId109"/>
    <p:sldId id="342" r:id="rId110"/>
    <p:sldId id="471" r:id="rId111"/>
    <p:sldId id="472" r:id="rId112"/>
    <p:sldId id="441" r:id="rId1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62" autoAdjust="0"/>
    <p:restoredTop sz="94660"/>
  </p:normalViewPr>
  <p:slideViewPr>
    <p:cSldViewPr>
      <p:cViewPr varScale="1">
        <p:scale>
          <a:sx n="78" d="100"/>
          <a:sy n="78" d="100"/>
        </p:scale>
        <p:origin x="1550" y="6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heme" Target="theme/theme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79D0103-41A8-4C2E-98AB-BA49B46FD603}" type="datetimeFigureOut">
              <a:rPr lang="en-US" smtClean="0"/>
              <a:pPr/>
              <a:t>7/20/2026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FF44C2F-19AD-4A9C-B075-1231F72F5DF8}"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3000" y="685800"/>
            <a:ext cx="4572000" cy="3429000"/>
          </a:xfrm>
        </p:spPr>
      </p:sp>
      <p:sp>
        <p:nvSpPr>
          <p:cNvPr id="3" name="Text Placeholder 2"/>
          <p:cNvSpPr>
            <a:spLocks noGrp="1"/>
          </p:cNvSpPr>
          <p:nvPr>
            <p:ph type="body" idx="3"/>
          </p:nvPr>
        </p:nvSpPr>
        <p:spPr/>
        <p:txBody>
          <a:bodyPr/>
          <a:lstStyle/>
          <a:p>
            <a:endParaRPr lang="en-US"/>
          </a:p>
        </p:txBody>
      </p:sp>
    </p:spTree>
    <p:extLst>
      <p:ext uri="{BB962C8B-B14F-4D97-AF65-F5344CB8AC3E}">
        <p14:creationId xmlns:p14="http://schemas.microsoft.com/office/powerpoint/2010/main" val="9627496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g153b09eb705_1_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7" name="Google Shape;477;g153b09eb705_1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g153b09eb705_1_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3" name="Google Shape;483;g153b09eb705_1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153b09eb705_1_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8" name="Google Shape;488;g153b09eb705_1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g153b09eb705_1_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3" name="Google Shape;493;g153b09eb705_1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FF44C2F-19AD-4A9C-B075-1231F72F5DF8}" type="slidenum">
              <a:rPr lang="en-US" smtClean="0"/>
              <a:pPr/>
              <a:t>32</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B8FB9F9-E2A0-40FD-A1A7-0CD52432B971}" type="slidenum">
              <a:rPr lang="en-US" smtClean="0"/>
              <a:pPr/>
              <a:t>88</a:t>
            </a:fld>
            <a:endParaRPr lang="en-US"/>
          </a:p>
        </p:txBody>
      </p:sp>
    </p:spTree>
    <p:extLst>
      <p:ext uri="{BB962C8B-B14F-4D97-AF65-F5344CB8AC3E}">
        <p14:creationId xmlns:p14="http://schemas.microsoft.com/office/powerpoint/2010/main" val="15841694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BCF4F4F-2D27-45BF-ACFF-C8ADEB839BF5}" type="datetimeFigureOut">
              <a:rPr lang="en-US" smtClean="0"/>
              <a:pPr/>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ECFF2D-3F18-4ECC-A11E-3F65DFA2AFF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BCF4F4F-2D27-45BF-ACFF-C8ADEB839BF5}" type="datetimeFigureOut">
              <a:rPr lang="en-US" smtClean="0"/>
              <a:pPr/>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ECFF2D-3F18-4ECC-A11E-3F65DFA2AFF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BCF4F4F-2D27-45BF-ACFF-C8ADEB839BF5}" type="datetimeFigureOut">
              <a:rPr lang="en-US" smtClean="0"/>
              <a:pPr/>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ECFF2D-3F18-4ECC-A11E-3F65DFA2AFF8}"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BCF4F4F-2D27-45BF-ACFF-C8ADEB839BF5}" type="datetimeFigureOut">
              <a:rPr lang="en-US" smtClean="0"/>
              <a:pPr/>
              <a:t>7/20/2026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ECFF2D-3F18-4ECC-A11E-3F65DFA2AFF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BCF4F4F-2D27-45BF-ACFF-C8ADEB839BF5}" type="datetimeFigureOut">
              <a:rPr lang="en-US" smtClean="0"/>
              <a:pPr/>
              <a:t>7/20/2026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FECFF2D-3F18-4ECC-A11E-3F65DFA2AFF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BCF4F4F-2D27-45BF-ACFF-C8ADEB839BF5}" type="datetimeFigureOut">
              <a:rPr lang="en-US" smtClean="0"/>
              <a:pPr/>
              <a:t>7/20/2026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FECFF2D-3F18-4ECC-A11E-3F65DFA2AFF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CF4F4F-2D27-45BF-ACFF-C8ADEB839BF5}" type="datetimeFigureOut">
              <a:rPr lang="en-US" smtClean="0"/>
              <a:pPr/>
              <a:t>7/20/2026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FECFF2D-3F18-4ECC-A11E-3F65DFA2AFF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BCF4F4F-2D27-45BF-ACFF-C8ADEB839BF5}" type="datetimeFigureOut">
              <a:rPr lang="en-US" smtClean="0"/>
              <a:pPr/>
              <a:t>7/20/2026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ECFF2D-3F18-4ECC-A11E-3F65DFA2AFF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BCF4F4F-2D27-45BF-ACFF-C8ADEB839BF5}" type="datetimeFigureOut">
              <a:rPr lang="en-US" smtClean="0"/>
              <a:pPr/>
              <a:t>7/20/2026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ECFF2D-3F18-4ECC-A11E-3F65DFA2AFF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BCF4F4F-2D27-45BF-ACFF-C8ADEB839BF5}" type="datetimeFigureOut">
              <a:rPr lang="en-US" smtClean="0"/>
              <a:pPr/>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ECFF2D-3F18-4ECC-A11E-3F65DFA2AFF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BCF4F4F-2D27-45BF-ACFF-C8ADEB839BF5}" type="datetimeFigureOut">
              <a:rPr lang="en-US" smtClean="0"/>
              <a:pPr/>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ECFF2D-3F18-4ECC-A11E-3F65DFA2AFF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CF4F4F-2D27-45BF-ACFF-C8ADEB839BF5}" type="datetimeFigureOut">
              <a:rPr lang="en-US" smtClean="0"/>
              <a:pPr/>
              <a:t>7/20/2026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ECFF2D-3F18-4ECC-A11E-3F65DFA2AFF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www.ibm.com/docs/en/SSLTBW_2.1.0/com.ibm.zos.v2r1.halz002/security_snmpv3.htm"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hyperlink" Target="https://practice.geeksforgeeks.org/problems/what-is-ssl" TargetMode="Externa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hyperlink" Target="https://www.techtarget.com/whatis/definition/character" TargetMode="Externa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hyperlink" Target="https://www.geeksforgeeks.org/difference-between-md5-and-sha1/" TargetMode="Externa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E2EFA-C04C-1469-F0CC-2A1C4FE3AAA6}"/>
              </a:ext>
            </a:extLst>
          </p:cNvPr>
          <p:cNvSpPr>
            <a:spLocks noGrp="1"/>
          </p:cNvSpPr>
          <p:nvPr>
            <p:ph type="title"/>
          </p:nvPr>
        </p:nvSpPr>
        <p:spPr>
          <a:xfrm>
            <a:off x="457200" y="274638"/>
            <a:ext cx="8229600" cy="1173162"/>
          </a:xfrm>
        </p:spPr>
        <p:txBody>
          <a:bodyPr>
            <a:normAutofit fontScale="90000"/>
          </a:bodyPr>
          <a:lstStyle/>
          <a:p>
            <a:r>
              <a:rPr lang="en-US" dirty="0"/>
              <a:t>UNIT -2</a:t>
            </a:r>
            <a:br>
              <a:rPr lang="en-US" dirty="0"/>
            </a:br>
            <a:r>
              <a:rPr lang="en-US" dirty="0"/>
              <a:t>CRYPTOGRAPHY AND CRYPTANALYSIS</a:t>
            </a:r>
            <a:endParaRPr lang="en-IN" dirty="0"/>
          </a:p>
        </p:txBody>
      </p:sp>
      <p:pic>
        <p:nvPicPr>
          <p:cNvPr id="8" name="Content Placeholder 7">
            <a:extLst>
              <a:ext uri="{FF2B5EF4-FFF2-40B4-BE49-F238E27FC236}">
                <a16:creationId xmlns:a16="http://schemas.microsoft.com/office/drawing/2014/main" id="{F810468E-F4F5-87C1-C8B3-92FC810C7C44}"/>
              </a:ext>
            </a:extLst>
          </p:cNvPr>
          <p:cNvPicPr>
            <a:picLocks noGrp="1" noChangeAspect="1"/>
          </p:cNvPicPr>
          <p:nvPr>
            <p:ph idx="1"/>
          </p:nvPr>
        </p:nvPicPr>
        <p:blipFill>
          <a:blip r:embed="rId2"/>
          <a:stretch>
            <a:fillRect/>
          </a:stretch>
        </p:blipFill>
        <p:spPr>
          <a:xfrm>
            <a:off x="457200" y="1828800"/>
            <a:ext cx="8229600" cy="3886200"/>
          </a:xfrm>
          <a:prstGeom prst="rect">
            <a:avLst/>
          </a:prstGeom>
        </p:spPr>
      </p:pic>
    </p:spTree>
    <p:extLst>
      <p:ext uri="{BB962C8B-B14F-4D97-AF65-F5344CB8AC3E}">
        <p14:creationId xmlns:p14="http://schemas.microsoft.com/office/powerpoint/2010/main" val="22962756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42A8CF8-BB21-3424-092F-405D56EA2082}"/>
              </a:ext>
            </a:extLst>
          </p:cNvPr>
          <p:cNvPicPr>
            <a:picLocks noGrp="1" noChangeAspect="1"/>
          </p:cNvPicPr>
          <p:nvPr>
            <p:ph idx="1"/>
          </p:nvPr>
        </p:nvPicPr>
        <p:blipFill>
          <a:blip r:embed="rId2"/>
          <a:stretch>
            <a:fillRect/>
          </a:stretch>
        </p:blipFill>
        <p:spPr>
          <a:xfrm>
            <a:off x="342900" y="990600"/>
            <a:ext cx="8458200" cy="3276600"/>
          </a:xfrm>
          <a:prstGeom prst="rect">
            <a:avLst/>
          </a:prstGeom>
        </p:spPr>
      </p:pic>
    </p:spTree>
    <p:extLst>
      <p:ext uri="{BB962C8B-B14F-4D97-AF65-F5344CB8AC3E}">
        <p14:creationId xmlns:p14="http://schemas.microsoft.com/office/powerpoint/2010/main" val="27843333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90C1F3A-36F2-7390-694A-8FF38E0A5DB6}"/>
              </a:ext>
            </a:extLst>
          </p:cNvPr>
          <p:cNvPicPr>
            <a:picLocks noChangeAspect="1"/>
          </p:cNvPicPr>
          <p:nvPr/>
        </p:nvPicPr>
        <p:blipFill>
          <a:blip r:embed="rId3"/>
          <a:stretch>
            <a:fillRect/>
          </a:stretch>
        </p:blipFill>
        <p:spPr>
          <a:xfrm>
            <a:off x="542925" y="1447800"/>
            <a:ext cx="8058150" cy="3819979"/>
          </a:xfrm>
          <a:prstGeom prst="rect">
            <a:avLst/>
          </a:prstGeom>
        </p:spPr>
      </p:pic>
    </p:spTree>
    <p:extLst>
      <p:ext uri="{BB962C8B-B14F-4D97-AF65-F5344CB8AC3E}">
        <p14:creationId xmlns:p14="http://schemas.microsoft.com/office/powerpoint/2010/main" val="30393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Introduction to Cryptography</a:t>
            </a:r>
          </a:p>
        </p:txBody>
      </p:sp>
      <p:sp>
        <p:nvSpPr>
          <p:cNvPr id="3" name="Content Placeholder 2"/>
          <p:cNvSpPr>
            <a:spLocks noGrp="1"/>
          </p:cNvSpPr>
          <p:nvPr>
            <p:ph idx="1"/>
          </p:nvPr>
        </p:nvSpPr>
        <p:spPr/>
        <p:txBody>
          <a:bodyPr>
            <a:normAutofit/>
          </a:bodyPr>
          <a:lstStyle/>
          <a:p>
            <a:pPr algn="just"/>
            <a:r>
              <a:rPr lang="en-US" sz="2400" dirty="0">
                <a:latin typeface="Times New Roman" pitchFamily="18" charset="0"/>
                <a:cs typeface="Times New Roman" pitchFamily="18" charset="0"/>
              </a:rPr>
              <a:t>Cryptography is </a:t>
            </a:r>
            <a:r>
              <a:rPr lang="en-US" sz="2400" b="1" dirty="0">
                <a:latin typeface="Times New Roman" pitchFamily="18" charset="0"/>
                <a:cs typeface="Times New Roman" pitchFamily="18" charset="0"/>
              </a:rPr>
              <a:t>a method of protecting information and communications through the use of codes, so that only those for whom the information is intended can read and process it</a:t>
            </a:r>
            <a:r>
              <a:rPr lang="en-US" sz="2400" dirty="0">
                <a:latin typeface="Times New Roman" pitchFamily="18" charset="0"/>
                <a:cs typeface="Times New Roman" pitchFamily="18" charset="0"/>
              </a:rPr>
              <a:t>.</a:t>
            </a:r>
          </a:p>
          <a:p>
            <a:pPr algn="just"/>
            <a:r>
              <a:rPr lang="en-US" sz="2400" dirty="0">
                <a:latin typeface="Times New Roman" pitchFamily="18" charset="0"/>
                <a:cs typeface="Times New Roman" pitchFamily="18" charset="0"/>
              </a:rPr>
              <a:t>Cryptography is </a:t>
            </a:r>
            <a:r>
              <a:rPr lang="en-US" sz="2400" b="1" dirty="0">
                <a:latin typeface="Times New Roman" pitchFamily="18" charset="0"/>
                <a:cs typeface="Times New Roman" pitchFamily="18" charset="0"/>
              </a:rPr>
              <a:t>the science of using mathematics to encrypt and decrypt data</a:t>
            </a:r>
            <a:r>
              <a:rPr lang="en-US" sz="2400" dirty="0">
                <a:latin typeface="Times New Roman" pitchFamily="18" charset="0"/>
                <a:cs typeface="Times New Roman" pitchFamily="18" charset="0"/>
              </a:rPr>
              <a:t>. Cryptography enables you to store sensitive information or transmit it across insecure networks (like the Internet) so that it cannot be read by anyone except the intended recipient.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Symmetric cryptography</a:t>
            </a:r>
          </a:p>
        </p:txBody>
      </p:sp>
      <p:sp>
        <p:nvSpPr>
          <p:cNvPr id="3" name="Content Placeholder 2"/>
          <p:cNvSpPr>
            <a:spLocks noGrp="1"/>
          </p:cNvSpPr>
          <p:nvPr>
            <p:ph idx="1"/>
          </p:nvPr>
        </p:nvSpPr>
        <p:spPr/>
        <p:txBody>
          <a:bodyPr>
            <a:normAutofit/>
          </a:bodyPr>
          <a:lstStyle/>
          <a:p>
            <a:pPr algn="just"/>
            <a:r>
              <a:rPr lang="en-US" sz="2400" dirty="0">
                <a:latin typeface="Times New Roman" pitchFamily="18" charset="0"/>
                <a:cs typeface="Times New Roman" pitchFamily="18" charset="0"/>
              </a:rPr>
              <a:t>Symmetric cryptography, known also as secret key cryptography, is </a:t>
            </a:r>
            <a:r>
              <a:rPr lang="en-US" sz="2400" b="1" dirty="0">
                <a:latin typeface="Times New Roman" pitchFamily="18" charset="0"/>
                <a:cs typeface="Times New Roman" pitchFamily="18" charset="0"/>
              </a:rPr>
              <a:t>the use of a single shared secret to share encrypted data between parties</a:t>
            </a:r>
            <a:r>
              <a:rPr lang="en-US" sz="2400" dirty="0">
                <a:latin typeface="Times New Roman" pitchFamily="18" charset="0"/>
                <a:cs typeface="Times New Roman" pitchFamily="18" charset="0"/>
              </a:rPr>
              <a:t>. Ciphers in this category are called symmetric because you use the same key to encrypt and to decrypt the data.</a:t>
            </a:r>
          </a:p>
          <a:p>
            <a:pPr algn="just"/>
            <a:r>
              <a:rPr lang="en-US" sz="2400" dirty="0">
                <a:latin typeface="Times New Roman" pitchFamily="18" charset="0"/>
                <a:cs typeface="Times New Roman" pitchFamily="18" charset="0"/>
              </a:rPr>
              <a:t>Some common symmetric key cryptography examples include the </a:t>
            </a:r>
            <a:r>
              <a:rPr lang="en-US" sz="2400" b="1" dirty="0">
                <a:latin typeface="Times New Roman" pitchFamily="18" charset="0"/>
                <a:cs typeface="Times New Roman" pitchFamily="18" charset="0"/>
              </a:rPr>
              <a:t>Advanced Encryption Standard (AES), the Data Encryption Standard (DES), along with IDEA, Blowfish, RC4 (</a:t>
            </a:r>
            <a:r>
              <a:rPr lang="en-US" sz="2400" b="1" dirty="0" err="1">
                <a:latin typeface="Times New Roman" pitchFamily="18" charset="0"/>
                <a:cs typeface="Times New Roman" pitchFamily="18" charset="0"/>
              </a:rPr>
              <a:t>Rivest</a:t>
            </a:r>
            <a:r>
              <a:rPr lang="en-US" sz="2400" b="1" dirty="0">
                <a:latin typeface="Times New Roman" pitchFamily="18" charset="0"/>
                <a:cs typeface="Times New Roman" pitchFamily="18" charset="0"/>
              </a:rPr>
              <a:t> Cipher 4), RC5 (</a:t>
            </a:r>
            <a:r>
              <a:rPr lang="en-US" sz="2400" b="1" dirty="0" err="1">
                <a:latin typeface="Times New Roman" pitchFamily="18" charset="0"/>
                <a:cs typeface="Times New Roman" pitchFamily="18" charset="0"/>
              </a:rPr>
              <a:t>Rivest</a:t>
            </a:r>
            <a:r>
              <a:rPr lang="en-US" sz="2400" b="1" dirty="0">
                <a:latin typeface="Times New Roman" pitchFamily="18" charset="0"/>
                <a:cs typeface="Times New Roman" pitchFamily="18" charset="0"/>
              </a:rPr>
              <a:t> Cipher 5), and RC6</a:t>
            </a:r>
            <a:endParaRPr lang="en-US" sz="2400" dirty="0">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types-of-encryption-symmetric-encryption.png"/>
          <p:cNvPicPr>
            <a:picLocks noGrp="1" noChangeAspect="1"/>
          </p:cNvPicPr>
          <p:nvPr>
            <p:ph idx="1"/>
          </p:nvPr>
        </p:nvPicPr>
        <p:blipFill>
          <a:blip r:embed="rId2" cstate="print"/>
          <a:stretch>
            <a:fillRect/>
          </a:stretch>
        </p:blipFill>
        <p:spPr>
          <a:xfrm>
            <a:off x="0" y="0"/>
            <a:ext cx="9144000" cy="6858000"/>
          </a:xfr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Asymmetric cryptography</a:t>
            </a:r>
          </a:p>
        </p:txBody>
      </p:sp>
      <p:sp>
        <p:nvSpPr>
          <p:cNvPr id="3" name="Content Placeholder 2"/>
          <p:cNvSpPr>
            <a:spLocks noGrp="1"/>
          </p:cNvSpPr>
          <p:nvPr>
            <p:ph idx="1"/>
          </p:nvPr>
        </p:nvSpPr>
        <p:spPr/>
        <p:txBody>
          <a:bodyPr>
            <a:normAutofit/>
          </a:bodyPr>
          <a:lstStyle/>
          <a:p>
            <a:pPr algn="just"/>
            <a:r>
              <a:rPr lang="en-US" sz="2400" dirty="0">
                <a:latin typeface="Times New Roman" pitchFamily="18" charset="0"/>
                <a:cs typeface="Times New Roman" pitchFamily="18" charset="0"/>
              </a:rPr>
              <a:t>Asymmetric cryptography, also known as public-key cryptography, is </a:t>
            </a:r>
            <a:r>
              <a:rPr lang="en-US" sz="2400" b="1" dirty="0">
                <a:latin typeface="Times New Roman" pitchFamily="18" charset="0"/>
                <a:cs typeface="Times New Roman" pitchFamily="18" charset="0"/>
              </a:rPr>
              <a:t>a process that uses a pair of related keys -- one public key and one private key -- to encrypt and decrypt a message and protect it from unauthorized access or use</a:t>
            </a:r>
            <a:r>
              <a:rPr lang="en-US" sz="2400" dirty="0">
                <a:latin typeface="Times New Roman" pitchFamily="18" charset="0"/>
                <a:cs typeface="Times New Roman" pitchFamily="18" charset="0"/>
              </a:rPr>
              <a:t>.</a:t>
            </a:r>
          </a:p>
          <a:p>
            <a:pPr algn="just"/>
            <a:r>
              <a:rPr lang="en-US" sz="2400" dirty="0">
                <a:latin typeface="Times New Roman" pitchFamily="18" charset="0"/>
                <a:cs typeface="Times New Roman" pitchFamily="18" charset="0"/>
              </a:rPr>
              <a:t>Examples of asymmetric encryption include: </a:t>
            </a:r>
            <a:r>
              <a:rPr lang="en-US" sz="2400" b="1" dirty="0" err="1">
                <a:latin typeface="Times New Roman" pitchFamily="18" charset="0"/>
                <a:cs typeface="Times New Roman" pitchFamily="18" charset="0"/>
              </a:rPr>
              <a:t>Rivest</a:t>
            </a:r>
            <a:r>
              <a:rPr lang="en-US" sz="2400" b="1" dirty="0">
                <a:latin typeface="Times New Roman" pitchFamily="18" charset="0"/>
                <a:cs typeface="Times New Roman" pitchFamily="18" charset="0"/>
              </a:rPr>
              <a:t> Shamir </a:t>
            </a:r>
            <a:r>
              <a:rPr lang="en-US" sz="2400" b="1" dirty="0" err="1">
                <a:latin typeface="Times New Roman" pitchFamily="18" charset="0"/>
                <a:cs typeface="Times New Roman" pitchFamily="18" charset="0"/>
              </a:rPr>
              <a:t>Adleman</a:t>
            </a:r>
            <a:r>
              <a:rPr lang="en-US" sz="2400" b="1" dirty="0">
                <a:latin typeface="Times New Roman" pitchFamily="18" charset="0"/>
                <a:cs typeface="Times New Roman" pitchFamily="18" charset="0"/>
              </a:rPr>
              <a:t> (RSA)</a:t>
            </a:r>
            <a:r>
              <a:rPr lang="en-US" sz="2400" dirty="0">
                <a:latin typeface="Times New Roman" pitchFamily="18" charset="0"/>
                <a:cs typeface="Times New Roman" pitchFamily="18" charset="0"/>
              </a:rPr>
              <a:t> the Digital Signature Standard (DSS), which incorporates the Digital Signature Algorithm (DSA) Elliptical Curve Cryptography (ECC)</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itchFamily="18" charset="0"/>
                <a:cs typeface="Times New Roman" pitchFamily="18" charset="0"/>
              </a:rPr>
              <a:t>Message authentication</a:t>
            </a:r>
          </a:p>
        </p:txBody>
      </p:sp>
      <p:sp>
        <p:nvSpPr>
          <p:cNvPr id="3" name="Content Placeholder 2"/>
          <p:cNvSpPr>
            <a:spLocks noGrp="1"/>
          </p:cNvSpPr>
          <p:nvPr>
            <p:ph idx="1"/>
          </p:nvPr>
        </p:nvSpPr>
        <p:spPr/>
        <p:txBody>
          <a:bodyPr>
            <a:normAutofit/>
          </a:bodyPr>
          <a:lstStyle/>
          <a:p>
            <a:pPr algn="just"/>
            <a:r>
              <a:rPr lang="en-US" sz="2400" dirty="0">
                <a:latin typeface="Times New Roman" pitchFamily="18" charset="0"/>
                <a:cs typeface="Times New Roman" pitchFamily="18" charset="0"/>
              </a:rPr>
              <a:t>Message authentication is </a:t>
            </a:r>
            <a:r>
              <a:rPr lang="en-US" sz="2400" b="1" dirty="0">
                <a:latin typeface="Times New Roman" pitchFamily="18" charset="0"/>
                <a:cs typeface="Times New Roman" pitchFamily="18" charset="0"/>
              </a:rPr>
              <a:t>another form of security</a:t>
            </a:r>
            <a:r>
              <a:rPr lang="en-US" sz="2400" dirty="0">
                <a:latin typeface="Times New Roman" pitchFamily="18" charset="0"/>
                <a:cs typeface="Times New Roman" pitchFamily="18" charset="0"/>
              </a:rPr>
              <a:t>. Similar to data encryption to ensure data confidentiality</a:t>
            </a:r>
          </a:p>
          <a:p>
            <a:pPr algn="just"/>
            <a:r>
              <a:rPr lang="en-US" sz="2400" dirty="0">
                <a:latin typeface="Times New Roman" pitchFamily="18" charset="0"/>
                <a:cs typeface="Times New Roman" pitchFamily="18" charset="0"/>
              </a:rPr>
              <a:t>Message authentication data security feature: Provides services to ensure the integrity of data for selected LU-LU sessions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8229600" cy="1143000"/>
          </a:xfrm>
        </p:spPr>
        <p:txBody>
          <a:bodyPr>
            <a:normAutofit fontScale="90000"/>
          </a:bodyPr>
          <a:lstStyle/>
          <a:p>
            <a:pPr algn="just"/>
            <a:r>
              <a:rPr lang="en-US" dirty="0"/>
              <a:t>Message Authentication Code (MAC)</a:t>
            </a:r>
          </a:p>
        </p:txBody>
      </p:sp>
      <p:sp>
        <p:nvSpPr>
          <p:cNvPr id="3" name="Content Placeholder 2"/>
          <p:cNvSpPr>
            <a:spLocks noGrp="1"/>
          </p:cNvSpPr>
          <p:nvPr>
            <p:ph idx="1"/>
          </p:nvPr>
        </p:nvSpPr>
        <p:spPr>
          <a:xfrm>
            <a:off x="457200" y="1600200"/>
            <a:ext cx="8382000" cy="4525963"/>
          </a:xfrm>
        </p:spPr>
        <p:txBody>
          <a:bodyPr>
            <a:normAutofit fontScale="92500" lnSpcReduction="20000"/>
          </a:bodyPr>
          <a:lstStyle/>
          <a:p>
            <a:pPr algn="just"/>
            <a:r>
              <a:rPr lang="en-US" dirty="0">
                <a:latin typeface="Times New Roman" pitchFamily="18" charset="0"/>
                <a:cs typeface="Times New Roman" pitchFamily="18" charset="0"/>
              </a:rPr>
              <a:t>MAC algorithm is a symmetric key cryptographic technique to provide message authentication. For establishing MAC process, the sender and receiver share a symmetric key K.</a:t>
            </a:r>
          </a:p>
          <a:p>
            <a:pPr algn="just"/>
            <a:r>
              <a:rPr lang="en-US" dirty="0">
                <a:latin typeface="Times New Roman" pitchFamily="18" charset="0"/>
                <a:cs typeface="Times New Roman" pitchFamily="18" charset="0"/>
              </a:rPr>
              <a:t>MAC is an encrypted checksum generated on the underlying message that is sent along with a message to ensure message authentication.</a:t>
            </a:r>
          </a:p>
          <a:p>
            <a:pPr algn="just"/>
            <a:r>
              <a:rPr lang="en-US" dirty="0">
                <a:latin typeface="Times New Roman" pitchFamily="18" charset="0"/>
                <a:cs typeface="Times New Roman" pitchFamily="18" charset="0"/>
              </a:rPr>
              <a:t>The process of using MAC for authentication is depicted in the following illustration −</a:t>
            </a:r>
          </a:p>
          <a:p>
            <a:pPr>
              <a:buNone/>
            </a:pPr>
            <a:br>
              <a:rPr lang="en-US" dirty="0"/>
            </a:b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mac.jpg"/>
          <p:cNvPicPr>
            <a:picLocks noGrp="1" noChangeAspect="1"/>
          </p:cNvPicPr>
          <p:nvPr>
            <p:ph idx="1"/>
          </p:nvPr>
        </p:nvPicPr>
        <p:blipFill>
          <a:blip r:embed="rId2" cstate="print"/>
          <a:stretch>
            <a:fillRect/>
          </a:stretch>
        </p:blipFill>
        <p:spPr>
          <a:xfrm>
            <a:off x="152400" y="152400"/>
            <a:ext cx="8634461" cy="2667000"/>
          </a:xfrm>
        </p:spPr>
      </p:pic>
      <p:sp>
        <p:nvSpPr>
          <p:cNvPr id="5" name="Rectangle 4"/>
          <p:cNvSpPr/>
          <p:nvPr/>
        </p:nvSpPr>
        <p:spPr>
          <a:xfrm>
            <a:off x="228600" y="2971800"/>
            <a:ext cx="8610600" cy="3785652"/>
          </a:xfrm>
          <a:prstGeom prst="rect">
            <a:avLst/>
          </a:prstGeom>
        </p:spPr>
        <p:txBody>
          <a:bodyPr wrap="square">
            <a:spAutoFit/>
          </a:bodyPr>
          <a:lstStyle/>
          <a:p>
            <a:pPr>
              <a:buFont typeface="Arial" pitchFamily="34" charset="0"/>
              <a:buChar char="•"/>
            </a:pPr>
            <a:r>
              <a:rPr lang="en-US" sz="2400" dirty="0">
                <a:latin typeface="Times New Roman" pitchFamily="18" charset="0"/>
                <a:cs typeface="Times New Roman" pitchFamily="18" charset="0"/>
              </a:rPr>
              <a:t>The sender uses some publicly known MAC algorithm, inputs the message and the secret key K and produces a MAC value.</a:t>
            </a:r>
          </a:p>
          <a:p>
            <a:pPr algn="just">
              <a:buFont typeface="Arial" pitchFamily="34" charset="0"/>
              <a:buChar char="•"/>
            </a:pPr>
            <a:r>
              <a:rPr lang="en-US" sz="2400" dirty="0">
                <a:latin typeface="Times New Roman" pitchFamily="18" charset="0"/>
                <a:cs typeface="Times New Roman" pitchFamily="18" charset="0"/>
              </a:rPr>
              <a:t>Similar to hash, MAC function also compresses an random long input into a fixed length output. </a:t>
            </a:r>
          </a:p>
          <a:p>
            <a:pPr>
              <a:buFont typeface="Arial" pitchFamily="34" charset="0"/>
              <a:buChar char="•"/>
            </a:pPr>
            <a:r>
              <a:rPr lang="en-US" sz="2400" dirty="0">
                <a:latin typeface="Times New Roman" pitchFamily="18" charset="0"/>
                <a:cs typeface="Times New Roman" pitchFamily="18" charset="0"/>
              </a:rPr>
              <a:t>The major difference between hash and MAC is that MAC uses secret key during the compression.</a:t>
            </a:r>
          </a:p>
          <a:p>
            <a:pPr>
              <a:buFont typeface="Arial" pitchFamily="34" charset="0"/>
              <a:buChar char="•"/>
            </a:pPr>
            <a:r>
              <a:rPr lang="en-US" sz="2400" dirty="0">
                <a:latin typeface="Times New Roman" pitchFamily="18" charset="0"/>
                <a:cs typeface="Times New Roman" pitchFamily="18" charset="0"/>
              </a:rPr>
              <a:t>The sender forwards the message along with the MAC. Here, we assume that the message is sent providing message origin authentication, not confidentiality.</a:t>
            </a:r>
          </a:p>
          <a:p>
            <a:pPr>
              <a:buFont typeface="Arial" pitchFamily="34" charset="0"/>
              <a:buChar char="•"/>
            </a:pPr>
            <a:r>
              <a:rPr lang="en-US" sz="2400" dirty="0">
                <a:latin typeface="Times New Roman" pitchFamily="18" charset="0"/>
                <a:cs typeface="Times New Roman" pitchFamily="18" charset="0"/>
              </a:rPr>
              <a:t> If confidentiality is required then the message needs encryption.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pPr algn="just"/>
            <a:r>
              <a:rPr lang="en-US" dirty="0">
                <a:latin typeface="Times New Roman" pitchFamily="18" charset="0"/>
                <a:cs typeface="Times New Roman" pitchFamily="18" charset="0"/>
              </a:rPr>
              <a:t>On receipt of the message and the MAC, the receiver feeds the received message and the shared secret key K into the MAC algorithm and re-computes the MAC value.</a:t>
            </a:r>
          </a:p>
          <a:p>
            <a:pPr algn="just"/>
            <a:r>
              <a:rPr lang="en-US" dirty="0">
                <a:latin typeface="Times New Roman" pitchFamily="18" charset="0"/>
                <a:cs typeface="Times New Roman" pitchFamily="18" charset="0"/>
              </a:rPr>
              <a:t>The receiver now checks equality of freshly computed MAC with the MAC received from the sender. If they match, then the receiver accepts the message and assures himself that the message has been sent by the intended sender.</a:t>
            </a:r>
          </a:p>
          <a:p>
            <a:pPr algn="just"/>
            <a:r>
              <a:rPr lang="en-US" dirty="0">
                <a:latin typeface="Times New Roman" pitchFamily="18" charset="0"/>
                <a:cs typeface="Times New Roman" pitchFamily="18" charset="0"/>
              </a:rPr>
              <a:t>If the computed MAC does not match the MAC sent by the sender, the receiver cannot determine whether it is the message that has been altered or it is the origin that has been falsified. As a bottom-line, a receiver safely assumes that the message is not the genuine.</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AutoShape 2" descr="26 Basic Uses of Message Authentication Code (MAC) | Download Scientific  Diagram"/>
          <p:cNvSpPr>
            <a:spLocks noChangeAspect="1" noChangeArrowheads="1"/>
          </p:cNvSpPr>
          <p:nvPr/>
        </p:nvSpPr>
        <p:spPr bwMode="auto">
          <a:xfrm>
            <a:off x="116681" y="-144463"/>
            <a:ext cx="2286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28" name="AutoShape 4" descr="26 Basic Uses of Message Authentication Code (MAC) | Download Scientific  Diagram"/>
          <p:cNvSpPr>
            <a:spLocks noChangeAspect="1" noChangeArrowheads="1"/>
          </p:cNvSpPr>
          <p:nvPr/>
        </p:nvSpPr>
        <p:spPr bwMode="auto">
          <a:xfrm>
            <a:off x="116681" y="-144463"/>
            <a:ext cx="2286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0" name="AutoShape 6" descr="26 Basic Uses of Message Authentication Code (MAC) | Download Scientific  Diagram"/>
          <p:cNvSpPr>
            <a:spLocks noChangeAspect="1" noChangeArrowheads="1"/>
          </p:cNvSpPr>
          <p:nvPr/>
        </p:nvSpPr>
        <p:spPr bwMode="auto">
          <a:xfrm>
            <a:off x="116681" y="-144463"/>
            <a:ext cx="2286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31" name="Picture 7"/>
          <p:cNvPicPr>
            <a:picLocks noChangeAspect="1" noChangeArrowheads="1"/>
          </p:cNvPicPr>
          <p:nvPr/>
        </p:nvPicPr>
        <p:blipFill>
          <a:blip r:embed="rId2"/>
          <a:srcRect/>
          <a:stretch>
            <a:fillRect/>
          </a:stretch>
        </p:blipFill>
        <p:spPr bwMode="auto">
          <a:xfrm>
            <a:off x="800100" y="685800"/>
            <a:ext cx="7886700" cy="5638799"/>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sp>
        <p:nvSpPr>
          <p:cNvPr id="479" name="Google Shape;479;p73"/>
          <p:cNvSpPr txBox="1">
            <a:spLocks noGrp="1"/>
          </p:cNvSpPr>
          <p:nvPr>
            <p:ph type="title" idx="4294967295"/>
          </p:nvPr>
        </p:nvSpPr>
        <p:spPr>
          <a:xfrm>
            <a:off x="304800" y="198437"/>
            <a:ext cx="7886700" cy="1325563"/>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IN" dirty="0">
                <a:latin typeface="Times New Roman" pitchFamily="18" charset="0"/>
                <a:cs typeface="Times New Roman" pitchFamily="18" charset="0"/>
              </a:rPr>
              <a:t>Digital Signatures</a:t>
            </a:r>
            <a:endParaRPr>
              <a:latin typeface="Times New Roman" pitchFamily="18" charset="0"/>
              <a:cs typeface="Times New Roman" pitchFamily="18" charset="0"/>
            </a:endParaRPr>
          </a:p>
        </p:txBody>
      </p:sp>
      <p:sp>
        <p:nvSpPr>
          <p:cNvPr id="480" name="Google Shape;480;p73"/>
          <p:cNvSpPr txBox="1">
            <a:spLocks noGrp="1"/>
          </p:cNvSpPr>
          <p:nvPr>
            <p:ph type="body" idx="4294967295"/>
          </p:nvPr>
        </p:nvSpPr>
        <p:spPr>
          <a:xfrm>
            <a:off x="457200" y="1524000"/>
            <a:ext cx="8229600" cy="4648200"/>
          </a:xfrm>
          <a:prstGeom prst="rect">
            <a:avLst/>
          </a:prstGeom>
        </p:spPr>
        <p:txBody>
          <a:bodyPr spcFirstLastPara="1" wrap="square" lIns="91425" tIns="45700" rIns="91425" bIns="45700" anchor="t" anchorCtr="0">
            <a:normAutofit/>
          </a:bodyPr>
          <a:lstStyle/>
          <a:p>
            <a:pPr marL="457200" lvl="0" indent="-342900" algn="just" rtl="0">
              <a:spcBef>
                <a:spcPts val="1000"/>
              </a:spcBef>
              <a:spcAft>
                <a:spcPts val="0"/>
              </a:spcAft>
              <a:buSzPts val="1800"/>
              <a:buFont typeface="Nunito"/>
              <a:buChar char="●"/>
            </a:pPr>
            <a:r>
              <a:rPr lang="en-IN" sz="2000" dirty="0">
                <a:highlight>
                  <a:srgbClr val="FFFFFF"/>
                </a:highlight>
                <a:latin typeface="Times New Roman" pitchFamily="18" charset="0"/>
                <a:ea typeface="Nunito"/>
                <a:cs typeface="Times New Roman" pitchFamily="18" charset="0"/>
                <a:sym typeface="Nunito"/>
              </a:rPr>
              <a:t>Digital signatures are the public-key primitives of message authentication. In the physical world, it is common to use handwritten signatures on handwritten or typed messages. They are used to bind signatory to the message.</a:t>
            </a:r>
            <a:endParaRPr sz="2000" dirty="0">
              <a:highlight>
                <a:srgbClr val="FFFFFF"/>
              </a:highlight>
              <a:latin typeface="Times New Roman" pitchFamily="18" charset="0"/>
              <a:ea typeface="Nunito"/>
              <a:cs typeface="Times New Roman" pitchFamily="18" charset="0"/>
              <a:sym typeface="Nunito"/>
            </a:endParaRPr>
          </a:p>
          <a:p>
            <a:pPr marL="457200" lvl="0" indent="-342900" algn="just" rtl="0">
              <a:lnSpc>
                <a:spcPct val="100000"/>
              </a:lnSpc>
              <a:spcBef>
                <a:spcPts val="0"/>
              </a:spcBef>
              <a:spcAft>
                <a:spcPts val="0"/>
              </a:spcAft>
              <a:buSzPts val="1800"/>
              <a:buFont typeface="Nunito"/>
              <a:buChar char="●"/>
            </a:pPr>
            <a:r>
              <a:rPr lang="en-IN" sz="2000" dirty="0">
                <a:latin typeface="Times New Roman" pitchFamily="18" charset="0"/>
                <a:ea typeface="Nunito"/>
                <a:cs typeface="Times New Roman" pitchFamily="18" charset="0"/>
                <a:sym typeface="Nunito"/>
              </a:rPr>
              <a:t>Similarly, a digital signature is a technique that binds a person/entity to the digital data. This binding can be independently verified by receiver as well as any third party.</a:t>
            </a:r>
            <a:endParaRPr sz="2000" dirty="0">
              <a:latin typeface="Times New Roman" pitchFamily="18" charset="0"/>
              <a:ea typeface="Nunito"/>
              <a:cs typeface="Times New Roman" pitchFamily="18" charset="0"/>
              <a:sym typeface="Nunito"/>
            </a:endParaRPr>
          </a:p>
          <a:p>
            <a:pPr marL="457200" lvl="0" indent="-342900" algn="just" rtl="0">
              <a:lnSpc>
                <a:spcPct val="100000"/>
              </a:lnSpc>
              <a:spcBef>
                <a:spcPts val="0"/>
              </a:spcBef>
              <a:spcAft>
                <a:spcPts val="0"/>
              </a:spcAft>
              <a:buSzPts val="1800"/>
              <a:buFont typeface="Nunito"/>
              <a:buChar char="●"/>
            </a:pPr>
            <a:r>
              <a:rPr lang="en-IN" sz="2000" dirty="0">
                <a:latin typeface="Times New Roman" pitchFamily="18" charset="0"/>
                <a:ea typeface="Nunito"/>
                <a:cs typeface="Times New Roman" pitchFamily="18" charset="0"/>
                <a:sym typeface="Nunito"/>
              </a:rPr>
              <a:t>Digital signature is a cryptographic value that is calculated from the data and a secret key known only by the signer.</a:t>
            </a:r>
            <a:endParaRPr sz="2000" dirty="0">
              <a:latin typeface="Times New Roman" pitchFamily="18" charset="0"/>
              <a:ea typeface="Nunito"/>
              <a:cs typeface="Times New Roman" pitchFamily="18" charset="0"/>
              <a:sym typeface="Nunito"/>
            </a:endParaRPr>
          </a:p>
          <a:p>
            <a:pPr marL="0" lvl="0" indent="0" algn="just" rtl="0">
              <a:lnSpc>
                <a:spcPct val="125000"/>
              </a:lnSpc>
              <a:spcBef>
                <a:spcPts val="1800"/>
              </a:spcBef>
              <a:spcAft>
                <a:spcPts val="0"/>
              </a:spcAft>
              <a:buNone/>
            </a:pPr>
            <a:r>
              <a:rPr lang="en-IN" sz="2000" b="1" dirty="0">
                <a:latin typeface="Times New Roman" pitchFamily="18" charset="0"/>
                <a:ea typeface="Arial"/>
                <a:cs typeface="Times New Roman" pitchFamily="18" charset="0"/>
                <a:sym typeface="Arial"/>
              </a:rPr>
              <a:t>Model of Digital Signature</a:t>
            </a:r>
            <a:endParaRPr sz="2000" b="1" dirty="0">
              <a:latin typeface="Times New Roman" pitchFamily="18" charset="0"/>
              <a:ea typeface="Arial"/>
              <a:cs typeface="Times New Roman" pitchFamily="18" charset="0"/>
              <a:sym typeface="Arial"/>
            </a:endParaRPr>
          </a:p>
          <a:p>
            <a:pPr marL="0" lvl="0" indent="0" algn="just" rtl="0">
              <a:lnSpc>
                <a:spcPct val="100000"/>
              </a:lnSpc>
              <a:spcBef>
                <a:spcPts val="600"/>
              </a:spcBef>
              <a:spcAft>
                <a:spcPts val="0"/>
              </a:spcAft>
              <a:buNone/>
            </a:pPr>
            <a:r>
              <a:rPr lang="en-IN" sz="2000" dirty="0">
                <a:latin typeface="Times New Roman" pitchFamily="18" charset="0"/>
                <a:ea typeface="Nunito"/>
                <a:cs typeface="Times New Roman" pitchFamily="18" charset="0"/>
                <a:sym typeface="Nunito"/>
              </a:rPr>
              <a:t>The digital signature scheme is based on public key cryptography. The model of digital signature scheme is depicted in the following illustration −</a:t>
            </a:r>
            <a:endParaRPr sz="2000" dirty="0">
              <a:latin typeface="Times New Roman" pitchFamily="18" charset="0"/>
              <a:ea typeface="Nunito"/>
              <a:cs typeface="Times New Roman" pitchFamily="18" charset="0"/>
              <a:sym typeface="Nunito"/>
            </a:endParaRPr>
          </a:p>
          <a:p>
            <a:pPr marL="0" lvl="0" indent="0" algn="l" rtl="0">
              <a:spcBef>
                <a:spcPts val="1000"/>
              </a:spcBef>
              <a:spcAft>
                <a:spcPts val="0"/>
              </a:spcAft>
              <a:buNone/>
            </a:pPr>
            <a:endParaRPr sz="1800" dirty="0">
              <a:highlight>
                <a:srgbClr val="FFFFFF"/>
              </a:highlight>
              <a:latin typeface="Nunito"/>
              <a:ea typeface="Nunito"/>
              <a:cs typeface="Nunito"/>
              <a:sym typeface="Nunit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pic>
        <p:nvPicPr>
          <p:cNvPr id="485" name="Google Shape;485;p74"/>
          <p:cNvPicPr preferRelativeResize="0"/>
          <p:nvPr/>
        </p:nvPicPr>
        <p:blipFill>
          <a:blip r:embed="rId3">
            <a:alphaModFix/>
          </a:blip>
          <a:stretch>
            <a:fillRect/>
          </a:stretch>
        </p:blipFill>
        <p:spPr>
          <a:xfrm>
            <a:off x="326569" y="982450"/>
            <a:ext cx="8194912" cy="45284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75"/>
          <p:cNvSpPr txBox="1"/>
          <p:nvPr/>
        </p:nvSpPr>
        <p:spPr>
          <a:xfrm>
            <a:off x="0" y="0"/>
            <a:ext cx="8970525" cy="4534031"/>
          </a:xfrm>
          <a:prstGeom prst="rect">
            <a:avLst/>
          </a:prstGeom>
          <a:noFill/>
          <a:ln>
            <a:noFill/>
          </a:ln>
        </p:spPr>
        <p:txBody>
          <a:bodyPr spcFirstLastPara="1" wrap="square" lIns="91425" tIns="91425" rIns="91425" bIns="91425" anchor="t" anchorCtr="0">
            <a:spAutoFit/>
          </a:bodyPr>
          <a:lstStyle/>
          <a:p>
            <a:pPr marL="0" lvl="0" indent="0" algn="just" rtl="0">
              <a:lnSpc>
                <a:spcPct val="160000"/>
              </a:lnSpc>
              <a:spcBef>
                <a:spcPts val="600"/>
              </a:spcBef>
              <a:spcAft>
                <a:spcPts val="0"/>
              </a:spcAft>
              <a:buNone/>
            </a:pPr>
            <a:r>
              <a:rPr lang="en-IN" dirty="0">
                <a:solidFill>
                  <a:schemeClr val="dk1"/>
                </a:solidFill>
                <a:latin typeface="Times New Roman" pitchFamily="18" charset="0"/>
                <a:ea typeface="Nunito"/>
                <a:cs typeface="Times New Roman" pitchFamily="18" charset="0"/>
                <a:sym typeface="Nunito"/>
              </a:rPr>
              <a:t>The following points explain the entire process in detail −</a:t>
            </a:r>
            <a:endParaRPr>
              <a:solidFill>
                <a:schemeClr val="dk1"/>
              </a:solidFill>
              <a:latin typeface="Times New Roman" pitchFamily="18" charset="0"/>
              <a:ea typeface="Nunito"/>
              <a:cs typeface="Times New Roman" pitchFamily="18" charset="0"/>
              <a:sym typeface="Nunito"/>
            </a:endParaRPr>
          </a:p>
          <a:p>
            <a:pPr marL="889000" lvl="0" indent="-349250" algn="l" rtl="0">
              <a:lnSpc>
                <a:spcPct val="150000"/>
              </a:lnSpc>
              <a:spcBef>
                <a:spcPts val="700"/>
              </a:spcBef>
              <a:spcAft>
                <a:spcPts val="0"/>
              </a:spcAft>
              <a:buClr>
                <a:schemeClr val="dk1"/>
              </a:buClr>
              <a:buSzPts val="1900"/>
              <a:buFont typeface="Nunito"/>
              <a:buChar char="●"/>
            </a:pPr>
            <a:r>
              <a:rPr lang="en-IN" dirty="0">
                <a:solidFill>
                  <a:schemeClr val="dk1"/>
                </a:solidFill>
                <a:latin typeface="Times New Roman" pitchFamily="18" charset="0"/>
                <a:ea typeface="Nunito"/>
                <a:cs typeface="Times New Roman" pitchFamily="18" charset="0"/>
                <a:sym typeface="Nunito"/>
              </a:rPr>
              <a:t>Each person adopting this scheme has a public-private key pair.</a:t>
            </a:r>
            <a:endParaRPr>
              <a:solidFill>
                <a:schemeClr val="dk1"/>
              </a:solidFill>
              <a:latin typeface="Times New Roman" pitchFamily="18" charset="0"/>
              <a:ea typeface="Nunito"/>
              <a:cs typeface="Times New Roman" pitchFamily="18" charset="0"/>
              <a:sym typeface="Nunito"/>
            </a:endParaRPr>
          </a:p>
          <a:p>
            <a:pPr marL="889000" lvl="0" indent="-349250" algn="l" rtl="0">
              <a:lnSpc>
                <a:spcPct val="150000"/>
              </a:lnSpc>
              <a:spcBef>
                <a:spcPts val="0"/>
              </a:spcBef>
              <a:spcAft>
                <a:spcPts val="0"/>
              </a:spcAft>
              <a:buClr>
                <a:schemeClr val="dk1"/>
              </a:buClr>
              <a:buSzPts val="1900"/>
              <a:buFont typeface="Nunito"/>
              <a:buChar char="●"/>
            </a:pPr>
            <a:r>
              <a:rPr lang="en-IN" dirty="0">
                <a:solidFill>
                  <a:schemeClr val="dk1"/>
                </a:solidFill>
                <a:latin typeface="Times New Roman" pitchFamily="18" charset="0"/>
                <a:ea typeface="Nunito"/>
                <a:cs typeface="Times New Roman" pitchFamily="18" charset="0"/>
                <a:sym typeface="Nunito"/>
              </a:rPr>
              <a:t>Generally, the key pairs used for encryption/decryption and signing/verifying are different. The private key used for signing is referred to as the signature key and the public key as the verification key.</a:t>
            </a:r>
            <a:endParaRPr>
              <a:solidFill>
                <a:schemeClr val="dk1"/>
              </a:solidFill>
              <a:latin typeface="Times New Roman" pitchFamily="18" charset="0"/>
              <a:ea typeface="Nunito"/>
              <a:cs typeface="Times New Roman" pitchFamily="18" charset="0"/>
              <a:sym typeface="Nunito"/>
            </a:endParaRPr>
          </a:p>
          <a:p>
            <a:pPr marL="889000" lvl="0" indent="-349250" algn="l" rtl="0">
              <a:lnSpc>
                <a:spcPct val="150000"/>
              </a:lnSpc>
              <a:spcBef>
                <a:spcPts val="0"/>
              </a:spcBef>
              <a:spcAft>
                <a:spcPts val="0"/>
              </a:spcAft>
              <a:buClr>
                <a:schemeClr val="dk1"/>
              </a:buClr>
              <a:buSzPts val="1900"/>
              <a:buFont typeface="Nunito"/>
              <a:buChar char="●"/>
            </a:pPr>
            <a:r>
              <a:rPr lang="en-IN" dirty="0">
                <a:solidFill>
                  <a:schemeClr val="dk1"/>
                </a:solidFill>
                <a:latin typeface="Times New Roman" pitchFamily="18" charset="0"/>
                <a:ea typeface="Nunito"/>
                <a:cs typeface="Times New Roman" pitchFamily="18" charset="0"/>
                <a:sym typeface="Nunito"/>
              </a:rPr>
              <a:t>Signer feeds data to the hash function and generates hash of data.</a:t>
            </a:r>
            <a:endParaRPr>
              <a:solidFill>
                <a:schemeClr val="dk1"/>
              </a:solidFill>
              <a:latin typeface="Times New Roman" pitchFamily="18" charset="0"/>
              <a:ea typeface="Nunito"/>
              <a:cs typeface="Times New Roman" pitchFamily="18" charset="0"/>
              <a:sym typeface="Nunito"/>
            </a:endParaRPr>
          </a:p>
          <a:p>
            <a:pPr marL="889000" lvl="0" indent="-349250" algn="l" rtl="0">
              <a:lnSpc>
                <a:spcPct val="150000"/>
              </a:lnSpc>
              <a:spcBef>
                <a:spcPts val="0"/>
              </a:spcBef>
              <a:spcAft>
                <a:spcPts val="0"/>
              </a:spcAft>
              <a:buClr>
                <a:schemeClr val="dk1"/>
              </a:buClr>
              <a:buSzPts val="1900"/>
              <a:buFont typeface="Nunito"/>
              <a:buChar char="●"/>
            </a:pPr>
            <a:r>
              <a:rPr lang="en-IN" dirty="0">
                <a:solidFill>
                  <a:schemeClr val="dk1"/>
                </a:solidFill>
                <a:latin typeface="Times New Roman" pitchFamily="18" charset="0"/>
                <a:ea typeface="Nunito"/>
                <a:cs typeface="Times New Roman" pitchFamily="18" charset="0"/>
                <a:sym typeface="Nunito"/>
              </a:rPr>
              <a:t>Hash value and signature key are then fed to the signature algorithm which produces the digital signature on given hash. Signature is appended to the data and then both are sent to the verifier.</a:t>
            </a:r>
            <a:endParaRPr>
              <a:solidFill>
                <a:schemeClr val="dk1"/>
              </a:solidFill>
              <a:latin typeface="Times New Roman" pitchFamily="18" charset="0"/>
              <a:ea typeface="Nunito"/>
              <a:cs typeface="Times New Roman" pitchFamily="18" charset="0"/>
              <a:sym typeface="Nunito"/>
            </a:endParaRPr>
          </a:p>
          <a:p>
            <a:pPr marL="889000" lvl="0" indent="-349250" algn="l" rtl="0">
              <a:lnSpc>
                <a:spcPct val="150000"/>
              </a:lnSpc>
              <a:spcBef>
                <a:spcPts val="0"/>
              </a:spcBef>
              <a:spcAft>
                <a:spcPts val="0"/>
              </a:spcAft>
              <a:buClr>
                <a:schemeClr val="dk1"/>
              </a:buClr>
              <a:buSzPts val="1900"/>
              <a:buFont typeface="Nunito"/>
              <a:buChar char="●"/>
            </a:pPr>
            <a:endParaRPr>
              <a:solidFill>
                <a:schemeClr val="dk1"/>
              </a:solidFill>
              <a:latin typeface="Times New Roman" pitchFamily="18" charset="0"/>
              <a:ea typeface="Nunito"/>
              <a:cs typeface="Times New Roman" pitchFamily="18" charset="0"/>
              <a:sym typeface="Nunit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990600"/>
            <a:ext cx="7696200" cy="4662815"/>
          </a:xfrm>
          <a:prstGeom prst="rect">
            <a:avLst/>
          </a:prstGeom>
        </p:spPr>
        <p:txBody>
          <a:bodyPr wrap="square">
            <a:spAutoFit/>
          </a:bodyPr>
          <a:lstStyle/>
          <a:p>
            <a:pPr marL="889000" lvl="0" indent="-349250">
              <a:lnSpc>
                <a:spcPct val="150000"/>
              </a:lnSpc>
              <a:buClr>
                <a:schemeClr val="dk1"/>
              </a:buClr>
              <a:buSzPts val="1900"/>
              <a:buFont typeface="Nunito"/>
              <a:buChar char="●"/>
            </a:pPr>
            <a:r>
              <a:rPr lang="en-US" dirty="0">
                <a:solidFill>
                  <a:schemeClr val="dk1"/>
                </a:solidFill>
                <a:latin typeface="Times New Roman" pitchFamily="18" charset="0"/>
                <a:ea typeface="Nunito"/>
                <a:cs typeface="Times New Roman" pitchFamily="18" charset="0"/>
                <a:sym typeface="Nunito"/>
              </a:rPr>
              <a:t>Verifier feeds the digital signature and the verification key into the verification algorithm. The verification algorithm gives some value as output.</a:t>
            </a:r>
          </a:p>
          <a:p>
            <a:pPr marL="889000" lvl="0" indent="-349250">
              <a:lnSpc>
                <a:spcPct val="150000"/>
              </a:lnSpc>
              <a:buClr>
                <a:schemeClr val="dk1"/>
              </a:buClr>
              <a:buSzPts val="1900"/>
              <a:buFont typeface="Nunito"/>
              <a:buChar char="●"/>
            </a:pPr>
            <a:r>
              <a:rPr lang="en-US" dirty="0">
                <a:solidFill>
                  <a:schemeClr val="dk1"/>
                </a:solidFill>
                <a:latin typeface="Times New Roman" pitchFamily="18" charset="0"/>
                <a:ea typeface="Nunito"/>
                <a:cs typeface="Times New Roman" pitchFamily="18" charset="0"/>
                <a:sym typeface="Nunito"/>
              </a:rPr>
              <a:t>Verifier also runs same hash function on received data to generate hash value.</a:t>
            </a:r>
          </a:p>
          <a:p>
            <a:pPr marL="889000" lvl="0" indent="-349250">
              <a:lnSpc>
                <a:spcPct val="150000"/>
              </a:lnSpc>
              <a:buClr>
                <a:schemeClr val="dk1"/>
              </a:buClr>
              <a:buSzPts val="1900"/>
              <a:buFont typeface="Nunito"/>
              <a:buChar char="●"/>
            </a:pPr>
            <a:r>
              <a:rPr lang="en-US" dirty="0">
                <a:solidFill>
                  <a:schemeClr val="dk1"/>
                </a:solidFill>
                <a:latin typeface="Times New Roman" pitchFamily="18" charset="0"/>
                <a:ea typeface="Nunito"/>
                <a:cs typeface="Times New Roman" pitchFamily="18" charset="0"/>
                <a:sym typeface="Nunito"/>
              </a:rPr>
              <a:t>For verification, this hash value and output of verification algorithm are compared. Based on the comparison result, verifier decides whether the digital signature is valid.</a:t>
            </a:r>
          </a:p>
          <a:p>
            <a:pPr marL="889000" lvl="0" indent="-349250">
              <a:lnSpc>
                <a:spcPct val="150000"/>
              </a:lnSpc>
              <a:buClr>
                <a:schemeClr val="dk1"/>
              </a:buClr>
              <a:buSzPts val="1900"/>
              <a:buFont typeface="Nunito"/>
              <a:buChar char="●"/>
            </a:pPr>
            <a:r>
              <a:rPr lang="en-US" dirty="0">
                <a:solidFill>
                  <a:schemeClr val="dk1"/>
                </a:solidFill>
                <a:latin typeface="Times New Roman" pitchFamily="18" charset="0"/>
                <a:ea typeface="Nunito"/>
                <a:cs typeface="Times New Roman" pitchFamily="18" charset="0"/>
                <a:sym typeface="Nunito"/>
              </a:rPr>
              <a:t>Since digital signature is created by ‘private’ key of signer and no one else can have this key; the signer cannot repudiate signing the data in future.</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1297781" y="1492251"/>
            <a:ext cx="6549629" cy="3871913"/>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p76"/>
          <p:cNvSpPr txBox="1"/>
          <p:nvPr/>
        </p:nvSpPr>
        <p:spPr>
          <a:xfrm>
            <a:off x="0" y="0"/>
            <a:ext cx="8929800" cy="6088816"/>
          </a:xfrm>
          <a:prstGeom prst="rect">
            <a:avLst/>
          </a:prstGeom>
          <a:noFill/>
          <a:ln>
            <a:noFill/>
          </a:ln>
        </p:spPr>
        <p:txBody>
          <a:bodyPr spcFirstLastPara="1" wrap="square" lIns="91425" tIns="91425" rIns="91425" bIns="91425" anchor="t" anchorCtr="0">
            <a:spAutoFit/>
          </a:bodyPr>
          <a:lstStyle/>
          <a:p>
            <a:pPr marL="0" lvl="0" indent="0" algn="l" rtl="0">
              <a:lnSpc>
                <a:spcPct val="125000"/>
              </a:lnSpc>
              <a:spcBef>
                <a:spcPts val="1800"/>
              </a:spcBef>
              <a:spcAft>
                <a:spcPts val="0"/>
              </a:spcAft>
              <a:buNone/>
            </a:pPr>
            <a:r>
              <a:rPr lang="en-IN" sz="3200" dirty="0">
                <a:solidFill>
                  <a:schemeClr val="dk1"/>
                </a:solidFill>
                <a:latin typeface="Times New Roman" pitchFamily="18" charset="0"/>
                <a:cs typeface="Times New Roman" pitchFamily="18" charset="0"/>
              </a:rPr>
              <a:t>Importance of Digital Signature</a:t>
            </a:r>
            <a:endParaRPr sz="3200">
              <a:solidFill>
                <a:schemeClr val="dk1"/>
              </a:solidFill>
              <a:latin typeface="Times New Roman" pitchFamily="18" charset="0"/>
              <a:cs typeface="Times New Roman" pitchFamily="18" charset="0"/>
            </a:endParaRPr>
          </a:p>
          <a:p>
            <a:pPr marL="0" lvl="0" indent="0" algn="just" rtl="0">
              <a:lnSpc>
                <a:spcPct val="160000"/>
              </a:lnSpc>
              <a:spcBef>
                <a:spcPts val="600"/>
              </a:spcBef>
              <a:spcAft>
                <a:spcPts val="0"/>
              </a:spcAft>
              <a:buNone/>
            </a:pPr>
            <a:r>
              <a:rPr lang="en-IN" sz="2000" dirty="0">
                <a:solidFill>
                  <a:schemeClr val="dk1"/>
                </a:solidFill>
                <a:latin typeface="Times New Roman" pitchFamily="18" charset="0"/>
                <a:ea typeface="Nunito"/>
                <a:cs typeface="Times New Roman" pitchFamily="18" charset="0"/>
                <a:sym typeface="Nunito"/>
              </a:rPr>
              <a:t>Out of all cryptographic primitives, the digital signature using public key cryptography is considered as very important and useful tool to achieve information security.</a:t>
            </a:r>
            <a:endParaRPr sz="2000">
              <a:solidFill>
                <a:schemeClr val="dk1"/>
              </a:solidFill>
              <a:latin typeface="Times New Roman" pitchFamily="18" charset="0"/>
              <a:ea typeface="Nunito"/>
              <a:cs typeface="Times New Roman" pitchFamily="18" charset="0"/>
              <a:sym typeface="Nunito"/>
            </a:endParaRPr>
          </a:p>
          <a:p>
            <a:pPr marL="0" lvl="0" indent="0" algn="just" rtl="0">
              <a:lnSpc>
                <a:spcPct val="160000"/>
              </a:lnSpc>
              <a:spcBef>
                <a:spcPts val="700"/>
              </a:spcBef>
              <a:spcAft>
                <a:spcPts val="0"/>
              </a:spcAft>
              <a:buNone/>
            </a:pPr>
            <a:r>
              <a:rPr lang="en-IN" sz="2000" dirty="0">
                <a:solidFill>
                  <a:schemeClr val="dk1"/>
                </a:solidFill>
                <a:latin typeface="Times New Roman" pitchFamily="18" charset="0"/>
                <a:ea typeface="Nunito"/>
                <a:cs typeface="Times New Roman" pitchFamily="18" charset="0"/>
                <a:sym typeface="Nunito"/>
              </a:rPr>
              <a:t>Apart from ability to provide non-repudiation of message, the digital signature also provides message authentication and data integrity. Let us briefly see how this is achieved by the digital signature −</a:t>
            </a:r>
            <a:endParaRPr sz="2000">
              <a:solidFill>
                <a:schemeClr val="dk1"/>
              </a:solidFill>
              <a:latin typeface="Times New Roman" pitchFamily="18" charset="0"/>
              <a:ea typeface="Nunito"/>
              <a:cs typeface="Times New Roman" pitchFamily="18" charset="0"/>
              <a:sym typeface="Nunito"/>
            </a:endParaRPr>
          </a:p>
          <a:p>
            <a:pPr marL="889000" lvl="0" indent="-342900" algn="l" rtl="0">
              <a:lnSpc>
                <a:spcPct val="150000"/>
              </a:lnSpc>
              <a:spcBef>
                <a:spcPts val="700"/>
              </a:spcBef>
              <a:spcAft>
                <a:spcPts val="0"/>
              </a:spcAft>
              <a:buClr>
                <a:schemeClr val="dk1"/>
              </a:buClr>
              <a:buSzPts val="1800"/>
              <a:buFont typeface="Nunito"/>
              <a:buChar char="●"/>
            </a:pPr>
            <a:r>
              <a:rPr lang="en-IN" sz="2000" b="1" dirty="0">
                <a:solidFill>
                  <a:schemeClr val="dk1"/>
                </a:solidFill>
                <a:latin typeface="Times New Roman" pitchFamily="18" charset="0"/>
                <a:ea typeface="Nunito"/>
                <a:cs typeface="Times New Roman" pitchFamily="18" charset="0"/>
                <a:sym typeface="Nunito"/>
              </a:rPr>
              <a:t>Message authentication </a:t>
            </a:r>
            <a:r>
              <a:rPr lang="en-IN" sz="2000" dirty="0">
                <a:solidFill>
                  <a:schemeClr val="dk1"/>
                </a:solidFill>
                <a:latin typeface="Times New Roman" pitchFamily="18" charset="0"/>
                <a:ea typeface="Nunito"/>
                <a:cs typeface="Times New Roman" pitchFamily="18" charset="0"/>
                <a:sym typeface="Nunito"/>
              </a:rPr>
              <a:t>− When the verifier validates the digital signature using public key of a sender, he is assured that signature has been created only by sender who possess the corresponding secret private key and no one else.</a:t>
            </a:r>
            <a:endParaRPr sz="2000">
              <a:solidFill>
                <a:schemeClr val="dk1"/>
              </a:solidFill>
              <a:latin typeface="Times New Roman" pitchFamily="18" charset="0"/>
              <a:ea typeface="Nunito"/>
              <a:cs typeface="Times New Roman" pitchFamily="18" charset="0"/>
              <a:sym typeface="Nunito"/>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1676400"/>
            <a:ext cx="7620000" cy="3831818"/>
          </a:xfrm>
          <a:prstGeom prst="rect">
            <a:avLst/>
          </a:prstGeom>
        </p:spPr>
        <p:txBody>
          <a:bodyPr wrap="square">
            <a:spAutoFit/>
          </a:bodyPr>
          <a:lstStyle/>
          <a:p>
            <a:pPr marL="889000" lvl="0" indent="-342900" algn="just">
              <a:lnSpc>
                <a:spcPct val="150000"/>
              </a:lnSpc>
              <a:buClr>
                <a:schemeClr val="dk1"/>
              </a:buClr>
              <a:buSzPts val="1800"/>
              <a:buFont typeface="Nunito"/>
              <a:buChar char="●"/>
            </a:pPr>
            <a:r>
              <a:rPr lang="en-US" b="1" dirty="0">
                <a:solidFill>
                  <a:schemeClr val="dk1"/>
                </a:solidFill>
                <a:latin typeface="Times New Roman" pitchFamily="18" charset="0"/>
                <a:ea typeface="Nunito"/>
                <a:cs typeface="Times New Roman" pitchFamily="18" charset="0"/>
                <a:sym typeface="Nunito"/>
              </a:rPr>
              <a:t>Data Integrity </a:t>
            </a:r>
            <a:r>
              <a:rPr lang="en-US" dirty="0">
                <a:solidFill>
                  <a:schemeClr val="dk1"/>
                </a:solidFill>
                <a:latin typeface="Times New Roman" pitchFamily="18" charset="0"/>
                <a:ea typeface="Nunito"/>
                <a:cs typeface="Times New Roman" pitchFamily="18" charset="0"/>
                <a:sym typeface="Nunito"/>
              </a:rPr>
              <a:t>− In case an attacker has access to the data and modifies it, the digital signature verification at receiver end fails. The hash of modified data and the output provided by the verification algorithm will not match. Hence, receiver can safely deny the message assuming that data integrity has been breached.</a:t>
            </a:r>
          </a:p>
          <a:p>
            <a:pPr marL="889000" lvl="0" indent="-342900" algn="just">
              <a:lnSpc>
                <a:spcPct val="150000"/>
              </a:lnSpc>
              <a:buClr>
                <a:schemeClr val="dk1"/>
              </a:buClr>
              <a:buSzPts val="1800"/>
              <a:buFont typeface="Nunito"/>
              <a:buChar char="●"/>
            </a:pPr>
            <a:r>
              <a:rPr lang="en-US" b="1" dirty="0">
                <a:solidFill>
                  <a:schemeClr val="dk1"/>
                </a:solidFill>
                <a:latin typeface="Times New Roman" pitchFamily="18" charset="0"/>
                <a:ea typeface="Nunito"/>
                <a:cs typeface="Times New Roman" pitchFamily="18" charset="0"/>
                <a:sym typeface="Nunito"/>
              </a:rPr>
              <a:t>Non-repudiation</a:t>
            </a:r>
            <a:r>
              <a:rPr lang="en-US" dirty="0">
                <a:solidFill>
                  <a:schemeClr val="dk1"/>
                </a:solidFill>
                <a:latin typeface="Times New Roman" pitchFamily="18" charset="0"/>
                <a:ea typeface="Nunito"/>
                <a:cs typeface="Times New Roman" pitchFamily="18" charset="0"/>
                <a:sym typeface="Nunito"/>
              </a:rPr>
              <a:t> − Since it is assumed that only the signer has the knowledge of the signature key, he can only create unique signature on a given data. Thus the receiver can present data and the digital signature to a third party as evidence if any dispute arises in the future.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Security protocols</a:t>
            </a:r>
          </a:p>
        </p:txBody>
      </p:sp>
      <p:sp>
        <p:nvSpPr>
          <p:cNvPr id="3" name="Content Placeholder 2"/>
          <p:cNvSpPr>
            <a:spLocks noGrp="1"/>
          </p:cNvSpPr>
          <p:nvPr>
            <p:ph idx="1"/>
          </p:nvPr>
        </p:nvSpPr>
        <p:spPr>
          <a:xfrm>
            <a:off x="457200" y="1295400"/>
            <a:ext cx="8229600" cy="4830763"/>
          </a:xfrm>
        </p:spPr>
        <p:txBody>
          <a:bodyPr>
            <a:normAutofit fontScale="85000" lnSpcReduction="10000"/>
          </a:bodyPr>
          <a:lstStyle/>
          <a:p>
            <a:pPr algn="just"/>
            <a:r>
              <a:rPr lang="en-US" dirty="0"/>
              <a:t>  </a:t>
            </a:r>
            <a:r>
              <a:rPr lang="en-US" dirty="0">
                <a:latin typeface="Times New Roman" panose="02020603050405020304" pitchFamily="18" charset="0"/>
                <a:cs typeface="Times New Roman" panose="02020603050405020304" pitchFamily="18" charset="0"/>
              </a:rPr>
              <a:t>It is also called cryptographic </a:t>
            </a:r>
            <a:r>
              <a:rPr lang="en-US" b="1" dirty="0">
                <a:latin typeface="Times New Roman" panose="02020603050405020304" pitchFamily="18" charset="0"/>
                <a:cs typeface="Times New Roman" panose="02020603050405020304" pitchFamily="18" charset="0"/>
              </a:rPr>
              <a:t>protocol</a:t>
            </a:r>
            <a:r>
              <a:rPr lang="en-US" dirty="0">
                <a:latin typeface="Times New Roman" panose="02020603050405020304" pitchFamily="18" charset="0"/>
                <a:cs typeface="Times New Roman" panose="02020603050405020304" pitchFamily="18" charset="0"/>
              </a:rPr>
              <a:t>, it represent transferring specially constructed encrypted messages between legitimate </a:t>
            </a:r>
            <a:r>
              <a:rPr lang="en-US" b="1" dirty="0">
                <a:latin typeface="Times New Roman" panose="02020603050405020304" pitchFamily="18" charset="0"/>
                <a:cs typeface="Times New Roman" panose="02020603050405020304" pitchFamily="18" charset="0"/>
              </a:rPr>
              <a:t>protocol</a:t>
            </a:r>
            <a:r>
              <a:rPr lang="en-US" dirty="0">
                <a:latin typeface="Times New Roman" panose="02020603050405020304" pitchFamily="18" charset="0"/>
                <a:cs typeface="Times New Roman" panose="02020603050405020304" pitchFamily="18" charset="0"/>
              </a:rPr>
              <a:t> participants to fulfill objectives such as </a:t>
            </a:r>
            <a:r>
              <a:rPr lang="en-US" b="1" dirty="0">
                <a:latin typeface="Times New Roman" panose="02020603050405020304" pitchFamily="18" charset="0"/>
                <a:cs typeface="Times New Roman" panose="02020603050405020304" pitchFamily="18" charset="0"/>
              </a:rPr>
              <a:t>mutual authentication or key-exchange </a:t>
            </a:r>
            <a:r>
              <a:rPr lang="en-US" dirty="0">
                <a:latin typeface="Times New Roman" panose="02020603050405020304" pitchFamily="18" charset="0"/>
                <a:cs typeface="Times New Roman" panose="02020603050405020304" pitchFamily="18" charset="0"/>
              </a:rPr>
              <a:t>in a predefined procedure.</a:t>
            </a:r>
          </a:p>
          <a:p>
            <a:pPr algn="just"/>
            <a:r>
              <a:rPr lang="en-US" dirty="0">
                <a:latin typeface="Times New Roman" panose="02020603050405020304" pitchFamily="18" charset="0"/>
                <a:cs typeface="Times New Roman" panose="02020603050405020304" pitchFamily="18" charset="0"/>
              </a:rPr>
              <a:t>  A security protocol is essentially a communication protocol – </a:t>
            </a:r>
            <a:r>
              <a:rPr lang="en-US" b="1" dirty="0">
                <a:latin typeface="Times New Roman" panose="02020603050405020304" pitchFamily="18" charset="0"/>
                <a:cs typeface="Times New Roman" panose="02020603050405020304" pitchFamily="18" charset="0"/>
              </a:rPr>
              <a:t>an agreed sequence of actions performed by two or more communicating entities in order to accomplish some mutually desirable goal</a:t>
            </a:r>
            <a:r>
              <a:rPr lang="en-US" dirty="0">
                <a:latin typeface="Times New Roman" panose="02020603050405020304" pitchFamily="18" charset="0"/>
                <a:cs typeface="Times New Roman" panose="02020603050405020304" pitchFamily="18" charset="0"/>
              </a:rPr>
              <a:t> – that makes </a:t>
            </a:r>
            <a:r>
              <a:rPr lang="en-US" b="1" dirty="0">
                <a:latin typeface="Times New Roman" panose="02020603050405020304" pitchFamily="18" charset="0"/>
                <a:cs typeface="Times New Roman" panose="02020603050405020304" pitchFamily="18" charset="0"/>
              </a:rPr>
              <a:t>use of cryptographic techniques</a:t>
            </a:r>
            <a:r>
              <a:rPr lang="en-US" dirty="0">
                <a:latin typeface="Times New Roman" panose="02020603050405020304" pitchFamily="18" charset="0"/>
                <a:cs typeface="Times New Roman" panose="02020603050405020304" pitchFamily="18" charset="0"/>
              </a:rPr>
              <a:t>, allowing the communicating entities to achieve a security goal.</a:t>
            </a:r>
          </a:p>
        </p:txBody>
      </p:sp>
    </p:spTree>
    <p:extLst>
      <p:ext uri="{BB962C8B-B14F-4D97-AF65-F5344CB8AC3E}">
        <p14:creationId xmlns:p14="http://schemas.microsoft.com/office/powerpoint/2010/main" val="28686804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Types of Security Protocols</a:t>
            </a:r>
            <a:endParaRPr lang="en-US" dirty="0"/>
          </a:p>
        </p:txBody>
      </p:sp>
      <p:sp>
        <p:nvSpPr>
          <p:cNvPr id="3" name="Content Placeholder 2"/>
          <p:cNvSpPr>
            <a:spLocks noGrp="1"/>
          </p:cNvSpPr>
          <p:nvPr>
            <p:ph idx="1"/>
          </p:nvPr>
        </p:nvSpPr>
        <p:spPr/>
        <p:txBody>
          <a:bodyPr>
            <a:normAutofit fontScale="85000" lnSpcReduction="20000"/>
          </a:bodyPr>
          <a:lstStyle/>
          <a:p>
            <a:pPr fontAlgn="base"/>
            <a:r>
              <a:rPr lang="en-US" b="1" dirty="0"/>
              <a:t>IPSec and VPNs</a:t>
            </a:r>
            <a:br>
              <a:rPr lang="en-US" dirty="0"/>
            </a:br>
            <a:endParaRPr lang="en-US" dirty="0"/>
          </a:p>
          <a:p>
            <a:pPr fontAlgn="base"/>
            <a:r>
              <a:rPr lang="en-US" b="1" dirty="0"/>
              <a:t>SSL and TLS</a:t>
            </a:r>
            <a:br>
              <a:rPr lang="en-US" dirty="0"/>
            </a:br>
            <a:endParaRPr lang="en-US" dirty="0"/>
          </a:p>
          <a:p>
            <a:pPr fontAlgn="base"/>
            <a:r>
              <a:rPr lang="en-US" b="1" dirty="0"/>
              <a:t>Application Transparent Transport Layer Security</a:t>
            </a:r>
            <a:br>
              <a:rPr lang="en-US" dirty="0"/>
            </a:br>
            <a:endParaRPr lang="en-US" dirty="0"/>
          </a:p>
          <a:p>
            <a:pPr fontAlgn="base"/>
            <a:r>
              <a:rPr lang="en-US" b="1" dirty="0"/>
              <a:t>Kerberos</a:t>
            </a:r>
            <a:br>
              <a:rPr lang="en-US" dirty="0"/>
            </a:br>
            <a:endParaRPr lang="en-US" dirty="0"/>
          </a:p>
          <a:p>
            <a:pPr fontAlgn="base"/>
            <a:r>
              <a:rPr lang="en-US" b="1" dirty="0"/>
              <a:t>OSPF authentication</a:t>
            </a:r>
            <a:br>
              <a:rPr lang="en-US" dirty="0"/>
            </a:br>
            <a:endParaRPr lang="en-US" dirty="0"/>
          </a:p>
          <a:p>
            <a:pPr fontAlgn="base"/>
            <a:r>
              <a:rPr lang="en-US" b="1" dirty="0"/>
              <a:t>SNMPv3</a:t>
            </a:r>
            <a:endParaRPr lang="en-US" dirty="0"/>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IPSec and VPNs</a:t>
            </a:r>
          </a:p>
        </p:txBody>
      </p:sp>
      <p:sp>
        <p:nvSpPr>
          <p:cNvPr id="3" name="Content Placeholder 2"/>
          <p:cNvSpPr>
            <a:spLocks noGrp="1"/>
          </p:cNvSpPr>
          <p:nvPr>
            <p:ph idx="1"/>
          </p:nvPr>
        </p:nvSpPr>
        <p:spPr/>
        <p:txBody>
          <a:bodyPr>
            <a:normAutofit fontScale="85000" lnSpcReduction="10000"/>
          </a:bodyPr>
          <a:lstStyle/>
          <a:p>
            <a:pPr algn="just"/>
            <a:r>
              <a:rPr lang="en-US" dirty="0"/>
              <a:t> It provides authentication, integrity, and data privacy between any two IP entities.</a:t>
            </a:r>
          </a:p>
          <a:p>
            <a:pPr algn="just"/>
            <a:r>
              <a:rPr lang="en-US" dirty="0"/>
              <a:t>With IPSec, you can create virtual private networks (VPN). A VPN enables an enterprise to </a:t>
            </a:r>
            <a:r>
              <a:rPr lang="en-US" b="1" dirty="0"/>
              <a:t>extend its private network across a public network, </a:t>
            </a:r>
            <a:r>
              <a:rPr lang="en-US" dirty="0"/>
              <a:t>such as the Internet, through a secure tunnel called a </a:t>
            </a:r>
            <a:r>
              <a:rPr lang="en-US" b="1" dirty="0"/>
              <a:t>security association.</a:t>
            </a:r>
            <a:r>
              <a:rPr lang="en-US" dirty="0"/>
              <a:t> </a:t>
            </a:r>
          </a:p>
          <a:p>
            <a:pPr algn="just"/>
            <a:r>
              <a:rPr lang="en-US" dirty="0"/>
              <a:t>IPSec VPNs enable the secure transfer of data over the public Internet for </a:t>
            </a:r>
            <a:r>
              <a:rPr lang="en-US" b="1" dirty="0">
                <a:solidFill>
                  <a:srgbClr val="FF0000"/>
                </a:solidFill>
              </a:rPr>
              <a:t>same-business</a:t>
            </a:r>
            <a:r>
              <a:rPr lang="en-US" dirty="0"/>
              <a:t> </a:t>
            </a:r>
            <a:r>
              <a:rPr lang="en-US" dirty="0">
                <a:solidFill>
                  <a:srgbClr val="FF0000"/>
                </a:solidFill>
              </a:rPr>
              <a:t>and </a:t>
            </a:r>
            <a:r>
              <a:rPr lang="en-US" b="1" dirty="0">
                <a:solidFill>
                  <a:srgbClr val="FF0000"/>
                </a:solidFill>
              </a:rPr>
              <a:t>business-to-business communications</a:t>
            </a:r>
            <a:r>
              <a:rPr lang="en-US" dirty="0"/>
              <a:t>, and </a:t>
            </a:r>
            <a:r>
              <a:rPr lang="en-US" b="1" dirty="0"/>
              <a:t>protect sensitive data within the enterprise's internal network</a:t>
            </a:r>
            <a:r>
              <a:rPr lang="en-US" dirty="0"/>
              <a:t>.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SSL and TLS</a:t>
            </a:r>
          </a:p>
        </p:txBody>
      </p:sp>
      <p:sp>
        <p:nvSpPr>
          <p:cNvPr id="3" name="Content Placeholder 2"/>
          <p:cNvSpPr>
            <a:spLocks noGrp="1"/>
          </p:cNvSpPr>
          <p:nvPr>
            <p:ph idx="1"/>
          </p:nvPr>
        </p:nvSpPr>
        <p:spPr>
          <a:xfrm>
            <a:off x="457200" y="1219200"/>
            <a:ext cx="8229600" cy="4906963"/>
          </a:xfrm>
        </p:spPr>
        <p:txBody>
          <a:bodyPr>
            <a:normAutofit fontScale="77500" lnSpcReduction="20000"/>
          </a:bodyPr>
          <a:lstStyle/>
          <a:p>
            <a:pPr algn="just"/>
            <a:r>
              <a:rPr lang="en-US" dirty="0"/>
              <a:t>The SSL protocol provides </a:t>
            </a:r>
            <a:r>
              <a:rPr lang="en-US" b="1" dirty="0"/>
              <a:t>data encryption, data origin authentication, and message integrity</a:t>
            </a:r>
          </a:p>
          <a:p>
            <a:pPr algn="just"/>
            <a:r>
              <a:rPr lang="en-US" dirty="0"/>
              <a:t> It also provides server and client authentication using X.509 certificates. </a:t>
            </a:r>
          </a:p>
          <a:p>
            <a:pPr algn="just"/>
            <a:r>
              <a:rPr lang="en-US" dirty="0"/>
              <a:t>SSL begins with a </a:t>
            </a:r>
            <a:r>
              <a:rPr lang="en-US" b="1" dirty="0"/>
              <a:t>handshake</a:t>
            </a:r>
            <a:r>
              <a:rPr lang="en-US" dirty="0"/>
              <a:t> during which the server is authenticated to the client using X.509 certificates. </a:t>
            </a:r>
          </a:p>
          <a:p>
            <a:pPr algn="just"/>
            <a:r>
              <a:rPr lang="en-US" dirty="0"/>
              <a:t>Also, the </a:t>
            </a:r>
            <a:r>
              <a:rPr lang="en-US" b="1" dirty="0"/>
              <a:t>client</a:t>
            </a:r>
            <a:r>
              <a:rPr lang="en-US" dirty="0"/>
              <a:t> can optionally be </a:t>
            </a:r>
            <a:r>
              <a:rPr lang="en-US" b="1" dirty="0"/>
              <a:t>authenticated</a:t>
            </a:r>
            <a:r>
              <a:rPr lang="en-US" dirty="0"/>
              <a:t> to the server. </a:t>
            </a:r>
          </a:p>
          <a:p>
            <a:pPr algn="just"/>
            <a:r>
              <a:rPr lang="en-US" dirty="0"/>
              <a:t>During the handshake, security session parameters, such as cryptographic algorithms, are transferred and </a:t>
            </a:r>
            <a:r>
              <a:rPr lang="en-US" b="1" dirty="0"/>
              <a:t>session keys are created</a:t>
            </a:r>
            <a:r>
              <a:rPr lang="en-US" dirty="0"/>
              <a:t>. </a:t>
            </a:r>
          </a:p>
          <a:p>
            <a:pPr algn="just"/>
            <a:r>
              <a:rPr lang="en-US" dirty="0"/>
              <a:t>After the handshake, the data is protected during transmission with data origin authentication and optional encryption using the session keys.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Application Transparent Transport Layer Security (AT-TLS)</a:t>
            </a:r>
          </a:p>
        </p:txBody>
      </p:sp>
      <p:sp>
        <p:nvSpPr>
          <p:cNvPr id="3" name="Content Placeholder 2"/>
          <p:cNvSpPr>
            <a:spLocks noGrp="1"/>
          </p:cNvSpPr>
          <p:nvPr>
            <p:ph idx="1"/>
          </p:nvPr>
        </p:nvSpPr>
        <p:spPr/>
        <p:txBody>
          <a:bodyPr>
            <a:normAutofit fontScale="85000" lnSpcReduction="10000"/>
          </a:bodyPr>
          <a:lstStyle/>
          <a:p>
            <a:pPr algn="just"/>
            <a:r>
              <a:rPr lang="en-US" dirty="0"/>
              <a:t>Application Transparent Transport Layer Security (AT-TLS) </a:t>
            </a:r>
            <a:r>
              <a:rPr lang="en-US" b="1" dirty="0"/>
              <a:t>creates a secure session </a:t>
            </a:r>
            <a:r>
              <a:rPr lang="en-US" dirty="0"/>
              <a:t>on behalf of an application. </a:t>
            </a:r>
          </a:p>
          <a:p>
            <a:pPr algn="just"/>
            <a:r>
              <a:rPr lang="en-US" dirty="0"/>
              <a:t>Instead of implementing TLS </a:t>
            </a:r>
            <a:r>
              <a:rPr lang="en-US" b="1" dirty="0"/>
              <a:t>in every application </a:t>
            </a:r>
            <a:r>
              <a:rPr lang="en-US" dirty="0"/>
              <a:t>that </a:t>
            </a:r>
            <a:r>
              <a:rPr lang="en-US" dirty="0">
                <a:solidFill>
                  <a:srgbClr val="FF0000"/>
                </a:solidFill>
              </a:rPr>
              <a:t>requires</a:t>
            </a:r>
            <a:r>
              <a:rPr lang="en-US" dirty="0"/>
              <a:t> a secure connection, AT-TLS provides encryption and decryption of data based on policy statements that are coded in the Policy Agent. </a:t>
            </a:r>
          </a:p>
          <a:p>
            <a:pPr algn="just"/>
            <a:r>
              <a:rPr lang="en-US" dirty="0"/>
              <a:t>The application sends and receives </a:t>
            </a:r>
            <a:r>
              <a:rPr lang="en-US" dirty="0" err="1"/>
              <a:t>cleartext</a:t>
            </a:r>
            <a:r>
              <a:rPr lang="en-US" dirty="0"/>
              <a:t> (unencrypted data) as usual while AT-TLS encrypts and decrypts data at the TCP transport layer.</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Kerberos</a:t>
            </a:r>
          </a:p>
        </p:txBody>
      </p:sp>
      <p:sp>
        <p:nvSpPr>
          <p:cNvPr id="3" name="Content Placeholder 2"/>
          <p:cNvSpPr>
            <a:spLocks noGrp="1"/>
          </p:cNvSpPr>
          <p:nvPr>
            <p:ph idx="1"/>
          </p:nvPr>
        </p:nvSpPr>
        <p:spPr/>
        <p:txBody>
          <a:bodyPr>
            <a:normAutofit fontScale="85000" lnSpcReduction="10000"/>
          </a:bodyPr>
          <a:lstStyle/>
          <a:p>
            <a:pPr algn="just" fontAlgn="base"/>
            <a:r>
              <a:rPr lang="en-US" dirty="0"/>
              <a:t>Kerberos is a </a:t>
            </a:r>
            <a:r>
              <a:rPr lang="en-US" b="1" dirty="0"/>
              <a:t>third-party network authentication protocol </a:t>
            </a:r>
            <a:r>
              <a:rPr lang="en-US" dirty="0"/>
              <a:t>that service a system of </a:t>
            </a:r>
            <a:r>
              <a:rPr lang="en-US" b="1" dirty="0"/>
              <a:t>shared secret keys </a:t>
            </a:r>
            <a:r>
              <a:rPr lang="en-US" dirty="0"/>
              <a:t>to securely authenticate a user in an </a:t>
            </a:r>
            <a:r>
              <a:rPr lang="en-US" dirty="0">
                <a:solidFill>
                  <a:srgbClr val="FF0000"/>
                </a:solidFill>
              </a:rPr>
              <a:t>unsecured network environment</a:t>
            </a:r>
            <a:r>
              <a:rPr lang="en-US" dirty="0"/>
              <a:t>. </a:t>
            </a:r>
          </a:p>
          <a:p>
            <a:pPr algn="just" fontAlgn="base"/>
            <a:r>
              <a:rPr lang="en-US" dirty="0"/>
              <a:t>Kerberos authentication is </a:t>
            </a:r>
            <a:r>
              <a:rPr lang="en-US" b="1" dirty="0">
                <a:solidFill>
                  <a:srgbClr val="FF0000"/>
                </a:solidFill>
              </a:rPr>
              <a:t>managed</a:t>
            </a:r>
            <a:r>
              <a:rPr lang="en-US" dirty="0"/>
              <a:t> by a </a:t>
            </a:r>
            <a:r>
              <a:rPr lang="en-US" dirty="0">
                <a:solidFill>
                  <a:srgbClr val="FF0000"/>
                </a:solidFill>
              </a:rPr>
              <a:t>three-tiered system</a:t>
            </a:r>
            <a:r>
              <a:rPr lang="en-US" dirty="0"/>
              <a:t> in which </a:t>
            </a:r>
            <a:r>
              <a:rPr lang="en-US" dirty="0">
                <a:solidFill>
                  <a:srgbClr val="FF0000"/>
                </a:solidFill>
              </a:rPr>
              <a:t>encrypted service tickets</a:t>
            </a:r>
            <a:r>
              <a:rPr lang="en-US" dirty="0"/>
              <a:t>, rather than a </a:t>
            </a:r>
            <a:r>
              <a:rPr lang="en-US" b="1" dirty="0"/>
              <a:t>plain-text user ID and password pair</a:t>
            </a:r>
            <a:r>
              <a:rPr lang="en-US" dirty="0"/>
              <a:t>, are exchanged between the application server and client. </a:t>
            </a:r>
          </a:p>
          <a:p>
            <a:pPr algn="just" fontAlgn="base">
              <a:buNone/>
            </a:pPr>
            <a:r>
              <a:rPr lang="en-US" dirty="0"/>
              <a:t>   These encrypted service tickets, called </a:t>
            </a:r>
            <a:r>
              <a:rPr lang="en-US" i="1" dirty="0"/>
              <a:t>credentials</a:t>
            </a:r>
            <a:r>
              <a:rPr lang="en-US" dirty="0"/>
              <a:t>, are provided by a separate server called the Kerberos Key Distribution Center (KDC)</a:t>
            </a:r>
          </a:p>
          <a:p>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OSPF Authentication</a:t>
            </a:r>
          </a:p>
        </p:txBody>
      </p:sp>
      <p:sp>
        <p:nvSpPr>
          <p:cNvPr id="3" name="Content Placeholder 2"/>
          <p:cNvSpPr>
            <a:spLocks noGrp="1"/>
          </p:cNvSpPr>
          <p:nvPr>
            <p:ph idx="1"/>
          </p:nvPr>
        </p:nvSpPr>
        <p:spPr/>
        <p:txBody>
          <a:bodyPr>
            <a:normAutofit fontScale="77500" lnSpcReduction="20000"/>
          </a:bodyPr>
          <a:lstStyle/>
          <a:p>
            <a:pPr algn="just"/>
            <a:r>
              <a:rPr lang="en-US" dirty="0"/>
              <a:t>Communications Server OSPF (Open Shortest Path First) dynamic routing protocol </a:t>
            </a:r>
            <a:r>
              <a:rPr lang="en-US" b="1" dirty="0">
                <a:solidFill>
                  <a:srgbClr val="FF0000"/>
                </a:solidFill>
              </a:rPr>
              <a:t>supports</a:t>
            </a:r>
            <a:r>
              <a:rPr lang="en-US" dirty="0"/>
              <a:t> message authentication and message integrity of OSPF routing messages through the use of the OSPF MD5 Authentication security protocol as defined by RFC 2328.</a:t>
            </a:r>
          </a:p>
          <a:p>
            <a:pPr algn="just"/>
            <a:endParaRPr lang="en-US" dirty="0"/>
          </a:p>
          <a:p>
            <a:pPr algn="just"/>
            <a:r>
              <a:rPr lang="en-US" dirty="0"/>
              <a:t>OSPF MD5 Authentication </a:t>
            </a:r>
            <a:r>
              <a:rPr lang="en-US" b="1" dirty="0"/>
              <a:t>ensures that an unauthorized IP resource cannot inject OSPF routing messages into the network without detection</a:t>
            </a:r>
            <a:r>
              <a:rPr lang="en-US" dirty="0"/>
              <a:t>, thus ensuring the integrity of the routing tables in the OSPF routing network. OMPROUTE computes a secure MAC for the routing message using the MD5 algorithm.</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hlinkClick r:id="rId2"/>
              </a:rPr>
              <a:t>SNMPv3</a:t>
            </a:r>
            <a:endParaRPr lang="en-US" dirty="0"/>
          </a:p>
        </p:txBody>
      </p:sp>
      <p:sp>
        <p:nvSpPr>
          <p:cNvPr id="3" name="Content Placeholder 2"/>
          <p:cNvSpPr>
            <a:spLocks noGrp="1"/>
          </p:cNvSpPr>
          <p:nvPr>
            <p:ph idx="1"/>
          </p:nvPr>
        </p:nvSpPr>
        <p:spPr>
          <a:xfrm>
            <a:off x="457200" y="1295400"/>
            <a:ext cx="8229600" cy="4830763"/>
          </a:xfrm>
        </p:spPr>
        <p:txBody>
          <a:bodyPr>
            <a:normAutofit fontScale="85000" lnSpcReduction="10000"/>
          </a:bodyPr>
          <a:lstStyle/>
          <a:p>
            <a:pPr fontAlgn="base"/>
            <a:endParaRPr lang="en-US" dirty="0"/>
          </a:p>
          <a:p>
            <a:pPr algn="just" fontAlgn="base"/>
            <a:r>
              <a:rPr lang="en-US" b="1" dirty="0"/>
              <a:t>SNMPv3</a:t>
            </a:r>
            <a:r>
              <a:rPr lang="en-US" dirty="0"/>
              <a:t> delivers a powerful and flexible framework for message security and access control.</a:t>
            </a:r>
          </a:p>
          <a:p>
            <a:pPr algn="just" fontAlgn="base"/>
            <a:r>
              <a:rPr lang="en-US" dirty="0"/>
              <a:t>Message security involves provides Data integrity checking to ensure that the data was not altered in transit.</a:t>
            </a:r>
          </a:p>
          <a:p>
            <a:pPr algn="just" fontAlgn="base"/>
            <a:r>
              <a:rPr lang="en-US" dirty="0"/>
              <a:t>Data origin verification to ensure that the request or response originates from the source that it claims to have come from.</a:t>
            </a:r>
          </a:p>
          <a:p>
            <a:pPr algn="just" fontAlgn="base"/>
            <a:r>
              <a:rPr lang="en-US" dirty="0"/>
              <a:t>Message timeliness checking and, optionally, data confidentiality to protect against eavesdropping.</a:t>
            </a:r>
          </a:p>
          <a:p>
            <a:pPr>
              <a:buNone/>
            </a:pP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Security at the Application Layer</a:t>
            </a:r>
          </a:p>
        </p:txBody>
      </p:sp>
      <p:sp>
        <p:nvSpPr>
          <p:cNvPr id="3" name="Content Placeholder 2"/>
          <p:cNvSpPr>
            <a:spLocks noGrp="1"/>
          </p:cNvSpPr>
          <p:nvPr>
            <p:ph idx="1"/>
          </p:nvPr>
        </p:nvSpPr>
        <p:spPr/>
        <p:txBody>
          <a:bodyPr/>
          <a:lstStyle/>
          <a:p>
            <a:pPr algn="just"/>
            <a:r>
              <a:rPr lang="en-US" dirty="0"/>
              <a:t>Application layer security refers to ways of </a:t>
            </a:r>
            <a:r>
              <a:rPr lang="en-US" b="1" dirty="0"/>
              <a:t>protecting web applications </a:t>
            </a:r>
            <a:r>
              <a:rPr lang="en-US" dirty="0"/>
              <a:t>at the application layer (layer 7 of the OSI model) from malicious attacks. </a:t>
            </a:r>
          </a:p>
          <a:p>
            <a:pPr algn="just"/>
            <a:r>
              <a:rPr lang="en-US" dirty="0"/>
              <a:t>Since the application layer is the closest layer to the end user, it provides hackers with the largest threat surface.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382000" cy="6400800"/>
          </a:xfrm>
        </p:spPr>
        <p:txBody>
          <a:bodyPr>
            <a:normAutofit fontScale="77500" lnSpcReduction="20000"/>
          </a:bodyPr>
          <a:lstStyle/>
          <a:p>
            <a:pPr algn="just"/>
            <a:r>
              <a:rPr lang="en-US" dirty="0"/>
              <a:t>Various</a:t>
            </a:r>
            <a:r>
              <a:rPr lang="en-US" b="1" dirty="0"/>
              <a:t> business services</a:t>
            </a:r>
            <a:r>
              <a:rPr lang="en-US" dirty="0"/>
              <a:t> are now offered online though client-server applications.</a:t>
            </a:r>
          </a:p>
          <a:p>
            <a:pPr algn="just"/>
            <a:r>
              <a:rPr lang="en-US" dirty="0"/>
              <a:t>The most popular forms are </a:t>
            </a:r>
            <a:r>
              <a:rPr lang="en-US" b="1" dirty="0"/>
              <a:t>web application and e-mail</a:t>
            </a:r>
          </a:p>
          <a:p>
            <a:pPr algn="just"/>
            <a:r>
              <a:rPr lang="en-US" dirty="0"/>
              <a:t>While </a:t>
            </a:r>
            <a:r>
              <a:rPr lang="en-US" b="1" dirty="0"/>
              <a:t>using a service</a:t>
            </a:r>
            <a:r>
              <a:rPr lang="en-US" dirty="0"/>
              <a:t> from any server application, the client and server </a:t>
            </a:r>
            <a:r>
              <a:rPr lang="en-US" b="1" dirty="0"/>
              <a:t>exchange</a:t>
            </a:r>
            <a:r>
              <a:rPr lang="en-US" dirty="0"/>
              <a:t> a </a:t>
            </a:r>
            <a:r>
              <a:rPr lang="en-US" b="1" dirty="0"/>
              <a:t>lot of information </a:t>
            </a:r>
            <a:r>
              <a:rPr lang="en-US" dirty="0"/>
              <a:t>on the underlying </a:t>
            </a:r>
            <a:r>
              <a:rPr lang="en-US" b="1" dirty="0"/>
              <a:t>intranet or Internet</a:t>
            </a:r>
            <a:r>
              <a:rPr lang="en-US" dirty="0"/>
              <a:t>. We are aware of fact that these information transactions are </a:t>
            </a:r>
            <a:r>
              <a:rPr lang="en-US" b="1" dirty="0"/>
              <a:t>vulnerable to various attacks</a:t>
            </a:r>
            <a:r>
              <a:rPr lang="en-US" dirty="0"/>
              <a:t>.</a:t>
            </a:r>
          </a:p>
          <a:p>
            <a:pPr algn="just"/>
            <a:r>
              <a:rPr lang="en-US" dirty="0"/>
              <a:t>Network security requires </a:t>
            </a:r>
            <a:r>
              <a:rPr lang="en-US" b="1" dirty="0">
                <a:solidFill>
                  <a:srgbClr val="FF0000"/>
                </a:solidFill>
              </a:rPr>
              <a:t>securing data </a:t>
            </a:r>
            <a:r>
              <a:rPr lang="en-US" dirty="0"/>
              <a:t>against attacks while it is in transit on a network. To achieve this goal, </a:t>
            </a:r>
            <a:r>
              <a:rPr lang="en-US" dirty="0">
                <a:solidFill>
                  <a:srgbClr val="FF0000"/>
                </a:solidFill>
              </a:rPr>
              <a:t>many real-time security protocols</a:t>
            </a:r>
            <a:r>
              <a:rPr lang="en-US" dirty="0"/>
              <a:t> have been designed. Such protocol needs to provide at least the </a:t>
            </a:r>
            <a:r>
              <a:rPr lang="en-US" b="1" dirty="0"/>
              <a:t>following primary objectives </a:t>
            </a:r>
            <a:r>
              <a:rPr lang="en-US" dirty="0"/>
              <a:t>−</a:t>
            </a:r>
          </a:p>
          <a:p>
            <a:pPr algn="just">
              <a:buNone/>
            </a:pPr>
            <a:r>
              <a:rPr lang="en-US" dirty="0"/>
              <a:t>1. The parties can negotiate interactively to </a:t>
            </a:r>
            <a:r>
              <a:rPr lang="en-US" b="1" dirty="0"/>
              <a:t>authenticate each other.</a:t>
            </a:r>
          </a:p>
          <a:p>
            <a:pPr algn="just">
              <a:buNone/>
            </a:pPr>
            <a:r>
              <a:rPr lang="en-US" dirty="0"/>
              <a:t>2.Establish a </a:t>
            </a:r>
            <a:r>
              <a:rPr lang="en-US" b="1" dirty="0"/>
              <a:t>secret session key </a:t>
            </a:r>
            <a:r>
              <a:rPr lang="en-US" dirty="0"/>
              <a:t>before exchanging information on network.</a:t>
            </a:r>
          </a:p>
          <a:p>
            <a:pPr algn="just">
              <a:buNone/>
            </a:pPr>
            <a:r>
              <a:rPr lang="en-US" dirty="0"/>
              <a:t>3. Exchange the information in </a:t>
            </a:r>
            <a:r>
              <a:rPr lang="en-US" b="1" dirty="0"/>
              <a:t>encrypted form.</a:t>
            </a:r>
          </a:p>
          <a:p>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324600"/>
          </a:xfrm>
        </p:spPr>
        <p:txBody>
          <a:bodyPr/>
          <a:lstStyle/>
          <a:p>
            <a:r>
              <a:rPr lang="en-US" dirty="0"/>
              <a:t>Interestingly, these protocols work at different layers of networking model. </a:t>
            </a:r>
          </a:p>
          <a:p>
            <a:pPr>
              <a:buNone/>
            </a:pPr>
            <a:r>
              <a:rPr lang="en-US" sz="2400" dirty="0"/>
              <a:t>For example, </a:t>
            </a:r>
          </a:p>
          <a:p>
            <a:pPr>
              <a:buNone/>
            </a:pPr>
            <a:r>
              <a:rPr lang="en-US" dirty="0"/>
              <a:t>-</a:t>
            </a:r>
            <a:r>
              <a:rPr lang="en-US" sz="2400" dirty="0">
                <a:latin typeface="Times New Roman" pitchFamily="18" charset="0"/>
                <a:cs typeface="Times New Roman" pitchFamily="18" charset="0"/>
              </a:rPr>
              <a:t>S/MIME protocol works at Application layer, </a:t>
            </a:r>
          </a:p>
          <a:p>
            <a:pPr>
              <a:buNone/>
            </a:pPr>
            <a:r>
              <a:rPr lang="en-US" sz="2400" dirty="0">
                <a:latin typeface="Times New Roman" pitchFamily="18" charset="0"/>
                <a:cs typeface="Times New Roman" pitchFamily="18" charset="0"/>
              </a:rPr>
              <a:t>-SSL protocol is developed to work at transport layer, and </a:t>
            </a:r>
          </a:p>
          <a:p>
            <a:pPr>
              <a:buNone/>
            </a:pPr>
            <a:r>
              <a:rPr lang="en-US" sz="2400" dirty="0">
                <a:latin typeface="Times New Roman" pitchFamily="18" charset="0"/>
                <a:cs typeface="Times New Roman" pitchFamily="18" charset="0"/>
              </a:rPr>
              <a:t>-</a:t>
            </a:r>
            <a:r>
              <a:rPr lang="en-US" sz="2400" dirty="0" err="1">
                <a:latin typeface="Times New Roman" pitchFamily="18" charset="0"/>
                <a:cs typeface="Times New Roman" pitchFamily="18" charset="0"/>
              </a:rPr>
              <a:t>IPsec</a:t>
            </a:r>
            <a:r>
              <a:rPr lang="en-US" sz="2400" dirty="0">
                <a:latin typeface="Times New Roman" pitchFamily="18" charset="0"/>
                <a:cs typeface="Times New Roman" pitchFamily="18" charset="0"/>
              </a:rPr>
              <a:t> protocol works at Network layer</a:t>
            </a:r>
            <a:r>
              <a:rPr lang="en-US" dirty="0"/>
              <a:t>.</a:t>
            </a:r>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p:txBody>
      </p:sp>
      <p:pic>
        <p:nvPicPr>
          <p:cNvPr id="5" name="Picture 2" descr="C:\Users\dell\OneDrive\Desktop\cyber security\thoery\preparation manual\application_layer.jpg"/>
          <p:cNvPicPr>
            <a:picLocks noChangeAspect="1" noChangeArrowheads="1"/>
          </p:cNvPicPr>
          <p:nvPr/>
        </p:nvPicPr>
        <p:blipFill>
          <a:blip r:embed="rId2" cstate="print"/>
          <a:srcRect/>
          <a:stretch>
            <a:fillRect/>
          </a:stretch>
        </p:blipFill>
        <p:spPr bwMode="auto">
          <a:xfrm>
            <a:off x="685800" y="3429000"/>
            <a:ext cx="7924800" cy="3048000"/>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E-mail Security</a:t>
            </a:r>
            <a:endParaRPr lang="en-US" b="1" dirty="0"/>
          </a:p>
        </p:txBody>
      </p:sp>
      <p:sp>
        <p:nvSpPr>
          <p:cNvPr id="3" name="Content Placeholder 2"/>
          <p:cNvSpPr>
            <a:spLocks noGrp="1"/>
          </p:cNvSpPr>
          <p:nvPr>
            <p:ph idx="1"/>
          </p:nvPr>
        </p:nvSpPr>
        <p:spPr/>
        <p:txBody>
          <a:bodyPr>
            <a:normAutofit fontScale="85000" lnSpcReduction="20000"/>
          </a:bodyPr>
          <a:lstStyle/>
          <a:p>
            <a:pPr algn="just"/>
            <a:r>
              <a:rPr lang="en-US" dirty="0"/>
              <a:t>Nowadays, e-mail has become very widely used network application. Let’s briefly discuss the e-mail infrastructure before proceeding to know about e-mail security protocols.</a:t>
            </a:r>
          </a:p>
          <a:p>
            <a:pPr algn="just">
              <a:buNone/>
            </a:pPr>
            <a:r>
              <a:rPr lang="en-US" b="1" dirty="0"/>
              <a:t>E-mail Infrastructure</a:t>
            </a:r>
          </a:p>
          <a:p>
            <a:pPr algn="just"/>
            <a:r>
              <a:rPr lang="en-US" dirty="0"/>
              <a:t>The simplest way of sending an e-mail would be sending a message </a:t>
            </a:r>
            <a:r>
              <a:rPr lang="en-US" b="1" dirty="0"/>
              <a:t>directly from </a:t>
            </a:r>
            <a:r>
              <a:rPr lang="en-US" dirty="0"/>
              <a:t>the sender’s machine to the recipient’s machine. </a:t>
            </a:r>
          </a:p>
          <a:p>
            <a:pPr algn="just"/>
            <a:r>
              <a:rPr lang="en-US" dirty="0"/>
              <a:t>In this case, it is essential for both the machines to be </a:t>
            </a:r>
            <a:r>
              <a:rPr lang="en-US" b="1" dirty="0"/>
              <a:t>running on the network simultaneously</a:t>
            </a:r>
            <a:r>
              <a:rPr lang="en-US" dirty="0"/>
              <a:t>. However, this setup is impractical as users may occasionally connect their machines to the network.</a:t>
            </a:r>
          </a:p>
          <a:p>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fontScale="92500" lnSpcReduction="20000"/>
          </a:bodyPr>
          <a:lstStyle/>
          <a:p>
            <a:pPr algn="just"/>
            <a:r>
              <a:rPr lang="en-US" dirty="0"/>
              <a:t>Hence, the concept of setting up e-mail servers arrived. In this setup, the mail is sent to a mail server which is permanently </a:t>
            </a:r>
            <a:r>
              <a:rPr lang="en-US" b="1" dirty="0"/>
              <a:t>available on the network</a:t>
            </a:r>
            <a:r>
              <a:rPr lang="en-US" dirty="0"/>
              <a:t>. When the recipient’s machine connects to the network, it reads the mail from the mail server.</a:t>
            </a:r>
          </a:p>
          <a:p>
            <a:pPr algn="just"/>
            <a:r>
              <a:rPr lang="en-US" dirty="0"/>
              <a:t>In general, the e-mail infrastructure consists of a mesh of mail servers, also termed as </a:t>
            </a:r>
            <a:r>
              <a:rPr lang="en-US" b="1" dirty="0"/>
              <a:t>Message Transfer Agents</a:t>
            </a:r>
            <a:r>
              <a:rPr lang="en-US" dirty="0"/>
              <a:t> (MTAs) and client machines running an e-mail program comprising of </a:t>
            </a:r>
            <a:r>
              <a:rPr lang="en-US" b="1" dirty="0"/>
              <a:t>User Agent (UA) </a:t>
            </a:r>
            <a:r>
              <a:rPr lang="en-US" dirty="0"/>
              <a:t>and </a:t>
            </a:r>
            <a:r>
              <a:rPr lang="en-US" b="1" dirty="0"/>
              <a:t>local MTA.</a:t>
            </a:r>
          </a:p>
          <a:p>
            <a:pPr algn="just"/>
            <a:r>
              <a:rPr lang="en-US" dirty="0"/>
              <a:t>Typically, an e-mail message gets forwarded from its UA, goes through the mesh of MTAs and finally reaches the UA on the recipient’s machine.</a:t>
            </a:r>
          </a:p>
          <a:p>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d.jpg"/>
          <p:cNvPicPr>
            <a:picLocks noGrp="1" noChangeAspect="1"/>
          </p:cNvPicPr>
          <p:nvPr>
            <p:ph idx="1"/>
          </p:nvPr>
        </p:nvPicPr>
        <p:blipFill>
          <a:blip r:embed="rId2" cstate="print"/>
          <a:stretch>
            <a:fillRect/>
          </a:stretch>
        </p:blipFill>
        <p:spPr>
          <a:xfrm>
            <a:off x="457200" y="381000"/>
            <a:ext cx="8229600" cy="1629002"/>
          </a:xfrm>
        </p:spPr>
      </p:pic>
      <p:sp>
        <p:nvSpPr>
          <p:cNvPr id="5" name="Rectangle 4"/>
          <p:cNvSpPr/>
          <p:nvPr/>
        </p:nvSpPr>
        <p:spPr>
          <a:xfrm>
            <a:off x="421640" y="2274838"/>
            <a:ext cx="8458200" cy="2308324"/>
          </a:xfrm>
          <a:prstGeom prst="rect">
            <a:avLst/>
          </a:prstGeom>
        </p:spPr>
        <p:txBody>
          <a:bodyPr wrap="square">
            <a:spAutoFit/>
          </a:bodyPr>
          <a:lstStyle/>
          <a:p>
            <a:pPr algn="just"/>
            <a:r>
              <a:rPr lang="en-US" sz="2400" dirty="0"/>
              <a:t>The protocols used for e-mail are as follows −</a:t>
            </a:r>
          </a:p>
          <a:p>
            <a:pPr algn="just"/>
            <a:r>
              <a:rPr lang="en-US" sz="2400" dirty="0"/>
              <a:t>---&gt;Simple mail Transfer Protocol </a:t>
            </a:r>
            <a:r>
              <a:rPr lang="en-US" sz="2400" b="1" dirty="0"/>
              <a:t>(SMTP) </a:t>
            </a:r>
            <a:r>
              <a:rPr lang="en-US" sz="2400" dirty="0"/>
              <a:t>used for </a:t>
            </a:r>
            <a:r>
              <a:rPr lang="en-US" sz="2400" dirty="0">
                <a:solidFill>
                  <a:srgbClr val="FF0000"/>
                </a:solidFill>
              </a:rPr>
              <a:t>forwarding e-</a:t>
            </a:r>
          </a:p>
          <a:p>
            <a:pPr algn="just"/>
            <a:r>
              <a:rPr lang="en-US" sz="2400" dirty="0">
                <a:solidFill>
                  <a:srgbClr val="FF0000"/>
                </a:solidFill>
              </a:rPr>
              <a:t>       mail messages.</a:t>
            </a:r>
          </a:p>
          <a:p>
            <a:pPr algn="just"/>
            <a:r>
              <a:rPr lang="en-US" sz="2400" dirty="0"/>
              <a:t>---&gt;Post Office Protocol </a:t>
            </a:r>
            <a:r>
              <a:rPr lang="en-US" sz="2400" b="1" dirty="0"/>
              <a:t>(POP)</a:t>
            </a:r>
            <a:r>
              <a:rPr lang="en-US" sz="2400" dirty="0"/>
              <a:t> and Internet Message Access  </a:t>
            </a:r>
          </a:p>
          <a:p>
            <a:pPr algn="just"/>
            <a:r>
              <a:rPr lang="en-US" sz="2400" dirty="0"/>
              <a:t>                           Protocol </a:t>
            </a:r>
            <a:r>
              <a:rPr lang="en-US" sz="2400" b="1" dirty="0"/>
              <a:t>(IMAP) </a:t>
            </a:r>
            <a:r>
              <a:rPr lang="en-US" sz="2400" dirty="0"/>
              <a:t>are used to </a:t>
            </a:r>
            <a:r>
              <a:rPr lang="en-US" sz="2400" dirty="0">
                <a:solidFill>
                  <a:srgbClr val="FF0000"/>
                </a:solidFill>
              </a:rPr>
              <a:t>retrieve the messages </a:t>
            </a:r>
          </a:p>
          <a:p>
            <a:pPr algn="just"/>
            <a:r>
              <a:rPr lang="en-US" sz="2400" dirty="0"/>
              <a:t>                           by recipient from the server.</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a:t>E-Mail Security Services</a:t>
            </a:r>
          </a:p>
        </p:txBody>
      </p:sp>
      <p:sp>
        <p:nvSpPr>
          <p:cNvPr id="3" name="Content Placeholder 2"/>
          <p:cNvSpPr>
            <a:spLocks noGrp="1"/>
          </p:cNvSpPr>
          <p:nvPr>
            <p:ph idx="1"/>
          </p:nvPr>
        </p:nvSpPr>
        <p:spPr>
          <a:xfrm>
            <a:off x="457200" y="1066800"/>
            <a:ext cx="8229600" cy="5059363"/>
          </a:xfrm>
        </p:spPr>
        <p:txBody>
          <a:bodyPr>
            <a:normAutofit fontScale="77500" lnSpcReduction="20000"/>
          </a:bodyPr>
          <a:lstStyle/>
          <a:p>
            <a:pPr algn="just"/>
            <a:r>
              <a:rPr lang="en-US" b="1" dirty="0"/>
              <a:t>Confidentiality</a:t>
            </a:r>
            <a:r>
              <a:rPr lang="en-US" dirty="0"/>
              <a:t> − E-mail message should not be read by anyone but the intended recipient.</a:t>
            </a:r>
          </a:p>
          <a:p>
            <a:pPr algn="just"/>
            <a:r>
              <a:rPr lang="en-US" b="1" dirty="0"/>
              <a:t>Authentication</a:t>
            </a:r>
            <a:r>
              <a:rPr lang="en-US" dirty="0"/>
              <a:t> − E-mail recipient can be sure of the identity of the sender.</a:t>
            </a:r>
          </a:p>
          <a:p>
            <a:pPr algn="just"/>
            <a:r>
              <a:rPr lang="en-US" b="1" dirty="0"/>
              <a:t>Integrity</a:t>
            </a:r>
            <a:r>
              <a:rPr lang="en-US" dirty="0"/>
              <a:t> − Assurance to the recipient that the e-mail message has not been altered since it was transmitted by the sender.</a:t>
            </a:r>
          </a:p>
          <a:p>
            <a:pPr algn="just"/>
            <a:r>
              <a:rPr lang="en-US" b="1" dirty="0"/>
              <a:t>Non-repudiation</a:t>
            </a:r>
            <a:r>
              <a:rPr lang="en-US" dirty="0"/>
              <a:t> − E-mail recipient is able to prove to a third party that the sender really did send the message.</a:t>
            </a:r>
          </a:p>
          <a:p>
            <a:pPr algn="just"/>
            <a:r>
              <a:rPr lang="en-US" b="1" dirty="0"/>
              <a:t>Proof of submission</a:t>
            </a:r>
            <a:r>
              <a:rPr lang="en-US" dirty="0"/>
              <a:t> − E-mail sender gets the confirmation that the message is handed to the mail delivery system.</a:t>
            </a:r>
          </a:p>
          <a:p>
            <a:pPr algn="just"/>
            <a:r>
              <a:rPr lang="en-US" b="1" dirty="0"/>
              <a:t>Proof of delivery</a:t>
            </a:r>
            <a:r>
              <a:rPr lang="en-US" dirty="0"/>
              <a:t> − Sender gets a confirmation that the recipient received the message.</a:t>
            </a:r>
          </a:p>
          <a:p>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54762"/>
          </a:xfrm>
        </p:spPr>
        <p:txBody>
          <a:bodyPr>
            <a:noAutofit/>
          </a:bodyPr>
          <a:lstStyle/>
          <a:p>
            <a:pPr algn="l"/>
            <a:br>
              <a:rPr lang="en-US" sz="2800" dirty="0"/>
            </a:br>
            <a:r>
              <a:rPr lang="en-US" sz="2800" dirty="0"/>
              <a:t>Security services such as privacy, authentication, message integrity, and non-repudiation are usually provided </a:t>
            </a:r>
            <a:r>
              <a:rPr lang="en-US" sz="2800" dirty="0">
                <a:solidFill>
                  <a:srgbClr val="FF0000"/>
                </a:solidFill>
              </a:rPr>
              <a:t>by</a:t>
            </a:r>
            <a:r>
              <a:rPr lang="en-US" sz="2800" dirty="0"/>
              <a:t> </a:t>
            </a:r>
            <a:r>
              <a:rPr lang="en-US" sz="2800" dirty="0">
                <a:solidFill>
                  <a:srgbClr val="FF0000"/>
                </a:solidFill>
              </a:rPr>
              <a:t>using</a:t>
            </a:r>
            <a:r>
              <a:rPr lang="en-US" sz="2800" dirty="0"/>
              <a:t> public key cryptography.</a:t>
            </a:r>
            <a:br>
              <a:rPr lang="en-US" sz="2800" dirty="0"/>
            </a:br>
            <a:r>
              <a:rPr lang="en-US" sz="2800" dirty="0"/>
              <a:t> </a:t>
            </a:r>
            <a:br>
              <a:rPr lang="en-US" sz="2800" dirty="0"/>
            </a:br>
            <a:r>
              <a:rPr lang="en-US" sz="2800" dirty="0"/>
              <a:t>Typically, there are </a:t>
            </a:r>
            <a:r>
              <a:rPr lang="en-US" sz="2800" b="1" dirty="0"/>
              <a:t>three different scenarios </a:t>
            </a:r>
            <a:r>
              <a:rPr lang="en-US" sz="2800" dirty="0"/>
              <a:t>of e-mail communication. We will discuss the methods of achieving above security services in these scenarios. </a:t>
            </a:r>
            <a:br>
              <a:rPr lang="en-US" sz="2800" dirty="0"/>
            </a:br>
            <a:br>
              <a:rPr lang="en-US" sz="2800" dirty="0"/>
            </a:br>
            <a:r>
              <a:rPr lang="en-US" sz="2800" dirty="0"/>
              <a:t>One-to-One E-mail</a:t>
            </a:r>
            <a:br>
              <a:rPr lang="en-US" sz="2800" dirty="0"/>
            </a:br>
            <a:r>
              <a:rPr lang="en-US" sz="2800" dirty="0"/>
              <a:t>One-to-Multiple Recipients E-mail</a:t>
            </a:r>
            <a:br>
              <a:rPr lang="en-US" sz="2800" dirty="0"/>
            </a:br>
            <a:r>
              <a:rPr lang="en-US" sz="2800" dirty="0"/>
              <a:t>One-to-Distribution List E-mail</a:t>
            </a:r>
            <a:br>
              <a:rPr lang="en-US" sz="2800" dirty="0"/>
            </a:br>
            <a:br>
              <a:rPr lang="en-US" sz="2800" dirty="0"/>
            </a:br>
            <a:endParaRPr lang="en-US" sz="2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09600"/>
          </a:xfrm>
        </p:spPr>
        <p:txBody>
          <a:bodyPr>
            <a:normAutofit/>
          </a:bodyPr>
          <a:lstStyle/>
          <a:p>
            <a:r>
              <a:rPr lang="en-US" sz="3200" dirty="0"/>
              <a:t>One-to-One E-mail</a:t>
            </a:r>
          </a:p>
        </p:txBody>
      </p:sp>
      <p:pic>
        <p:nvPicPr>
          <p:cNvPr id="4" name="Content Placeholder 3" descr="one_to_one_email.jpg"/>
          <p:cNvPicPr>
            <a:picLocks noGrp="1" noChangeAspect="1"/>
          </p:cNvPicPr>
          <p:nvPr>
            <p:ph idx="1"/>
          </p:nvPr>
        </p:nvPicPr>
        <p:blipFill>
          <a:blip r:embed="rId2" cstate="print"/>
          <a:stretch>
            <a:fillRect/>
          </a:stretch>
        </p:blipFill>
        <p:spPr>
          <a:xfrm>
            <a:off x="381000" y="990601"/>
            <a:ext cx="8305800" cy="2057400"/>
          </a:xfrm>
        </p:spPr>
      </p:pic>
      <p:sp>
        <p:nvSpPr>
          <p:cNvPr id="5" name="Rectangle 4"/>
          <p:cNvSpPr/>
          <p:nvPr/>
        </p:nvSpPr>
        <p:spPr>
          <a:xfrm>
            <a:off x="304800" y="457200"/>
            <a:ext cx="8382000" cy="646331"/>
          </a:xfrm>
          <a:prstGeom prst="rect">
            <a:avLst/>
          </a:prstGeom>
        </p:spPr>
        <p:txBody>
          <a:bodyPr wrap="square">
            <a:spAutoFit/>
          </a:bodyPr>
          <a:lstStyle/>
          <a:p>
            <a:r>
              <a:rPr lang="en-US" dirty="0"/>
              <a:t>In this scenario, the sender sends an e-mail message to only one recipient. Usually, not more than two MTA are involved in the communication.</a:t>
            </a:r>
          </a:p>
        </p:txBody>
      </p:sp>
      <p:sp>
        <p:nvSpPr>
          <p:cNvPr id="6" name="Rectangle 5"/>
          <p:cNvSpPr/>
          <p:nvPr/>
        </p:nvSpPr>
        <p:spPr>
          <a:xfrm>
            <a:off x="304800" y="3200400"/>
            <a:ext cx="8458200" cy="3416320"/>
          </a:xfrm>
          <a:prstGeom prst="rect">
            <a:avLst/>
          </a:prstGeom>
        </p:spPr>
        <p:txBody>
          <a:bodyPr wrap="square">
            <a:spAutoFit/>
          </a:bodyPr>
          <a:lstStyle/>
          <a:p>
            <a:pPr algn="just"/>
            <a:r>
              <a:rPr lang="en-US" dirty="0"/>
              <a:t>Let’s assume a sender wants to send a confidential e-mail to a recipient. The provision of privacy in this case is achieved as follows −</a:t>
            </a:r>
          </a:p>
          <a:p>
            <a:pPr algn="just"/>
            <a:r>
              <a:rPr lang="en-US" dirty="0"/>
              <a:t>The sender and receiver have their private-public keys as (S</a:t>
            </a:r>
            <a:r>
              <a:rPr lang="en-US" baseline="-25000" dirty="0"/>
              <a:t>PVT</a:t>
            </a:r>
            <a:r>
              <a:rPr lang="en-US" dirty="0"/>
              <a:t>, S</a:t>
            </a:r>
            <a:r>
              <a:rPr lang="en-US" baseline="-25000" dirty="0"/>
              <a:t>PUB</a:t>
            </a:r>
            <a:r>
              <a:rPr lang="en-US" dirty="0"/>
              <a:t>) and (R</a:t>
            </a:r>
            <a:r>
              <a:rPr lang="en-US" baseline="-25000" dirty="0"/>
              <a:t>PVT</a:t>
            </a:r>
            <a:r>
              <a:rPr lang="en-US" dirty="0"/>
              <a:t>, R</a:t>
            </a:r>
            <a:r>
              <a:rPr lang="en-US" baseline="-25000" dirty="0"/>
              <a:t>PUB</a:t>
            </a:r>
            <a:r>
              <a:rPr lang="en-US" dirty="0"/>
              <a:t>) respectively.</a:t>
            </a:r>
          </a:p>
          <a:p>
            <a:pPr algn="just"/>
            <a:r>
              <a:rPr lang="en-US" dirty="0"/>
              <a:t>The sender generates a </a:t>
            </a:r>
            <a:r>
              <a:rPr lang="en-US" b="1" dirty="0"/>
              <a:t>secret symmetric key</a:t>
            </a:r>
            <a:r>
              <a:rPr lang="en-US" dirty="0"/>
              <a:t>, K</a:t>
            </a:r>
            <a:r>
              <a:rPr lang="en-US" baseline="-25000" dirty="0"/>
              <a:t>S</a:t>
            </a:r>
            <a:r>
              <a:rPr lang="en-US" dirty="0"/>
              <a:t> for encryption. Though the sender could have used R</a:t>
            </a:r>
            <a:r>
              <a:rPr lang="en-US" baseline="-25000" dirty="0"/>
              <a:t>PUB</a:t>
            </a:r>
            <a:r>
              <a:rPr lang="en-US" dirty="0"/>
              <a:t> for encryption, a symmetric key is used to achieve faster encryption and decryption.</a:t>
            </a:r>
          </a:p>
          <a:p>
            <a:pPr algn="just"/>
            <a:r>
              <a:rPr lang="en-US" dirty="0"/>
              <a:t>The sender encrypts message with key K</a:t>
            </a:r>
            <a:r>
              <a:rPr lang="en-US" baseline="-25000" dirty="0"/>
              <a:t>S</a:t>
            </a:r>
            <a:r>
              <a:rPr lang="en-US" dirty="0"/>
              <a:t> and also encrypts K</a:t>
            </a:r>
            <a:r>
              <a:rPr lang="en-US" baseline="-25000" dirty="0"/>
              <a:t>S</a:t>
            </a:r>
            <a:r>
              <a:rPr lang="en-US" dirty="0"/>
              <a:t> with public key of the recipient, R</a:t>
            </a:r>
            <a:r>
              <a:rPr lang="en-US" baseline="-25000" dirty="0"/>
              <a:t>PUB</a:t>
            </a:r>
            <a:r>
              <a:rPr lang="en-US" dirty="0"/>
              <a:t>.</a:t>
            </a:r>
          </a:p>
          <a:p>
            <a:pPr algn="just"/>
            <a:r>
              <a:rPr lang="en-US" dirty="0"/>
              <a:t>The sender sends encrypted message and encrypted K</a:t>
            </a:r>
            <a:r>
              <a:rPr lang="en-US" baseline="-25000" dirty="0"/>
              <a:t>S</a:t>
            </a:r>
            <a:r>
              <a:rPr lang="en-US" dirty="0"/>
              <a:t> to the recipient.</a:t>
            </a:r>
          </a:p>
          <a:p>
            <a:pPr algn="just"/>
            <a:r>
              <a:rPr lang="en-US" dirty="0"/>
              <a:t>The recipient first </a:t>
            </a:r>
            <a:r>
              <a:rPr lang="en-US" b="1" dirty="0"/>
              <a:t>obtains K</a:t>
            </a:r>
            <a:r>
              <a:rPr lang="en-US" b="1" baseline="-25000" dirty="0"/>
              <a:t>S</a:t>
            </a:r>
            <a:r>
              <a:rPr lang="en-US" b="1" dirty="0"/>
              <a:t> by decrypting encoded </a:t>
            </a:r>
            <a:r>
              <a:rPr lang="en-US" dirty="0"/>
              <a:t>K</a:t>
            </a:r>
            <a:r>
              <a:rPr lang="en-US" baseline="-25000" dirty="0"/>
              <a:t>S</a:t>
            </a:r>
            <a:r>
              <a:rPr lang="en-US" dirty="0"/>
              <a:t> using his private key, R</a:t>
            </a:r>
            <a:r>
              <a:rPr lang="en-US" baseline="-25000" dirty="0"/>
              <a:t>PVT</a:t>
            </a:r>
            <a:r>
              <a:rPr lang="en-US" dirty="0"/>
              <a:t>.</a:t>
            </a:r>
          </a:p>
          <a:p>
            <a:pPr algn="just"/>
            <a:r>
              <a:rPr lang="en-US" dirty="0"/>
              <a:t>The recipient then decrypts message using the symmetric key, K</a:t>
            </a:r>
            <a:r>
              <a:rPr lang="en-US" baseline="-25000" dirty="0"/>
              <a:t>S</a:t>
            </a:r>
            <a:r>
              <a:rPr lang="en-US" dirty="0"/>
              <a: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confidential_email.jpg"/>
          <p:cNvPicPr>
            <a:picLocks noGrp="1" noChangeAspect="1"/>
          </p:cNvPicPr>
          <p:nvPr>
            <p:ph idx="1"/>
          </p:nvPr>
        </p:nvPicPr>
        <p:blipFill>
          <a:blip r:embed="rId2" cstate="print"/>
          <a:stretch>
            <a:fillRect/>
          </a:stretch>
        </p:blipFill>
        <p:spPr>
          <a:xfrm>
            <a:off x="0" y="0"/>
            <a:ext cx="9144000" cy="1819529"/>
          </a:xfrm>
        </p:spPr>
      </p:pic>
      <p:sp>
        <p:nvSpPr>
          <p:cNvPr id="5" name="Rectangle 4"/>
          <p:cNvSpPr/>
          <p:nvPr/>
        </p:nvSpPr>
        <p:spPr>
          <a:xfrm>
            <a:off x="0" y="1828800"/>
            <a:ext cx="9144000" cy="1200329"/>
          </a:xfrm>
          <a:prstGeom prst="rect">
            <a:avLst/>
          </a:prstGeom>
        </p:spPr>
        <p:txBody>
          <a:bodyPr wrap="square">
            <a:spAutoFit/>
          </a:bodyPr>
          <a:lstStyle/>
          <a:p>
            <a:r>
              <a:rPr lang="en-US" dirty="0"/>
              <a:t>If message integrity, authentication, and non-repudiation </a:t>
            </a:r>
            <a:r>
              <a:rPr lang="en-US" b="1" dirty="0"/>
              <a:t>services are also needed</a:t>
            </a:r>
            <a:r>
              <a:rPr lang="en-US" dirty="0"/>
              <a:t> in this scenario, the following steps are added to the above process.</a:t>
            </a:r>
          </a:p>
          <a:p>
            <a:r>
              <a:rPr lang="en-US" dirty="0"/>
              <a:t>The sender produces hash of message and digitally signs this hash with </a:t>
            </a:r>
            <a:r>
              <a:rPr lang="en-US" b="1" dirty="0"/>
              <a:t>his private key</a:t>
            </a:r>
            <a:r>
              <a:rPr lang="en-US" dirty="0"/>
              <a:t>, S</a:t>
            </a:r>
            <a:r>
              <a:rPr lang="en-US" baseline="-25000" dirty="0"/>
              <a:t>PVT</a:t>
            </a:r>
            <a:r>
              <a:rPr lang="en-US" dirty="0"/>
              <a:t>.</a:t>
            </a:r>
          </a:p>
          <a:p>
            <a:r>
              <a:rPr lang="en-US" dirty="0"/>
              <a:t>The sender sends this signed hash to the recipient along with other components.</a:t>
            </a:r>
          </a:p>
        </p:txBody>
      </p:sp>
      <p:pic>
        <p:nvPicPr>
          <p:cNvPr id="6" name="Picture 5" descr="message_integrity_authentication_non_repudiation.jpg"/>
          <p:cNvPicPr>
            <a:picLocks noChangeAspect="1"/>
          </p:cNvPicPr>
          <p:nvPr/>
        </p:nvPicPr>
        <p:blipFill>
          <a:blip r:embed="rId3" cstate="print"/>
          <a:stretch>
            <a:fillRect/>
          </a:stretch>
        </p:blipFill>
        <p:spPr>
          <a:xfrm>
            <a:off x="0" y="3038218"/>
            <a:ext cx="9144000" cy="1838582"/>
          </a:xfrm>
          <a:prstGeom prst="rect">
            <a:avLst/>
          </a:prstGeom>
        </p:spPr>
      </p:pic>
      <p:sp>
        <p:nvSpPr>
          <p:cNvPr id="7" name="Rectangle 6"/>
          <p:cNvSpPr/>
          <p:nvPr/>
        </p:nvSpPr>
        <p:spPr>
          <a:xfrm>
            <a:off x="0" y="4937878"/>
            <a:ext cx="9144000" cy="1477328"/>
          </a:xfrm>
          <a:prstGeom prst="rect">
            <a:avLst/>
          </a:prstGeom>
        </p:spPr>
        <p:txBody>
          <a:bodyPr wrap="square">
            <a:spAutoFit/>
          </a:bodyPr>
          <a:lstStyle/>
          <a:p>
            <a:r>
              <a:rPr lang="en-US" dirty="0"/>
              <a:t>The recipient uses public key S</a:t>
            </a:r>
            <a:r>
              <a:rPr lang="en-US" baseline="-25000" dirty="0"/>
              <a:t>PUB</a:t>
            </a:r>
            <a:r>
              <a:rPr lang="en-US" dirty="0"/>
              <a:t> and extracts the hash received under the sender’s signature.</a:t>
            </a:r>
          </a:p>
          <a:p>
            <a:r>
              <a:rPr lang="en-US" dirty="0"/>
              <a:t>The recipient then hashes the decrypted message and now </a:t>
            </a:r>
            <a:r>
              <a:rPr lang="en-US" b="1" dirty="0"/>
              <a:t>compares the two hash values.</a:t>
            </a:r>
            <a:r>
              <a:rPr lang="en-US" dirty="0"/>
              <a:t> If they match, message integrity is considered to be achieved.</a:t>
            </a:r>
          </a:p>
          <a:p>
            <a:r>
              <a:rPr lang="en-US" dirty="0"/>
              <a:t>Also, the recipient is sure that the message is sent by the sender (authentication). And lastly, the sender cannot </a:t>
            </a:r>
            <a:r>
              <a:rPr lang="en-US" b="1" dirty="0"/>
              <a:t>deny that he did not send the message </a:t>
            </a:r>
            <a:r>
              <a:rPr lang="en-US" dirty="0"/>
              <a:t>(non-repudiation</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85800"/>
          </a:xfrm>
        </p:spPr>
        <p:txBody>
          <a:bodyPr>
            <a:normAutofit/>
          </a:bodyPr>
          <a:lstStyle/>
          <a:p>
            <a:r>
              <a:rPr lang="en-US" sz="3200" dirty="0"/>
              <a:t>One-to-Multiple Recipients E-mail</a:t>
            </a:r>
          </a:p>
        </p:txBody>
      </p:sp>
      <p:sp>
        <p:nvSpPr>
          <p:cNvPr id="3" name="Content Placeholder 2"/>
          <p:cNvSpPr>
            <a:spLocks noGrp="1"/>
          </p:cNvSpPr>
          <p:nvPr>
            <p:ph idx="1"/>
          </p:nvPr>
        </p:nvSpPr>
        <p:spPr>
          <a:xfrm>
            <a:off x="457200" y="533400"/>
            <a:ext cx="8229600" cy="914400"/>
          </a:xfrm>
        </p:spPr>
        <p:txBody>
          <a:bodyPr>
            <a:noAutofit/>
          </a:bodyPr>
          <a:lstStyle/>
          <a:p>
            <a:r>
              <a:rPr lang="en-US" sz="1800" dirty="0"/>
              <a:t>In this scenario, the sender sends an e-mail message to two or more recipients. The list is managed by the sender’s e-mail program (UA + local MTA). All recipients get the same message.</a:t>
            </a:r>
          </a:p>
          <a:p>
            <a:pPr>
              <a:buNone/>
            </a:pPr>
            <a:br>
              <a:rPr lang="en-US" sz="1800" dirty="0"/>
            </a:br>
            <a:endParaRPr lang="en-US" sz="1800" dirty="0"/>
          </a:p>
          <a:p>
            <a:pPr>
              <a:buNone/>
            </a:pPr>
            <a:endParaRPr lang="en-US" sz="1800" dirty="0"/>
          </a:p>
          <a:p>
            <a:pPr>
              <a:buNone/>
            </a:pPr>
            <a:endParaRPr lang="en-US" sz="1800" dirty="0"/>
          </a:p>
          <a:p>
            <a:pPr>
              <a:buNone/>
            </a:pPr>
            <a:endParaRPr lang="en-US" sz="1800" dirty="0"/>
          </a:p>
          <a:p>
            <a:pPr>
              <a:buNone/>
            </a:pPr>
            <a:endParaRPr lang="en-US" sz="1800" dirty="0"/>
          </a:p>
        </p:txBody>
      </p:sp>
      <p:pic>
        <p:nvPicPr>
          <p:cNvPr id="4" name="Picture 3" descr="one_to_multiple_recipients_email.jpg"/>
          <p:cNvPicPr>
            <a:picLocks noChangeAspect="1"/>
          </p:cNvPicPr>
          <p:nvPr/>
        </p:nvPicPr>
        <p:blipFill>
          <a:blip r:embed="rId2" cstate="print"/>
          <a:stretch>
            <a:fillRect/>
          </a:stretch>
        </p:blipFill>
        <p:spPr>
          <a:xfrm>
            <a:off x="685800" y="1524000"/>
            <a:ext cx="8077200" cy="1247981"/>
          </a:xfrm>
          <a:prstGeom prst="rect">
            <a:avLst/>
          </a:prstGeom>
        </p:spPr>
      </p:pic>
      <p:sp>
        <p:nvSpPr>
          <p:cNvPr id="5" name="Rectangle 4"/>
          <p:cNvSpPr/>
          <p:nvPr/>
        </p:nvSpPr>
        <p:spPr>
          <a:xfrm>
            <a:off x="457200" y="2819400"/>
            <a:ext cx="8305800" cy="3693319"/>
          </a:xfrm>
          <a:prstGeom prst="rect">
            <a:avLst/>
          </a:prstGeom>
        </p:spPr>
        <p:txBody>
          <a:bodyPr wrap="square">
            <a:spAutoFit/>
          </a:bodyPr>
          <a:lstStyle/>
          <a:p>
            <a:r>
              <a:rPr lang="en-US" dirty="0"/>
              <a:t>Let’s assume, the sender wants to send confidential e-mail to many recipients (say R1, R2, and R3). The provision of privacy in this case is achieved as follows −</a:t>
            </a:r>
          </a:p>
          <a:p>
            <a:r>
              <a:rPr lang="en-US" dirty="0"/>
              <a:t>The sender and all recipients have their own pair of private-public keys.</a:t>
            </a:r>
          </a:p>
          <a:p>
            <a:r>
              <a:rPr lang="en-US" dirty="0"/>
              <a:t>The sender generates a secret symmetric key, K</a:t>
            </a:r>
            <a:r>
              <a:rPr lang="en-US" baseline="-25000" dirty="0"/>
              <a:t>s</a:t>
            </a:r>
            <a:r>
              <a:rPr lang="en-US" dirty="0"/>
              <a:t> and encrypts the message with this key.</a:t>
            </a:r>
          </a:p>
          <a:p>
            <a:r>
              <a:rPr lang="en-US" dirty="0"/>
              <a:t>The sender then encrypts K</a:t>
            </a:r>
            <a:r>
              <a:rPr lang="en-US" baseline="-25000" dirty="0"/>
              <a:t>S</a:t>
            </a:r>
            <a:r>
              <a:rPr lang="en-US" b="1" dirty="0"/>
              <a:t> multiple times with public keys of R1, R2, and R3, getting R1</a:t>
            </a:r>
            <a:r>
              <a:rPr lang="en-US" b="1" baseline="-25000" dirty="0"/>
              <a:t>PUB</a:t>
            </a:r>
            <a:r>
              <a:rPr lang="en-US" b="1" dirty="0"/>
              <a:t>(K</a:t>
            </a:r>
            <a:r>
              <a:rPr lang="en-US" b="1" baseline="-25000" dirty="0"/>
              <a:t>S</a:t>
            </a:r>
            <a:r>
              <a:rPr lang="en-US" b="1" dirty="0"/>
              <a:t>), R2</a:t>
            </a:r>
            <a:r>
              <a:rPr lang="en-US" b="1" baseline="-25000" dirty="0"/>
              <a:t>PUB</a:t>
            </a:r>
            <a:r>
              <a:rPr lang="en-US" b="1" dirty="0"/>
              <a:t>(K</a:t>
            </a:r>
            <a:r>
              <a:rPr lang="en-US" b="1" baseline="-25000" dirty="0"/>
              <a:t>S</a:t>
            </a:r>
            <a:r>
              <a:rPr lang="en-US" b="1" dirty="0"/>
              <a:t>), and R3</a:t>
            </a:r>
            <a:r>
              <a:rPr lang="en-US" b="1" baseline="-25000" dirty="0"/>
              <a:t>PUB</a:t>
            </a:r>
            <a:r>
              <a:rPr lang="en-US" b="1" dirty="0"/>
              <a:t>(K</a:t>
            </a:r>
            <a:r>
              <a:rPr lang="en-US" b="1" baseline="-25000" dirty="0"/>
              <a:t>S</a:t>
            </a:r>
            <a:r>
              <a:rPr lang="en-US" b="1" dirty="0"/>
              <a:t>).</a:t>
            </a:r>
          </a:p>
          <a:p>
            <a:r>
              <a:rPr lang="en-US" dirty="0"/>
              <a:t>The sender sends encrypted message and corresponding encrypted K</a:t>
            </a:r>
            <a:r>
              <a:rPr lang="en-US" baseline="-25000" dirty="0"/>
              <a:t>S</a:t>
            </a:r>
            <a:r>
              <a:rPr lang="en-US" dirty="0"/>
              <a:t> to the recipient. For example, recipient 1 (R1) receives encrypted message and R1</a:t>
            </a:r>
            <a:r>
              <a:rPr lang="en-US" baseline="-25000" dirty="0"/>
              <a:t>PUB</a:t>
            </a:r>
            <a:r>
              <a:rPr lang="en-US" dirty="0"/>
              <a:t>(K</a:t>
            </a:r>
            <a:r>
              <a:rPr lang="en-US" baseline="-25000" dirty="0"/>
              <a:t>S</a:t>
            </a:r>
            <a:r>
              <a:rPr lang="en-US" dirty="0"/>
              <a:t>).</a:t>
            </a:r>
          </a:p>
          <a:p>
            <a:r>
              <a:rPr lang="en-US" b="1" dirty="0"/>
              <a:t>Each recipient first extracts key K</a:t>
            </a:r>
            <a:r>
              <a:rPr lang="en-US" b="1" baseline="-25000" dirty="0"/>
              <a:t>S</a:t>
            </a:r>
            <a:r>
              <a:rPr lang="en-US" b="1" dirty="0"/>
              <a:t> by decrypting encoded K</a:t>
            </a:r>
            <a:r>
              <a:rPr lang="en-US" b="1" baseline="-25000" dirty="0"/>
              <a:t>S</a:t>
            </a:r>
            <a:r>
              <a:rPr lang="en-US" b="1" dirty="0"/>
              <a:t> using his private key.</a:t>
            </a:r>
          </a:p>
          <a:p>
            <a:r>
              <a:rPr lang="en-US" dirty="0"/>
              <a:t>Each recipient then </a:t>
            </a:r>
            <a:r>
              <a:rPr lang="en-US" b="1" dirty="0"/>
              <a:t>decrypts</a:t>
            </a:r>
            <a:r>
              <a:rPr lang="en-US" dirty="0"/>
              <a:t> the message using the </a:t>
            </a:r>
            <a:r>
              <a:rPr lang="en-US" b="1" dirty="0"/>
              <a:t>symmetric key, K</a:t>
            </a:r>
            <a:r>
              <a:rPr lang="en-US" b="1" baseline="-25000" dirty="0"/>
              <a:t>S</a:t>
            </a:r>
            <a:r>
              <a:rPr lang="en-US" dirty="0"/>
              <a:t>.</a:t>
            </a:r>
          </a:p>
          <a:p>
            <a:r>
              <a:rPr lang="en-US" dirty="0"/>
              <a:t>For providing the message integrity, authentication, and non-repudiation, the steps to be followed are similar to the steps mentioned above in one-to-one e-mail scenario.</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533400"/>
          </a:xfrm>
        </p:spPr>
        <p:txBody>
          <a:bodyPr>
            <a:normAutofit fontScale="90000"/>
          </a:bodyPr>
          <a:lstStyle/>
          <a:p>
            <a:r>
              <a:rPr lang="en-US" dirty="0"/>
              <a:t>One-to-Distribution List E-mail</a:t>
            </a:r>
          </a:p>
        </p:txBody>
      </p:sp>
      <p:sp>
        <p:nvSpPr>
          <p:cNvPr id="3" name="Content Placeholder 2"/>
          <p:cNvSpPr>
            <a:spLocks noGrp="1"/>
          </p:cNvSpPr>
          <p:nvPr>
            <p:ph idx="1"/>
          </p:nvPr>
        </p:nvSpPr>
        <p:spPr>
          <a:xfrm>
            <a:off x="457200" y="1143000"/>
            <a:ext cx="8229600" cy="2743200"/>
          </a:xfrm>
        </p:spPr>
        <p:txBody>
          <a:bodyPr>
            <a:normAutofit/>
          </a:bodyPr>
          <a:lstStyle/>
          <a:p>
            <a:r>
              <a:rPr lang="en-US" sz="2400" dirty="0"/>
              <a:t>In this scenario, the sender sends an e-mail message to two or more recipients but the list of recipients is not managed locally by the sender. Generally, the </a:t>
            </a:r>
            <a:r>
              <a:rPr lang="en-US" sz="2400" b="1" dirty="0"/>
              <a:t>e-mail server (MTA) maintains the mailing list.</a:t>
            </a:r>
          </a:p>
          <a:p>
            <a:r>
              <a:rPr lang="en-US" sz="2400" dirty="0"/>
              <a:t>The sender </a:t>
            </a:r>
            <a:r>
              <a:rPr lang="en-US" sz="2400" b="1" dirty="0"/>
              <a:t>sends a mail to the MTA </a:t>
            </a:r>
            <a:r>
              <a:rPr lang="en-US" sz="2400" dirty="0"/>
              <a:t>managing the mailing list and then the mail is exploded by MTA to all recipients in the list.</a:t>
            </a:r>
          </a:p>
          <a:p>
            <a:endParaRPr lang="en-US" sz="2400" dirty="0"/>
          </a:p>
        </p:txBody>
      </p:sp>
      <p:pic>
        <p:nvPicPr>
          <p:cNvPr id="4" name="Picture 3" descr="a.jpg"/>
          <p:cNvPicPr>
            <a:picLocks noChangeAspect="1"/>
          </p:cNvPicPr>
          <p:nvPr/>
        </p:nvPicPr>
        <p:blipFill>
          <a:blip r:embed="rId2" cstate="print"/>
          <a:stretch>
            <a:fillRect/>
          </a:stretch>
        </p:blipFill>
        <p:spPr>
          <a:xfrm>
            <a:off x="685800" y="4343401"/>
            <a:ext cx="7848600" cy="19812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152400" y="304800"/>
            <a:ext cx="8839200" cy="6592574"/>
          </a:xfrm>
          <a:prstGeom prst="rect">
            <a:avLst/>
          </a:prstGeom>
        </p:spPr>
        <p:txBody>
          <a:bodyPr wrap="square">
            <a:spAutoFit/>
          </a:bodyPr>
          <a:lstStyle/>
          <a:p>
            <a:pPr>
              <a:buNone/>
            </a:pPr>
            <a:r>
              <a:rPr lang="en-US" sz="2200" dirty="0"/>
              <a:t>In this case, when the sender wants to send a confidential e-mail to the recipients of the mailing list (say R1, R2, and R3); the privacy is ensured as follows −</a:t>
            </a:r>
          </a:p>
          <a:p>
            <a:r>
              <a:rPr lang="en-US" sz="2200" dirty="0"/>
              <a:t>The </a:t>
            </a:r>
            <a:r>
              <a:rPr lang="en-US" sz="2200" b="1" dirty="0"/>
              <a:t>sender and all recipients have their own pair of private-public keys</a:t>
            </a:r>
            <a:r>
              <a:rPr lang="en-US" sz="2200" dirty="0"/>
              <a:t>. The Exploder Server has a pair of private-public key for each mailing list (</a:t>
            </a:r>
            <a:r>
              <a:rPr lang="en-US" sz="2200" dirty="0" err="1"/>
              <a:t>List</a:t>
            </a:r>
            <a:r>
              <a:rPr lang="en-US" sz="2200" baseline="-25000" dirty="0" err="1"/>
              <a:t>PUB</a:t>
            </a:r>
            <a:r>
              <a:rPr lang="en-US" sz="2200" dirty="0"/>
              <a:t>, </a:t>
            </a:r>
            <a:r>
              <a:rPr lang="en-US" sz="2200" dirty="0" err="1"/>
              <a:t>List</a:t>
            </a:r>
            <a:r>
              <a:rPr lang="en-US" sz="2200" baseline="-25000" dirty="0" err="1"/>
              <a:t>PVT</a:t>
            </a:r>
            <a:r>
              <a:rPr lang="en-US" sz="2200" dirty="0"/>
              <a:t>) maintained by it.</a:t>
            </a:r>
          </a:p>
          <a:p>
            <a:r>
              <a:rPr lang="en-US" sz="2200" dirty="0"/>
              <a:t>The </a:t>
            </a:r>
            <a:r>
              <a:rPr lang="en-US" sz="2200" b="1" dirty="0"/>
              <a:t>sender</a:t>
            </a:r>
            <a:r>
              <a:rPr lang="en-US" sz="2200" dirty="0"/>
              <a:t> </a:t>
            </a:r>
            <a:r>
              <a:rPr lang="en-US" sz="2200" b="1" dirty="0"/>
              <a:t>generates</a:t>
            </a:r>
            <a:r>
              <a:rPr lang="en-US" sz="2200" dirty="0"/>
              <a:t> a secret symmetric key K</a:t>
            </a:r>
            <a:r>
              <a:rPr lang="en-US" sz="2200" baseline="-25000" dirty="0"/>
              <a:t>s</a:t>
            </a:r>
            <a:r>
              <a:rPr lang="en-US" sz="2200" dirty="0"/>
              <a:t> and then encrypts the message with this key.</a:t>
            </a:r>
          </a:p>
          <a:p>
            <a:r>
              <a:rPr lang="en-US" sz="2200" dirty="0"/>
              <a:t>The </a:t>
            </a:r>
            <a:r>
              <a:rPr lang="en-US" sz="2200" b="1" dirty="0"/>
              <a:t>sender</a:t>
            </a:r>
            <a:r>
              <a:rPr lang="en-US" sz="2200" dirty="0"/>
              <a:t> then </a:t>
            </a:r>
            <a:r>
              <a:rPr lang="en-US" sz="2200" b="1" dirty="0"/>
              <a:t>encrypts</a:t>
            </a:r>
            <a:r>
              <a:rPr lang="en-US" sz="2200" dirty="0"/>
              <a:t> K</a:t>
            </a:r>
            <a:r>
              <a:rPr lang="en-US" sz="2200" baseline="-25000" dirty="0"/>
              <a:t>S</a:t>
            </a:r>
            <a:r>
              <a:rPr lang="en-US" sz="2200" dirty="0"/>
              <a:t> with the </a:t>
            </a:r>
            <a:r>
              <a:rPr lang="en-US" sz="2200" b="1" dirty="0"/>
              <a:t>public key associated with the list</a:t>
            </a:r>
            <a:r>
              <a:rPr lang="en-US" sz="2200" dirty="0"/>
              <a:t>, obtains </a:t>
            </a:r>
            <a:r>
              <a:rPr lang="en-US" sz="2200" dirty="0" err="1"/>
              <a:t>List</a:t>
            </a:r>
            <a:r>
              <a:rPr lang="en-US" sz="2200" baseline="-25000" dirty="0" err="1"/>
              <a:t>PUB</a:t>
            </a:r>
            <a:r>
              <a:rPr lang="en-US" sz="2200" dirty="0"/>
              <a:t>(K</a:t>
            </a:r>
            <a:r>
              <a:rPr lang="en-US" sz="2200" baseline="-25000" dirty="0"/>
              <a:t>S</a:t>
            </a:r>
            <a:r>
              <a:rPr lang="en-US" sz="2200" dirty="0"/>
              <a:t>).</a:t>
            </a:r>
          </a:p>
          <a:p>
            <a:r>
              <a:rPr lang="en-US" sz="2200" dirty="0"/>
              <a:t>The sender sends encrypted message and </a:t>
            </a:r>
            <a:r>
              <a:rPr lang="en-US" sz="2200" dirty="0" err="1"/>
              <a:t>List</a:t>
            </a:r>
            <a:r>
              <a:rPr lang="en-US" sz="2200" baseline="-25000" dirty="0" err="1"/>
              <a:t>PUB</a:t>
            </a:r>
            <a:r>
              <a:rPr lang="en-US" sz="2200" dirty="0"/>
              <a:t>(K</a:t>
            </a:r>
            <a:r>
              <a:rPr lang="en-US" sz="2200" baseline="-25000" dirty="0"/>
              <a:t>S</a:t>
            </a:r>
            <a:r>
              <a:rPr lang="en-US" sz="2200" dirty="0"/>
              <a:t>). The exploder MTA decrypts </a:t>
            </a:r>
            <a:r>
              <a:rPr lang="en-US" sz="2200" dirty="0" err="1"/>
              <a:t>List</a:t>
            </a:r>
            <a:r>
              <a:rPr lang="en-US" sz="2200" baseline="-25000" dirty="0" err="1"/>
              <a:t>PUB</a:t>
            </a:r>
            <a:r>
              <a:rPr lang="en-US" sz="2200" dirty="0"/>
              <a:t>(K</a:t>
            </a:r>
            <a:r>
              <a:rPr lang="en-US" sz="2200" baseline="-25000" dirty="0"/>
              <a:t>S</a:t>
            </a:r>
            <a:r>
              <a:rPr lang="en-US" sz="2200" dirty="0"/>
              <a:t>) using </a:t>
            </a:r>
            <a:r>
              <a:rPr lang="en-US" sz="2200" dirty="0" err="1"/>
              <a:t>List</a:t>
            </a:r>
            <a:r>
              <a:rPr lang="en-US" sz="2200" baseline="-25000" dirty="0" err="1"/>
              <a:t>PVT</a:t>
            </a:r>
            <a:r>
              <a:rPr lang="en-US" sz="2200" dirty="0"/>
              <a:t> and obtains K</a:t>
            </a:r>
            <a:r>
              <a:rPr lang="en-US" sz="2200" baseline="-25000" dirty="0"/>
              <a:t>S</a:t>
            </a:r>
            <a:r>
              <a:rPr lang="en-US" sz="2200" dirty="0"/>
              <a:t>.</a:t>
            </a:r>
          </a:p>
          <a:p>
            <a:r>
              <a:rPr lang="en-US" sz="2200" dirty="0"/>
              <a:t>The exploder encrypts K</a:t>
            </a:r>
            <a:r>
              <a:rPr lang="en-US" sz="2200" baseline="-25000" dirty="0"/>
              <a:t>S</a:t>
            </a:r>
            <a:r>
              <a:rPr lang="en-US" sz="2200" dirty="0"/>
              <a:t> with as many public keys as there are members in the list.</a:t>
            </a:r>
          </a:p>
          <a:p>
            <a:r>
              <a:rPr lang="en-US" sz="2200" dirty="0"/>
              <a:t>The Exploder forwards the received encrypted message and corresponding encrypted K</a:t>
            </a:r>
            <a:r>
              <a:rPr lang="en-US" sz="2200" baseline="-25000" dirty="0"/>
              <a:t>S</a:t>
            </a:r>
            <a:r>
              <a:rPr lang="en-US" sz="2200" dirty="0"/>
              <a:t> to all recipients in the list. For example, the Exploder forwards the encrypted message and R1</a:t>
            </a:r>
            <a:r>
              <a:rPr lang="en-US" sz="2200" baseline="-25000" dirty="0"/>
              <a:t>PUB</a:t>
            </a:r>
            <a:r>
              <a:rPr lang="en-US" sz="2200" dirty="0"/>
              <a:t>(K</a:t>
            </a:r>
            <a:r>
              <a:rPr lang="en-US" sz="2200" baseline="-25000" dirty="0"/>
              <a:t>S</a:t>
            </a:r>
            <a:r>
              <a:rPr lang="en-US" sz="2200" dirty="0"/>
              <a:t>) to recipient 1 and so on.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a:bodyPr>
          <a:lstStyle/>
          <a:p>
            <a:endParaRPr lang="en-US" dirty="0"/>
          </a:p>
          <a:p>
            <a:endParaRPr lang="en-US" dirty="0"/>
          </a:p>
          <a:p>
            <a:endParaRPr lang="en-US" dirty="0"/>
          </a:p>
          <a:p>
            <a:endParaRPr lang="en-US" dirty="0"/>
          </a:p>
          <a:p>
            <a:endParaRPr lang="en-US" dirty="0"/>
          </a:p>
          <a:p>
            <a:r>
              <a:rPr lang="en-US" dirty="0"/>
              <a:t>Most of the </a:t>
            </a:r>
            <a:r>
              <a:rPr lang="en-US" b="1" dirty="0"/>
              <a:t>above security mechanisms </a:t>
            </a:r>
            <a:r>
              <a:rPr lang="en-US" dirty="0"/>
              <a:t>for e-mail are provided by </a:t>
            </a:r>
            <a:r>
              <a:rPr lang="en-US" b="1" dirty="0"/>
              <a:t>two popular schemes</a:t>
            </a:r>
            <a:r>
              <a:rPr lang="en-US" dirty="0"/>
              <a:t>, Pretty Good Privacy (PGP) and S/MIME. We discuss both in the following sections.</a:t>
            </a:r>
          </a:p>
          <a:p>
            <a:endParaRPr lang="en-US" dirty="0"/>
          </a:p>
        </p:txBody>
      </p:sp>
      <p:pic>
        <p:nvPicPr>
          <p:cNvPr id="4" name="Picture 3" descr="b.jpg"/>
          <p:cNvPicPr>
            <a:picLocks noChangeAspect="1"/>
          </p:cNvPicPr>
          <p:nvPr/>
        </p:nvPicPr>
        <p:blipFill>
          <a:blip r:embed="rId2" cstate="print"/>
          <a:stretch>
            <a:fillRect/>
          </a:stretch>
        </p:blipFill>
        <p:spPr>
          <a:xfrm>
            <a:off x="647700" y="914400"/>
            <a:ext cx="7848600" cy="1905266"/>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4FAAD-76C8-FC40-222C-5E9D1A913635}"/>
              </a:ext>
            </a:extLst>
          </p:cNvPr>
          <p:cNvSpPr>
            <a:spLocks noGrp="1"/>
          </p:cNvSpPr>
          <p:nvPr>
            <p:ph type="title"/>
          </p:nvPr>
        </p:nvSpPr>
        <p:spPr/>
        <p:txBody>
          <a:bodyPr>
            <a:normAutofit fontScale="90000"/>
          </a:bodyPr>
          <a:lstStyle/>
          <a:p>
            <a:r>
              <a:rPr lang="en-IN" b="1" dirty="0"/>
              <a:t>S/MIME (Secure/Multipurpose Internet Mail Extensions)</a:t>
            </a:r>
            <a:endParaRPr lang="en-IN" dirty="0"/>
          </a:p>
        </p:txBody>
      </p:sp>
      <p:sp>
        <p:nvSpPr>
          <p:cNvPr id="3" name="Content Placeholder 2">
            <a:extLst>
              <a:ext uri="{FF2B5EF4-FFF2-40B4-BE49-F238E27FC236}">
                <a16:creationId xmlns:a16="http://schemas.microsoft.com/office/drawing/2014/main" id="{C0444CD1-4FC2-E48A-EFB3-57F0AD09C1B8}"/>
              </a:ext>
            </a:extLst>
          </p:cNvPr>
          <p:cNvSpPr>
            <a:spLocks noGrp="1"/>
          </p:cNvSpPr>
          <p:nvPr>
            <p:ph idx="1"/>
          </p:nvPr>
        </p:nvSpPr>
        <p:spPr/>
        <p:txBody>
          <a:bodyPr>
            <a:normAutofit fontScale="92500" lnSpcReduction="20000"/>
          </a:bodyPr>
          <a:lstStyle/>
          <a:p>
            <a:pPr algn="just"/>
            <a:r>
              <a:rPr lang="en-IN" b="1" dirty="0"/>
              <a:t>S/MIME (Secure/Multipurpose Internet Mail Extensions)</a:t>
            </a:r>
            <a:r>
              <a:rPr lang="en-IN" dirty="0"/>
              <a:t> is a standard for securing email using </a:t>
            </a:r>
            <a:r>
              <a:rPr lang="en-IN" b="1" dirty="0"/>
              <a:t>public key cryptography</a:t>
            </a:r>
            <a:r>
              <a:rPr lang="en-IN" dirty="0"/>
              <a:t> and </a:t>
            </a:r>
            <a:r>
              <a:rPr lang="en-IN" b="1" dirty="0"/>
              <a:t>X.509 digital certificates.</a:t>
            </a:r>
          </a:p>
          <a:p>
            <a:pPr algn="just"/>
            <a:r>
              <a:rPr lang="en-IN" dirty="0"/>
              <a:t>It provides three primary security services:</a:t>
            </a:r>
          </a:p>
          <a:p>
            <a:pPr lvl="0" algn="just"/>
            <a:r>
              <a:rPr lang="en-IN" b="1" dirty="0"/>
              <a:t>Encryption</a:t>
            </a:r>
            <a:r>
              <a:rPr lang="en-IN" dirty="0"/>
              <a:t> – Ensures only the intended recipient can read the email. </a:t>
            </a:r>
          </a:p>
          <a:p>
            <a:pPr lvl="0" algn="just"/>
            <a:r>
              <a:rPr lang="en-IN" b="1" dirty="0"/>
              <a:t>Digital Signatures</a:t>
            </a:r>
            <a:r>
              <a:rPr lang="en-IN" dirty="0"/>
              <a:t> – Verifies the sender's identity and ensures the message has not been altered. </a:t>
            </a:r>
          </a:p>
          <a:p>
            <a:pPr lvl="0" algn="just"/>
            <a:r>
              <a:rPr lang="en-IN" b="1" dirty="0"/>
              <a:t>Message Integrity</a:t>
            </a:r>
            <a:r>
              <a:rPr lang="en-IN" dirty="0"/>
              <a:t> – Detects any tampering after the message was sent. </a:t>
            </a:r>
          </a:p>
          <a:p>
            <a:endParaRPr lang="en-IN" dirty="0"/>
          </a:p>
        </p:txBody>
      </p:sp>
    </p:spTree>
    <p:extLst>
      <p:ext uri="{BB962C8B-B14F-4D97-AF65-F5344CB8AC3E}">
        <p14:creationId xmlns:p14="http://schemas.microsoft.com/office/powerpoint/2010/main" val="20350664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0483DB-990F-5B2F-BA88-550E2758E737}"/>
              </a:ext>
            </a:extLst>
          </p:cNvPr>
          <p:cNvSpPr>
            <a:spLocks noGrp="1"/>
          </p:cNvSpPr>
          <p:nvPr>
            <p:ph idx="1"/>
          </p:nvPr>
        </p:nvSpPr>
        <p:spPr>
          <a:xfrm>
            <a:off x="457200" y="533400"/>
            <a:ext cx="8229600" cy="5592763"/>
          </a:xfrm>
        </p:spPr>
        <p:txBody>
          <a:bodyPr>
            <a:normAutofit fontScale="92500" lnSpcReduction="20000"/>
          </a:bodyPr>
          <a:lstStyle/>
          <a:p>
            <a:pPr algn="just"/>
            <a:r>
              <a:rPr lang="en-IN" b="1" dirty="0"/>
              <a:t>How S/MIME works</a:t>
            </a:r>
            <a:endParaRPr lang="en-IN" sz="2400" dirty="0"/>
          </a:p>
          <a:p>
            <a:pPr lvl="0" algn="just"/>
            <a:r>
              <a:rPr lang="en-IN" dirty="0"/>
              <a:t>Each user has: </a:t>
            </a:r>
            <a:endParaRPr lang="en-IN" sz="2800" dirty="0"/>
          </a:p>
          <a:p>
            <a:pPr lvl="1" algn="just"/>
            <a:r>
              <a:rPr lang="en-IN" dirty="0"/>
              <a:t>A </a:t>
            </a:r>
            <a:r>
              <a:rPr lang="en-IN" b="1" dirty="0"/>
              <a:t>private key</a:t>
            </a:r>
            <a:r>
              <a:rPr lang="en-IN" dirty="0"/>
              <a:t> (kept secret) </a:t>
            </a:r>
            <a:endParaRPr lang="en-IN" sz="2400" dirty="0"/>
          </a:p>
          <a:p>
            <a:pPr lvl="1" algn="just"/>
            <a:r>
              <a:rPr lang="en-IN" dirty="0"/>
              <a:t>A </a:t>
            </a:r>
            <a:r>
              <a:rPr lang="en-IN" b="1" dirty="0"/>
              <a:t>public key</a:t>
            </a:r>
            <a:r>
              <a:rPr lang="en-IN" dirty="0"/>
              <a:t> (shared via a digital certificate) </a:t>
            </a:r>
            <a:endParaRPr lang="en-IN" sz="2400" dirty="0"/>
          </a:p>
          <a:p>
            <a:pPr lvl="0" algn="just"/>
            <a:r>
              <a:rPr lang="en-IN" dirty="0"/>
              <a:t>The certificate is issued by a trusted </a:t>
            </a:r>
            <a:r>
              <a:rPr lang="en-IN" b="1" dirty="0"/>
              <a:t>Certificate Authority (CA)</a:t>
            </a:r>
            <a:r>
              <a:rPr lang="en-IN" dirty="0"/>
              <a:t>. </a:t>
            </a:r>
            <a:endParaRPr lang="en-IN" sz="2800" dirty="0"/>
          </a:p>
          <a:p>
            <a:pPr algn="just"/>
            <a:r>
              <a:rPr lang="en-IN" b="1" dirty="0"/>
              <a:t>Sending an encrypted email</a:t>
            </a:r>
            <a:endParaRPr lang="en-IN" sz="2800" dirty="0"/>
          </a:p>
          <a:p>
            <a:pPr lvl="0" algn="just"/>
            <a:r>
              <a:rPr lang="en-IN" dirty="0"/>
              <a:t>The sender obtains the recipient's public certificate. </a:t>
            </a:r>
            <a:endParaRPr lang="en-IN" sz="2800" dirty="0"/>
          </a:p>
          <a:p>
            <a:pPr lvl="0" algn="just"/>
            <a:r>
              <a:rPr lang="en-IN" dirty="0"/>
              <a:t>The email is encrypted using the recipient's public key. </a:t>
            </a:r>
            <a:endParaRPr lang="en-IN" sz="2800" dirty="0"/>
          </a:p>
          <a:p>
            <a:pPr lvl="0" algn="just"/>
            <a:r>
              <a:rPr lang="en-IN" dirty="0"/>
              <a:t>Only the recipient's private key can decrypt it. </a:t>
            </a:r>
            <a:endParaRPr lang="en-IN" sz="2800" dirty="0"/>
          </a:p>
          <a:p>
            <a:endParaRPr lang="en-IN" dirty="0"/>
          </a:p>
        </p:txBody>
      </p:sp>
    </p:spTree>
    <p:extLst>
      <p:ext uri="{BB962C8B-B14F-4D97-AF65-F5344CB8AC3E}">
        <p14:creationId xmlns:p14="http://schemas.microsoft.com/office/powerpoint/2010/main" val="13777774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F682AA-4362-AE41-A0EB-F32639A1634C}"/>
              </a:ext>
            </a:extLst>
          </p:cNvPr>
          <p:cNvSpPr>
            <a:spLocks noGrp="1"/>
          </p:cNvSpPr>
          <p:nvPr>
            <p:ph idx="1"/>
          </p:nvPr>
        </p:nvSpPr>
        <p:spPr>
          <a:xfrm>
            <a:off x="457200" y="381000"/>
            <a:ext cx="8229600" cy="5745163"/>
          </a:xfrm>
        </p:spPr>
        <p:txBody>
          <a:bodyPr>
            <a:normAutofit fontScale="92500" lnSpcReduction="20000"/>
          </a:bodyPr>
          <a:lstStyle/>
          <a:p>
            <a:pPr algn="just"/>
            <a:r>
              <a:rPr lang="en-IN" b="1" dirty="0"/>
              <a:t>Sending a signed email</a:t>
            </a:r>
            <a:endParaRPr lang="en-IN" dirty="0"/>
          </a:p>
          <a:p>
            <a:pPr lvl="0" algn="just"/>
            <a:r>
              <a:rPr lang="en-IN" dirty="0"/>
              <a:t>The sender computes a hash of the message. </a:t>
            </a:r>
          </a:p>
          <a:p>
            <a:pPr lvl="0" algn="just"/>
            <a:r>
              <a:rPr lang="en-IN" dirty="0"/>
              <a:t>The hash is encrypted with the sender's private key (creating the digital signature). </a:t>
            </a:r>
          </a:p>
          <a:p>
            <a:pPr lvl="0" algn="just"/>
            <a:r>
              <a:rPr lang="en-IN" dirty="0"/>
              <a:t>The recipient verifies the signature using the sender's public key. </a:t>
            </a:r>
          </a:p>
          <a:p>
            <a:pPr algn="just"/>
            <a:r>
              <a:rPr lang="en-IN" b="1" dirty="0"/>
              <a:t>Benefits</a:t>
            </a:r>
            <a:endParaRPr lang="en-IN" dirty="0"/>
          </a:p>
          <a:p>
            <a:pPr lvl="0" algn="just"/>
            <a:r>
              <a:rPr lang="en-IN" dirty="0"/>
              <a:t>Confidentiality </a:t>
            </a:r>
          </a:p>
          <a:p>
            <a:pPr lvl="0" algn="just"/>
            <a:r>
              <a:rPr lang="en-IN" dirty="0"/>
              <a:t>Authentication </a:t>
            </a:r>
          </a:p>
          <a:p>
            <a:pPr lvl="0" algn="just"/>
            <a:r>
              <a:rPr lang="en-IN" dirty="0"/>
              <a:t>Integrity </a:t>
            </a:r>
          </a:p>
          <a:p>
            <a:pPr lvl="0" algn="just"/>
            <a:r>
              <a:rPr lang="en-IN" dirty="0"/>
              <a:t>Non-repudiation (the sender cannot easily deny sending a signed message) </a:t>
            </a:r>
          </a:p>
          <a:p>
            <a:endParaRPr lang="en-IN" dirty="0"/>
          </a:p>
        </p:txBody>
      </p:sp>
    </p:spTree>
    <p:extLst>
      <p:ext uri="{BB962C8B-B14F-4D97-AF65-F5344CB8AC3E}">
        <p14:creationId xmlns:p14="http://schemas.microsoft.com/office/powerpoint/2010/main" val="18677759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8310E5-7CE0-477C-576A-4129F48854FA}"/>
              </a:ext>
            </a:extLst>
          </p:cNvPr>
          <p:cNvSpPr>
            <a:spLocks noGrp="1"/>
          </p:cNvSpPr>
          <p:nvPr>
            <p:ph idx="1"/>
          </p:nvPr>
        </p:nvSpPr>
        <p:spPr>
          <a:xfrm>
            <a:off x="457200" y="457200"/>
            <a:ext cx="8229600" cy="5668963"/>
          </a:xfrm>
        </p:spPr>
        <p:txBody>
          <a:bodyPr>
            <a:normAutofit fontScale="92500" lnSpcReduction="20000"/>
          </a:bodyPr>
          <a:lstStyle/>
          <a:p>
            <a:pPr algn="just"/>
            <a:r>
              <a:rPr lang="en-IN" b="1" dirty="0"/>
              <a:t>Limitations</a:t>
            </a:r>
            <a:endParaRPr lang="en-IN" dirty="0"/>
          </a:p>
          <a:p>
            <a:pPr lvl="0" algn="just"/>
            <a:r>
              <a:rPr lang="en-IN" dirty="0"/>
              <a:t>Requires users to obtain and manage digital certificates. </a:t>
            </a:r>
          </a:p>
          <a:p>
            <a:pPr lvl="0" algn="just"/>
            <a:r>
              <a:rPr lang="en-IN" dirty="0"/>
              <a:t>Both sender and recipient need S/MIME-compatible email clients. </a:t>
            </a:r>
          </a:p>
          <a:p>
            <a:pPr lvl="0" algn="just"/>
            <a:r>
              <a:rPr lang="en-IN" dirty="0"/>
              <a:t>Certificate distribution and renewal can be administratively challenging. </a:t>
            </a:r>
          </a:p>
          <a:p>
            <a:pPr algn="just"/>
            <a:r>
              <a:rPr lang="en-IN" b="1" dirty="0"/>
              <a:t>Common S/MIME-compatible email clients</a:t>
            </a:r>
            <a:endParaRPr lang="en-IN" dirty="0"/>
          </a:p>
          <a:p>
            <a:pPr lvl="0" algn="just"/>
            <a:r>
              <a:rPr lang="en-IN" dirty="0"/>
              <a:t>Microsoft Outlook </a:t>
            </a:r>
          </a:p>
          <a:p>
            <a:pPr lvl="0" algn="just"/>
            <a:r>
              <a:rPr lang="en-IN" dirty="0"/>
              <a:t>Apple Mail </a:t>
            </a:r>
          </a:p>
          <a:p>
            <a:pPr lvl="0" algn="just"/>
            <a:r>
              <a:rPr lang="en-IN" dirty="0"/>
              <a:t>Mozilla Thunderbird </a:t>
            </a:r>
          </a:p>
          <a:p>
            <a:pPr lvl="0" algn="just"/>
            <a:r>
              <a:rPr lang="en-IN" dirty="0"/>
              <a:t>IBM Notes </a:t>
            </a:r>
          </a:p>
          <a:p>
            <a:endParaRPr lang="en-IN" dirty="0"/>
          </a:p>
        </p:txBody>
      </p:sp>
    </p:spTree>
    <p:extLst>
      <p:ext uri="{BB962C8B-B14F-4D97-AF65-F5344CB8AC3E}">
        <p14:creationId xmlns:p14="http://schemas.microsoft.com/office/powerpoint/2010/main" val="12067972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Pretty Good Privacy</a:t>
            </a:r>
            <a:r>
              <a:rPr lang="en-US" dirty="0"/>
              <a:t> (PGP)</a:t>
            </a:r>
          </a:p>
        </p:txBody>
      </p:sp>
      <p:sp>
        <p:nvSpPr>
          <p:cNvPr id="3" name="Content Placeholder 2"/>
          <p:cNvSpPr>
            <a:spLocks noGrp="1"/>
          </p:cNvSpPr>
          <p:nvPr>
            <p:ph idx="1"/>
          </p:nvPr>
        </p:nvSpPr>
        <p:spPr>
          <a:xfrm>
            <a:off x="457200" y="1295400"/>
            <a:ext cx="8229600" cy="4830763"/>
          </a:xfrm>
        </p:spPr>
        <p:txBody>
          <a:bodyPr>
            <a:normAutofit fontScale="70000" lnSpcReduction="20000"/>
          </a:bodyPr>
          <a:lstStyle/>
          <a:p>
            <a:pPr>
              <a:buNone/>
            </a:pPr>
            <a:endParaRPr lang="en-US" dirty="0"/>
          </a:p>
          <a:p>
            <a:pPr algn="just"/>
            <a:r>
              <a:rPr lang="en-US" b="1" dirty="0"/>
              <a:t>Pretty Good Privacy</a:t>
            </a:r>
            <a:r>
              <a:rPr lang="en-US" dirty="0"/>
              <a:t> (PGP) is an e-mail encryption scheme. It has become the </a:t>
            </a:r>
            <a:r>
              <a:rPr lang="en-US" b="1" dirty="0"/>
              <a:t>de-facto standard </a:t>
            </a:r>
            <a:r>
              <a:rPr lang="en-US" dirty="0"/>
              <a:t>for providing security services for e-mail communication.</a:t>
            </a:r>
          </a:p>
          <a:p>
            <a:pPr algn="just"/>
            <a:r>
              <a:rPr lang="en-US" dirty="0"/>
              <a:t>As discussed above, it uses public key cryptography, symmetric key cryptography, hash function, and digital signature. </a:t>
            </a:r>
          </a:p>
          <a:p>
            <a:pPr algn="just"/>
            <a:r>
              <a:rPr lang="en-US" dirty="0"/>
              <a:t>Services provided by PGP</a:t>
            </a:r>
          </a:p>
          <a:p>
            <a:pPr lvl="1" algn="just"/>
            <a:r>
              <a:rPr lang="en-US" dirty="0"/>
              <a:t>Privacy</a:t>
            </a:r>
          </a:p>
          <a:p>
            <a:pPr lvl="1" algn="just"/>
            <a:r>
              <a:rPr lang="en-US" dirty="0"/>
              <a:t>Sender Authentication</a:t>
            </a:r>
          </a:p>
          <a:p>
            <a:pPr lvl="1" algn="just"/>
            <a:r>
              <a:rPr lang="en-US" dirty="0"/>
              <a:t>Message Integrity</a:t>
            </a:r>
          </a:p>
          <a:p>
            <a:pPr lvl="1" algn="just"/>
            <a:r>
              <a:rPr lang="en-US" dirty="0"/>
              <a:t>Non-repudiation</a:t>
            </a:r>
          </a:p>
          <a:p>
            <a:pPr algn="just"/>
            <a:r>
              <a:rPr lang="en-US" dirty="0"/>
              <a:t>Along with these security services, it also </a:t>
            </a:r>
            <a:r>
              <a:rPr lang="en-US" b="1" dirty="0"/>
              <a:t>provides data compression and key management support</a:t>
            </a:r>
            <a:r>
              <a:rPr lang="en-US" dirty="0"/>
              <a:t>. PGP uses existing cryptographic algorithms such as RSA, IDEA, MD5, etc., rather than inventing the new ones</a:t>
            </a:r>
          </a:p>
          <a:p>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dirty="0"/>
              <a:t>Working of PGP</a:t>
            </a:r>
          </a:p>
        </p:txBody>
      </p:sp>
      <p:pic>
        <p:nvPicPr>
          <p:cNvPr id="4" name="Content Placeholder 3" descr="c.jpg"/>
          <p:cNvPicPr>
            <a:picLocks noGrp="1" noChangeAspect="1"/>
          </p:cNvPicPr>
          <p:nvPr>
            <p:ph idx="1"/>
          </p:nvPr>
        </p:nvPicPr>
        <p:blipFill>
          <a:blip r:embed="rId2" cstate="print"/>
          <a:stretch>
            <a:fillRect/>
          </a:stretch>
        </p:blipFill>
        <p:spPr>
          <a:xfrm>
            <a:off x="914400" y="1143000"/>
            <a:ext cx="7315200" cy="1905000"/>
          </a:xfrm>
        </p:spPr>
      </p:pic>
      <p:sp>
        <p:nvSpPr>
          <p:cNvPr id="5" name="Rectangle 4"/>
          <p:cNvSpPr/>
          <p:nvPr/>
        </p:nvSpPr>
        <p:spPr>
          <a:xfrm>
            <a:off x="457200" y="3276600"/>
            <a:ext cx="8305800" cy="2862322"/>
          </a:xfrm>
          <a:prstGeom prst="rect">
            <a:avLst/>
          </a:prstGeom>
        </p:spPr>
        <p:txBody>
          <a:bodyPr wrap="square">
            <a:spAutoFit/>
          </a:bodyPr>
          <a:lstStyle/>
          <a:p>
            <a:r>
              <a:rPr lang="en-US" sz="2000" dirty="0"/>
              <a:t>--Hash of the message is calculated. (MD5 algorithm)</a:t>
            </a:r>
          </a:p>
          <a:p>
            <a:r>
              <a:rPr lang="en-US" sz="2000" dirty="0"/>
              <a:t>---Resultant 128 bit hash is signed using the private key of the sender (RSA </a:t>
            </a:r>
          </a:p>
          <a:p>
            <a:r>
              <a:rPr lang="en-US" sz="2000" dirty="0"/>
              <a:t>     Algorithm).</a:t>
            </a:r>
          </a:p>
          <a:p>
            <a:r>
              <a:rPr lang="en-US" sz="2000" dirty="0"/>
              <a:t>---The digital signature is concatenated to message, and the result is </a:t>
            </a:r>
          </a:p>
          <a:p>
            <a:r>
              <a:rPr lang="en-US" sz="2000" dirty="0"/>
              <a:t>     compressed.</a:t>
            </a:r>
          </a:p>
          <a:p>
            <a:r>
              <a:rPr lang="en-US" sz="2000" dirty="0"/>
              <a:t>---A 128-bit symmetric key, K</a:t>
            </a:r>
            <a:r>
              <a:rPr lang="en-US" sz="2000" baseline="-25000" dirty="0"/>
              <a:t>S</a:t>
            </a:r>
            <a:r>
              <a:rPr lang="en-US" sz="2000" dirty="0"/>
              <a:t> is generated and used to encrypt the </a:t>
            </a:r>
          </a:p>
          <a:p>
            <a:r>
              <a:rPr lang="en-US" sz="2000" dirty="0"/>
              <a:t>     compressed message with IDEA.</a:t>
            </a:r>
          </a:p>
          <a:p>
            <a:r>
              <a:rPr lang="en-US" sz="2000" dirty="0"/>
              <a:t>---K</a:t>
            </a:r>
            <a:r>
              <a:rPr lang="en-US" sz="2000" baseline="-25000" dirty="0"/>
              <a:t>S</a:t>
            </a:r>
            <a:r>
              <a:rPr lang="en-US" sz="2000" dirty="0"/>
              <a:t> is encrypted using the public key of the recipient using RSA algorithm and </a:t>
            </a:r>
          </a:p>
          <a:p>
            <a:r>
              <a:rPr lang="en-US" sz="2000" dirty="0"/>
              <a:t>     the result is appended to the encrypted message.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fontScale="85000" lnSpcReduction="10000"/>
          </a:bodyPr>
          <a:lstStyle/>
          <a:p>
            <a:r>
              <a:rPr lang="en-US" dirty="0"/>
              <a:t>The format of PGP message is shown in the following diagram. The IDs indicate which key is used to encrypt KS and which key is to be used to verify the signature on the hash.</a:t>
            </a:r>
          </a:p>
          <a:p>
            <a:endParaRPr lang="en-US" dirty="0"/>
          </a:p>
          <a:p>
            <a:endParaRPr lang="en-US" dirty="0"/>
          </a:p>
          <a:p>
            <a:endParaRPr lang="en-US" dirty="0"/>
          </a:p>
          <a:p>
            <a:endParaRPr lang="en-US" dirty="0"/>
          </a:p>
          <a:p>
            <a:endParaRPr lang="en-US" dirty="0"/>
          </a:p>
          <a:p>
            <a:endParaRPr lang="en-US" dirty="0"/>
          </a:p>
          <a:p>
            <a:endParaRPr lang="en-US" dirty="0"/>
          </a:p>
          <a:p>
            <a:r>
              <a:rPr lang="en-US" dirty="0"/>
              <a:t>In PGP scheme, a message in signed and encrypted, and then MIME is encoded before transmission.</a:t>
            </a:r>
          </a:p>
          <a:p>
            <a:endParaRPr lang="en-US" dirty="0"/>
          </a:p>
        </p:txBody>
      </p:sp>
      <p:pic>
        <p:nvPicPr>
          <p:cNvPr id="4" name="Picture 3" descr="d.jpg"/>
          <p:cNvPicPr>
            <a:picLocks noChangeAspect="1"/>
          </p:cNvPicPr>
          <p:nvPr/>
        </p:nvPicPr>
        <p:blipFill>
          <a:blip r:embed="rId2" cstate="print"/>
          <a:stretch>
            <a:fillRect/>
          </a:stretch>
        </p:blipFill>
        <p:spPr>
          <a:xfrm>
            <a:off x="533400" y="1733143"/>
            <a:ext cx="8229600" cy="2915057"/>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0B99E3-A96F-89D0-A87B-8A313FBDD6AF}"/>
              </a:ext>
            </a:extLst>
          </p:cNvPr>
          <p:cNvSpPr>
            <a:spLocks noGrp="1"/>
          </p:cNvSpPr>
          <p:nvPr>
            <p:ph idx="1"/>
          </p:nvPr>
        </p:nvSpPr>
        <p:spPr>
          <a:xfrm>
            <a:off x="457200" y="685800"/>
            <a:ext cx="8229600" cy="5440363"/>
          </a:xfrm>
        </p:spPr>
        <p:txBody>
          <a:bodyPr>
            <a:normAutofit fontScale="92500" lnSpcReduction="10000"/>
          </a:bodyPr>
          <a:lstStyle/>
          <a:p>
            <a:r>
              <a:rPr lang="en-IN" b="1" dirty="0"/>
              <a:t>Components used in PGP</a:t>
            </a:r>
            <a:endParaRPr lang="en-IN" dirty="0"/>
          </a:p>
          <a:p>
            <a:pPr lvl="0" algn="just"/>
            <a:r>
              <a:rPr lang="en-IN" b="1" dirty="0"/>
              <a:t>Public key cryptography</a:t>
            </a:r>
            <a:r>
              <a:rPr lang="en-IN" dirty="0"/>
              <a:t> – For key exchange and digital signatures. </a:t>
            </a:r>
          </a:p>
          <a:p>
            <a:pPr lvl="0" algn="just"/>
            <a:r>
              <a:rPr lang="en-IN" b="1" dirty="0"/>
              <a:t>Symmetric key cryptography</a:t>
            </a:r>
            <a:r>
              <a:rPr lang="en-IN" dirty="0"/>
              <a:t> – For fast message encryption. </a:t>
            </a:r>
          </a:p>
          <a:p>
            <a:pPr lvl="0" algn="just"/>
            <a:r>
              <a:rPr lang="en-IN" b="1" dirty="0"/>
              <a:t>Hash functions</a:t>
            </a:r>
            <a:r>
              <a:rPr lang="en-IN" dirty="0"/>
              <a:t> – To verify message integrity. </a:t>
            </a:r>
          </a:p>
          <a:p>
            <a:pPr lvl="0" algn="just"/>
            <a:r>
              <a:rPr lang="en-IN" b="1" dirty="0"/>
              <a:t>Compression</a:t>
            </a:r>
            <a:r>
              <a:rPr lang="en-IN" dirty="0"/>
              <a:t> – Reduces message size before encryption. </a:t>
            </a:r>
          </a:p>
          <a:p>
            <a:pPr lvl="0" algn="just"/>
            <a:r>
              <a:rPr lang="en-IN" b="1" dirty="0"/>
              <a:t>ASCII Armor (Radix-64 encoding)</a:t>
            </a:r>
            <a:r>
              <a:rPr lang="en-IN" dirty="0"/>
              <a:t> – Converts encrypted data into text format suitable for email transmission. </a:t>
            </a:r>
          </a:p>
          <a:p>
            <a:endParaRPr lang="en-IN" dirty="0"/>
          </a:p>
        </p:txBody>
      </p:sp>
    </p:spTree>
    <p:extLst>
      <p:ext uri="{BB962C8B-B14F-4D97-AF65-F5344CB8AC3E}">
        <p14:creationId xmlns:p14="http://schemas.microsoft.com/office/powerpoint/2010/main" val="172988558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720A47-574A-1987-56CE-A50A14134C1F}"/>
              </a:ext>
            </a:extLst>
          </p:cNvPr>
          <p:cNvSpPr>
            <a:spLocks noGrp="1"/>
          </p:cNvSpPr>
          <p:nvPr>
            <p:ph idx="1"/>
          </p:nvPr>
        </p:nvSpPr>
        <p:spPr>
          <a:xfrm>
            <a:off x="457200" y="304800"/>
            <a:ext cx="8229600" cy="5821363"/>
          </a:xfrm>
        </p:spPr>
        <p:txBody>
          <a:bodyPr>
            <a:normAutofit fontScale="92500"/>
          </a:bodyPr>
          <a:lstStyle/>
          <a:p>
            <a:pPr algn="just"/>
            <a:r>
              <a:rPr lang="en-IN" b="1" dirty="0"/>
              <a:t>Advantages</a:t>
            </a:r>
            <a:endParaRPr lang="en-IN" dirty="0"/>
          </a:p>
          <a:p>
            <a:pPr lvl="0" algn="just"/>
            <a:r>
              <a:rPr lang="en-IN" dirty="0"/>
              <a:t>Provides strong email and file security. </a:t>
            </a:r>
          </a:p>
          <a:p>
            <a:pPr lvl="0" algn="just"/>
            <a:r>
              <a:rPr lang="en-IN" dirty="0"/>
              <a:t>Combines fast symmetric encryption with secure public-key encryption. </a:t>
            </a:r>
          </a:p>
          <a:p>
            <a:pPr lvl="0" algn="just"/>
            <a:r>
              <a:rPr lang="en-IN" dirty="0"/>
              <a:t>Does not require a central Certificate Authority. </a:t>
            </a:r>
          </a:p>
          <a:p>
            <a:pPr lvl="0" algn="just"/>
            <a:r>
              <a:rPr lang="en-IN" dirty="0"/>
              <a:t>Supports digital signatures and encryption. </a:t>
            </a:r>
          </a:p>
          <a:p>
            <a:pPr algn="just"/>
            <a:r>
              <a:rPr lang="en-IN" b="1" dirty="0"/>
              <a:t>Disadvantages</a:t>
            </a:r>
            <a:endParaRPr lang="en-IN" dirty="0"/>
          </a:p>
          <a:p>
            <a:pPr lvl="0" algn="just"/>
            <a:r>
              <a:rPr lang="en-IN" dirty="0"/>
              <a:t>Public key management can be difficult. </a:t>
            </a:r>
          </a:p>
          <a:p>
            <a:pPr lvl="0" algn="just"/>
            <a:r>
              <a:rPr lang="en-IN" dirty="0"/>
              <a:t>Initial setup is more complex than regular email. </a:t>
            </a:r>
          </a:p>
          <a:p>
            <a:pPr lvl="0" algn="just"/>
            <a:r>
              <a:rPr lang="en-IN" dirty="0"/>
              <a:t>Users must securely protect their private keys. </a:t>
            </a:r>
          </a:p>
          <a:p>
            <a:endParaRPr lang="en-IN" dirty="0"/>
          </a:p>
        </p:txBody>
      </p:sp>
    </p:spTree>
    <p:extLst>
      <p:ext uri="{BB962C8B-B14F-4D97-AF65-F5344CB8AC3E}">
        <p14:creationId xmlns:p14="http://schemas.microsoft.com/office/powerpoint/2010/main" val="372717726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457200" y="304801"/>
          <a:ext cx="8229600" cy="6248398"/>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499872">
                <a:tc>
                  <a:txBody>
                    <a:bodyPr/>
                    <a:lstStyle/>
                    <a:p>
                      <a:pPr algn="l" fontAlgn="t"/>
                      <a:r>
                        <a:rPr lang="en-US" dirty="0"/>
                        <a:t>PGP</a:t>
                      </a:r>
                    </a:p>
                  </a:txBody>
                  <a:tcPr marL="76200" marR="76200" marT="76200" marB="76200"/>
                </a:tc>
                <a:tc>
                  <a:txBody>
                    <a:bodyPr/>
                    <a:lstStyle/>
                    <a:p>
                      <a:pPr algn="l" fontAlgn="t"/>
                      <a:r>
                        <a:rPr lang="en-US"/>
                        <a:t>S/MIME</a:t>
                      </a:r>
                    </a:p>
                  </a:txBody>
                  <a:tcPr marL="76200" marR="76200" marT="76200" marB="76200"/>
                </a:tc>
                <a:extLst>
                  <a:ext uri="{0D108BD9-81ED-4DB2-BD59-A6C34878D82A}">
                    <a16:rowId xmlns:a16="http://schemas.microsoft.com/office/drawing/2014/main" val="10000"/>
                  </a:ext>
                </a:extLst>
              </a:tr>
              <a:tr h="821218">
                <a:tc>
                  <a:txBody>
                    <a:bodyPr/>
                    <a:lstStyle/>
                    <a:p>
                      <a:pPr fontAlgn="t"/>
                      <a:r>
                        <a:rPr lang="en-US"/>
                        <a:t>PGP stands for Pretty Good Privacy.</a:t>
                      </a:r>
                    </a:p>
                  </a:txBody>
                  <a:tcPr marL="76200" marR="76200" marT="76200" marB="76200"/>
                </a:tc>
                <a:tc>
                  <a:txBody>
                    <a:bodyPr/>
                    <a:lstStyle/>
                    <a:p>
                      <a:pPr fontAlgn="t"/>
                      <a:r>
                        <a:rPr lang="en-US"/>
                        <a:t>S/MIME stands for Secure/Multipurpose Internet Mail Extension.</a:t>
                      </a:r>
                    </a:p>
                  </a:txBody>
                  <a:tcPr marL="76200" marR="76200" marT="76200" marB="76200"/>
                </a:tc>
                <a:extLst>
                  <a:ext uri="{0D108BD9-81ED-4DB2-BD59-A6C34878D82A}">
                    <a16:rowId xmlns:a16="http://schemas.microsoft.com/office/drawing/2014/main" val="10001"/>
                  </a:ext>
                </a:extLst>
              </a:tr>
              <a:tr h="821218">
                <a:tc>
                  <a:txBody>
                    <a:bodyPr/>
                    <a:lstStyle/>
                    <a:p>
                      <a:pPr fontAlgn="t"/>
                      <a:r>
                        <a:rPr lang="en-US" dirty="0"/>
                        <a:t>It can be </a:t>
                      </a:r>
                      <a:r>
                        <a:rPr lang="en-US" b="1" dirty="0"/>
                        <a:t>used by individuals </a:t>
                      </a:r>
                      <a:r>
                        <a:rPr lang="en-US" dirty="0"/>
                        <a:t>and corporations.</a:t>
                      </a:r>
                    </a:p>
                  </a:txBody>
                  <a:tcPr marL="76200" marR="76200" marT="76200" marB="76200"/>
                </a:tc>
                <a:tc>
                  <a:txBody>
                    <a:bodyPr/>
                    <a:lstStyle/>
                    <a:p>
                      <a:pPr fontAlgn="t"/>
                      <a:r>
                        <a:rPr lang="en-US" dirty="0"/>
                        <a:t>It is used by </a:t>
                      </a:r>
                      <a:r>
                        <a:rPr lang="en-US" b="1" dirty="0"/>
                        <a:t>corporations or for commercial purposes</a:t>
                      </a:r>
                      <a:r>
                        <a:rPr lang="en-US" dirty="0"/>
                        <a:t>.</a:t>
                      </a:r>
                    </a:p>
                  </a:txBody>
                  <a:tcPr marL="76200" marR="76200" marT="76200" marB="76200"/>
                </a:tc>
                <a:extLst>
                  <a:ext uri="{0D108BD9-81ED-4DB2-BD59-A6C34878D82A}">
                    <a16:rowId xmlns:a16="http://schemas.microsoft.com/office/drawing/2014/main" val="10002"/>
                  </a:ext>
                </a:extLst>
              </a:tr>
              <a:tr h="821218">
                <a:tc>
                  <a:txBody>
                    <a:bodyPr/>
                    <a:lstStyle/>
                    <a:p>
                      <a:pPr fontAlgn="t"/>
                      <a:r>
                        <a:rPr lang="en-US" dirty="0"/>
                        <a:t>PGP is a </a:t>
                      </a:r>
                      <a:r>
                        <a:rPr lang="en-US" b="1" dirty="0"/>
                        <a:t>general purpose application </a:t>
                      </a:r>
                      <a:r>
                        <a:rPr lang="en-US" dirty="0"/>
                        <a:t>to protect files and used for email security.</a:t>
                      </a:r>
                    </a:p>
                  </a:txBody>
                  <a:tcPr marL="76200" marR="76200" marT="76200" marB="76200"/>
                </a:tc>
                <a:tc>
                  <a:txBody>
                    <a:bodyPr/>
                    <a:lstStyle/>
                    <a:p>
                      <a:pPr fontAlgn="t"/>
                      <a:r>
                        <a:rPr lang="en-US" dirty="0"/>
                        <a:t>S/MIME is used for email security.</a:t>
                      </a:r>
                    </a:p>
                  </a:txBody>
                  <a:tcPr marL="76200" marR="76200" marT="76200" marB="76200"/>
                </a:tc>
                <a:extLst>
                  <a:ext uri="{0D108BD9-81ED-4DB2-BD59-A6C34878D82A}">
                    <a16:rowId xmlns:a16="http://schemas.microsoft.com/office/drawing/2014/main" val="10003"/>
                  </a:ext>
                </a:extLst>
              </a:tr>
              <a:tr h="499872">
                <a:tc>
                  <a:txBody>
                    <a:bodyPr/>
                    <a:lstStyle/>
                    <a:p>
                      <a:pPr fontAlgn="t"/>
                      <a:r>
                        <a:rPr lang="en-US" b="1" dirty="0" err="1"/>
                        <a:t>Diffie</a:t>
                      </a:r>
                      <a:r>
                        <a:rPr lang="en-US" b="1" dirty="0"/>
                        <a:t> Hellman digital signature </a:t>
                      </a:r>
                      <a:r>
                        <a:rPr lang="en-US" dirty="0"/>
                        <a:t>is used.</a:t>
                      </a:r>
                    </a:p>
                  </a:txBody>
                  <a:tcPr marL="76200" marR="76200" marT="76200" marB="76200"/>
                </a:tc>
                <a:tc>
                  <a:txBody>
                    <a:bodyPr/>
                    <a:lstStyle/>
                    <a:p>
                      <a:pPr fontAlgn="t"/>
                      <a:r>
                        <a:rPr lang="en-US" b="1" dirty="0" err="1"/>
                        <a:t>Elgamal</a:t>
                      </a:r>
                      <a:r>
                        <a:rPr lang="en-US" b="1" dirty="0"/>
                        <a:t> digital signature </a:t>
                      </a:r>
                      <a:r>
                        <a:rPr lang="en-US" dirty="0"/>
                        <a:t>is used.</a:t>
                      </a:r>
                    </a:p>
                  </a:txBody>
                  <a:tcPr marL="76200" marR="76200" marT="76200" marB="76200"/>
                </a:tc>
                <a:extLst>
                  <a:ext uri="{0D108BD9-81ED-4DB2-BD59-A6C34878D82A}">
                    <a16:rowId xmlns:a16="http://schemas.microsoft.com/office/drawing/2014/main" val="10004"/>
                  </a:ext>
                </a:extLst>
              </a:tr>
              <a:tr h="1463910">
                <a:tc>
                  <a:txBody>
                    <a:bodyPr/>
                    <a:lstStyle/>
                    <a:p>
                      <a:pPr fontAlgn="t"/>
                      <a:r>
                        <a:rPr lang="en-US" dirty="0"/>
                        <a:t>PGP is a data encryption and decryption computer program that offers </a:t>
                      </a:r>
                      <a:r>
                        <a:rPr lang="en-US" b="1" dirty="0"/>
                        <a:t>cryptographic privacy and authentication </a:t>
                      </a:r>
                      <a:r>
                        <a:rPr lang="en-US" dirty="0">
                          <a:solidFill>
                            <a:srgbClr val="FF0000"/>
                          </a:solidFill>
                        </a:rPr>
                        <a:t>for internet data transmission</a:t>
                      </a:r>
                      <a:r>
                        <a:rPr lang="en-US" dirty="0"/>
                        <a:t>.</a:t>
                      </a:r>
                    </a:p>
                  </a:txBody>
                  <a:tcPr marL="76200" marR="76200" marT="76200" marB="76200"/>
                </a:tc>
                <a:tc>
                  <a:txBody>
                    <a:bodyPr/>
                    <a:lstStyle/>
                    <a:p>
                      <a:pPr fontAlgn="t"/>
                      <a:r>
                        <a:rPr lang="en-US" dirty="0"/>
                        <a:t>S/MIME provides the </a:t>
                      </a:r>
                      <a:r>
                        <a:rPr lang="en-US" b="1" dirty="0"/>
                        <a:t>authentication, message integrity and non-repudiation of origin and data security services </a:t>
                      </a:r>
                      <a:r>
                        <a:rPr lang="en-US" dirty="0"/>
                        <a:t>for </a:t>
                      </a:r>
                      <a:r>
                        <a:rPr lang="en-US" dirty="0">
                          <a:solidFill>
                            <a:srgbClr val="FF0000"/>
                          </a:solidFill>
                        </a:rPr>
                        <a:t>electronic data transmission applications</a:t>
                      </a:r>
                      <a:r>
                        <a:rPr lang="en-US" dirty="0"/>
                        <a:t>.</a:t>
                      </a:r>
                    </a:p>
                  </a:txBody>
                  <a:tcPr marL="76200" marR="76200" marT="76200" marB="76200"/>
                </a:tc>
                <a:extLst>
                  <a:ext uri="{0D108BD9-81ED-4DB2-BD59-A6C34878D82A}">
                    <a16:rowId xmlns:a16="http://schemas.microsoft.com/office/drawing/2014/main" val="10005"/>
                  </a:ext>
                </a:extLst>
              </a:tr>
              <a:tr h="821218">
                <a:tc>
                  <a:txBody>
                    <a:bodyPr/>
                    <a:lstStyle/>
                    <a:p>
                      <a:pPr fontAlgn="t"/>
                      <a:r>
                        <a:rPr lang="en-US" dirty="0"/>
                        <a:t>PGP was designed </a:t>
                      </a:r>
                      <a:r>
                        <a:rPr lang="en-US" b="1" dirty="0"/>
                        <a:t>to eliminate security issues </a:t>
                      </a:r>
                      <a:r>
                        <a:rPr lang="en-US" dirty="0"/>
                        <a:t>of text messages.</a:t>
                      </a:r>
                    </a:p>
                  </a:txBody>
                  <a:tcPr marL="76200" marR="76200" marT="76200" marB="76200"/>
                </a:tc>
                <a:tc>
                  <a:txBody>
                    <a:bodyPr/>
                    <a:lstStyle/>
                    <a:p>
                      <a:pPr fontAlgn="t"/>
                      <a:r>
                        <a:rPr lang="en-US" dirty="0"/>
                        <a:t>S/MIME was designed to provide </a:t>
                      </a:r>
                      <a:r>
                        <a:rPr lang="en-US" b="1" dirty="0"/>
                        <a:t>security for attachments and data files</a:t>
                      </a:r>
                      <a:r>
                        <a:rPr lang="en-US" dirty="0"/>
                        <a:t>.</a:t>
                      </a:r>
                    </a:p>
                  </a:txBody>
                  <a:tcPr marL="76200" marR="76200" marT="76200" marB="76200"/>
                </a:tc>
                <a:extLst>
                  <a:ext uri="{0D108BD9-81ED-4DB2-BD59-A6C34878D82A}">
                    <a16:rowId xmlns:a16="http://schemas.microsoft.com/office/drawing/2014/main" val="10006"/>
                  </a:ext>
                </a:extLst>
              </a:tr>
              <a:tr h="499872">
                <a:tc>
                  <a:txBody>
                    <a:bodyPr/>
                    <a:lstStyle/>
                    <a:p>
                      <a:pPr fontAlgn="t"/>
                      <a:r>
                        <a:rPr lang="en-US" dirty="0"/>
                        <a:t>PGP products are </a:t>
                      </a:r>
                      <a:r>
                        <a:rPr lang="en-US" b="1" dirty="0"/>
                        <a:t>costlier</a:t>
                      </a:r>
                      <a:r>
                        <a:rPr lang="en-US" dirty="0"/>
                        <a:t> than S/MIME.</a:t>
                      </a:r>
                    </a:p>
                  </a:txBody>
                  <a:tcPr marL="76200" marR="76200" marT="76200" marB="76200"/>
                </a:tc>
                <a:tc>
                  <a:txBody>
                    <a:bodyPr/>
                    <a:lstStyle/>
                    <a:p>
                      <a:pPr fontAlgn="t"/>
                      <a:r>
                        <a:rPr lang="en-US" dirty="0"/>
                        <a:t>S/MIME products are </a:t>
                      </a:r>
                      <a:r>
                        <a:rPr lang="en-US" b="1" dirty="0"/>
                        <a:t>cheaper </a:t>
                      </a:r>
                      <a:r>
                        <a:rPr lang="en-US" dirty="0"/>
                        <a:t>than PGP.</a:t>
                      </a:r>
                    </a:p>
                  </a:txBody>
                  <a:tcPr marL="76200" marR="76200" marT="76200" marB="76200"/>
                </a:tc>
                <a:extLst>
                  <a:ext uri="{0D108BD9-81ED-4DB2-BD59-A6C34878D82A}">
                    <a16:rowId xmlns:a16="http://schemas.microsoft.com/office/drawing/2014/main" val="10007"/>
                  </a:ext>
                </a:extLst>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92162"/>
          </a:xfrm>
        </p:spPr>
        <p:txBody>
          <a:bodyPr>
            <a:normAutofit/>
          </a:bodyPr>
          <a:lstStyle/>
          <a:p>
            <a:r>
              <a:rPr lang="en-US" dirty="0"/>
              <a:t>Security at the Transport layer</a:t>
            </a:r>
          </a:p>
        </p:txBody>
      </p:sp>
      <p:sp>
        <p:nvSpPr>
          <p:cNvPr id="3" name="Content Placeholder 2"/>
          <p:cNvSpPr>
            <a:spLocks noGrp="1"/>
          </p:cNvSpPr>
          <p:nvPr>
            <p:ph idx="1"/>
          </p:nvPr>
        </p:nvSpPr>
        <p:spPr>
          <a:xfrm>
            <a:off x="457200" y="762000"/>
            <a:ext cx="8229600" cy="5867400"/>
          </a:xfrm>
        </p:spPr>
        <p:txBody>
          <a:bodyPr>
            <a:noAutofit/>
          </a:bodyPr>
          <a:lstStyle/>
          <a:p>
            <a:pPr algn="just"/>
            <a:r>
              <a:rPr lang="en-US" sz="2300" dirty="0"/>
              <a:t>Network security involves </a:t>
            </a:r>
            <a:r>
              <a:rPr lang="en-US" sz="2300" b="1" dirty="0"/>
              <a:t>securing data against attacks </a:t>
            </a:r>
            <a:r>
              <a:rPr lang="en-US" sz="2300" dirty="0"/>
              <a:t>while it is in transit on a network. </a:t>
            </a:r>
          </a:p>
          <a:p>
            <a:pPr algn="just"/>
            <a:endParaRPr lang="en-US" sz="2300" b="1" dirty="0"/>
          </a:p>
          <a:p>
            <a:pPr algn="just"/>
            <a:r>
              <a:rPr lang="en-US" sz="2300" b="1" dirty="0"/>
              <a:t>To achieve this goal</a:t>
            </a:r>
            <a:r>
              <a:rPr lang="en-US" sz="2300" dirty="0"/>
              <a:t>, </a:t>
            </a:r>
            <a:r>
              <a:rPr lang="en-US" sz="2300" b="1" dirty="0"/>
              <a:t>many real-time security protocols have been designed</a:t>
            </a:r>
            <a:r>
              <a:rPr lang="en-US" sz="2300" dirty="0"/>
              <a:t>. </a:t>
            </a:r>
          </a:p>
          <a:p>
            <a:pPr algn="just"/>
            <a:endParaRPr lang="en-US" sz="2300" dirty="0"/>
          </a:p>
          <a:p>
            <a:pPr algn="just"/>
            <a:r>
              <a:rPr lang="en-US" sz="2300" dirty="0"/>
              <a:t>For TCP/IP protocol based network, </a:t>
            </a:r>
            <a:r>
              <a:rPr lang="en-US" sz="2300" b="1" dirty="0"/>
              <a:t>physical and data link layers are typically implemented in the user terminal </a:t>
            </a:r>
            <a:r>
              <a:rPr lang="en-US" sz="2300" dirty="0"/>
              <a:t>and </a:t>
            </a:r>
            <a:r>
              <a:rPr lang="en-US" sz="2300" b="1" dirty="0"/>
              <a:t>network card hardware</a:t>
            </a:r>
            <a:r>
              <a:rPr lang="en-US" sz="2300" dirty="0"/>
              <a:t>. </a:t>
            </a:r>
          </a:p>
          <a:p>
            <a:pPr algn="just"/>
            <a:r>
              <a:rPr lang="en-US" sz="2300" dirty="0"/>
              <a:t>TCP and IP layers are implemented in the operating system.</a:t>
            </a:r>
          </a:p>
          <a:p>
            <a:pPr algn="just"/>
            <a:r>
              <a:rPr lang="en-US" sz="2300" dirty="0"/>
              <a:t> Anything above TCP/IP is implemented as user process.</a:t>
            </a:r>
          </a:p>
          <a:p>
            <a:endParaRPr lang="en-US" sz="2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8438"/>
            <a:ext cx="8229600" cy="715962"/>
          </a:xfrm>
        </p:spPr>
        <p:txBody>
          <a:bodyPr>
            <a:normAutofit fontScale="90000"/>
          </a:bodyPr>
          <a:lstStyle/>
          <a:p>
            <a:r>
              <a:rPr lang="en-US" dirty="0"/>
              <a:t>Need for Transport Layer Security</a:t>
            </a:r>
          </a:p>
        </p:txBody>
      </p:sp>
      <p:sp>
        <p:nvSpPr>
          <p:cNvPr id="3" name="Content Placeholder 2"/>
          <p:cNvSpPr>
            <a:spLocks noGrp="1"/>
          </p:cNvSpPr>
          <p:nvPr>
            <p:ph idx="1"/>
          </p:nvPr>
        </p:nvSpPr>
        <p:spPr>
          <a:xfrm>
            <a:off x="457200" y="914400"/>
            <a:ext cx="8229600" cy="5791200"/>
          </a:xfrm>
        </p:spPr>
        <p:txBody>
          <a:bodyPr>
            <a:noAutofit/>
          </a:bodyPr>
          <a:lstStyle/>
          <a:p>
            <a:pPr>
              <a:buNone/>
            </a:pPr>
            <a:r>
              <a:rPr lang="en-US" sz="2400" dirty="0">
                <a:latin typeface="Times New Roman" pitchFamily="18" charset="0"/>
                <a:cs typeface="Times New Roman" pitchFamily="18" charset="0"/>
              </a:rPr>
              <a:t>Let's discuss a </a:t>
            </a:r>
            <a:r>
              <a:rPr lang="en-US" sz="2400" b="1" dirty="0">
                <a:latin typeface="Times New Roman" pitchFamily="18" charset="0"/>
                <a:cs typeface="Times New Roman" pitchFamily="18" charset="0"/>
              </a:rPr>
              <a:t>typical Internet-based </a:t>
            </a:r>
            <a:r>
              <a:rPr lang="en-US" sz="2400" b="1" dirty="0">
                <a:solidFill>
                  <a:srgbClr val="FF0000"/>
                </a:solidFill>
                <a:latin typeface="Times New Roman" pitchFamily="18" charset="0"/>
                <a:cs typeface="Times New Roman" pitchFamily="18" charset="0"/>
              </a:rPr>
              <a:t>business transaction</a:t>
            </a:r>
            <a:r>
              <a:rPr lang="en-US" sz="2400" dirty="0">
                <a:latin typeface="Times New Roman" pitchFamily="18" charset="0"/>
                <a:cs typeface="Times New Roman" pitchFamily="18" charset="0"/>
              </a:rPr>
              <a:t>.</a:t>
            </a:r>
          </a:p>
          <a:p>
            <a:pPr algn="just"/>
            <a:r>
              <a:rPr lang="en-US" sz="2400" dirty="0">
                <a:latin typeface="Times New Roman" pitchFamily="18" charset="0"/>
                <a:cs typeface="Times New Roman" pitchFamily="18" charset="0"/>
              </a:rPr>
              <a:t>Bob visits Alice’s website for trade goods. In a form on the website, Bob enters the type of good and quantity desired, his address and payment card details. </a:t>
            </a:r>
          </a:p>
          <a:p>
            <a:pPr algn="just"/>
            <a:r>
              <a:rPr lang="en-US" sz="2400" dirty="0">
                <a:latin typeface="Times New Roman" pitchFamily="18" charset="0"/>
                <a:cs typeface="Times New Roman" pitchFamily="18" charset="0"/>
              </a:rPr>
              <a:t>Bob clicks on Submit and waits for delivery of goods with debit of price amount from his account. </a:t>
            </a:r>
          </a:p>
          <a:p>
            <a:pPr algn="just"/>
            <a:r>
              <a:rPr lang="en-US" sz="2400" dirty="0">
                <a:latin typeface="Times New Roman" pitchFamily="18" charset="0"/>
                <a:cs typeface="Times New Roman" pitchFamily="18" charset="0"/>
              </a:rPr>
              <a:t>All this sounds good, but in absence of network security, Bob could be in for a few surprises.</a:t>
            </a:r>
          </a:p>
          <a:p>
            <a:pPr algn="just"/>
            <a:r>
              <a:rPr lang="en-US" sz="2400" dirty="0">
                <a:latin typeface="Times New Roman" pitchFamily="18" charset="0"/>
                <a:cs typeface="Times New Roman" pitchFamily="18" charset="0"/>
              </a:rPr>
              <a:t>If transactions did not use confidentiality (encryption), an attacker could obtain his payment card information. The attacker can then make purchases at Bob's expense.</a:t>
            </a:r>
          </a:p>
          <a:p>
            <a:pPr algn="just"/>
            <a:r>
              <a:rPr lang="en-US" sz="2400" dirty="0">
                <a:latin typeface="Times New Roman" pitchFamily="18" charset="0"/>
                <a:cs typeface="Times New Roman" pitchFamily="18" charset="0"/>
              </a:rPr>
              <a:t>If no data integrity measure is used, an attacker could modify Bob's order in terms of type or quantity of goods.</a:t>
            </a:r>
          </a:p>
          <a:p>
            <a:pPr algn="just"/>
            <a:endParaRPr lang="en-US" sz="2400" dirty="0">
              <a:latin typeface="Times New Roman" pitchFamily="18" charset="0"/>
              <a:cs typeface="Times New Roman"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172200"/>
          </a:xfrm>
        </p:spPr>
        <p:txBody>
          <a:bodyPr>
            <a:normAutofit/>
          </a:bodyPr>
          <a:lstStyle/>
          <a:p>
            <a:pPr algn="just"/>
            <a:r>
              <a:rPr lang="en-US" dirty="0">
                <a:latin typeface="Times New Roman" pitchFamily="18" charset="0"/>
                <a:cs typeface="Times New Roman" pitchFamily="18" charset="0"/>
              </a:rPr>
              <a:t>Transport layer security schemes can address these problems by </a:t>
            </a:r>
            <a:r>
              <a:rPr lang="en-US" dirty="0">
                <a:solidFill>
                  <a:srgbClr val="FF0000"/>
                </a:solidFill>
                <a:latin typeface="Times New Roman" pitchFamily="18" charset="0"/>
                <a:cs typeface="Times New Roman" pitchFamily="18" charset="0"/>
              </a:rPr>
              <a:t>enhancing TCP/IP based network communication</a:t>
            </a:r>
            <a:r>
              <a:rPr lang="en-US" dirty="0">
                <a:latin typeface="Times New Roman" pitchFamily="18" charset="0"/>
                <a:cs typeface="Times New Roman" pitchFamily="18" charset="0"/>
              </a:rPr>
              <a:t> with </a:t>
            </a:r>
            <a:r>
              <a:rPr lang="en-US" b="1" dirty="0">
                <a:latin typeface="Times New Roman" pitchFamily="18" charset="0"/>
                <a:cs typeface="Times New Roman" pitchFamily="18" charset="0"/>
              </a:rPr>
              <a:t>confidentiality, data integrity, server authentication, and client authentication.</a:t>
            </a:r>
          </a:p>
          <a:p>
            <a:pPr algn="just"/>
            <a:r>
              <a:rPr lang="en-US" dirty="0">
                <a:latin typeface="Times New Roman" pitchFamily="18" charset="0"/>
                <a:cs typeface="Times New Roman" pitchFamily="18" charset="0"/>
              </a:rPr>
              <a:t>The security at this layer is mostly used to secure HTTP based web transactions on a network. However, it can be employed by any application running over TCP.</a:t>
            </a:r>
          </a:p>
          <a:p>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Philosophy of TLS Design</a:t>
            </a:r>
          </a:p>
        </p:txBody>
      </p:sp>
      <p:sp>
        <p:nvSpPr>
          <p:cNvPr id="3" name="Content Placeholder 2"/>
          <p:cNvSpPr>
            <a:spLocks noGrp="1"/>
          </p:cNvSpPr>
          <p:nvPr>
            <p:ph idx="1"/>
          </p:nvPr>
        </p:nvSpPr>
        <p:spPr>
          <a:xfrm>
            <a:off x="457200" y="1219200"/>
            <a:ext cx="8229600" cy="4906963"/>
          </a:xfrm>
        </p:spPr>
        <p:txBody>
          <a:bodyPr>
            <a:normAutofit lnSpcReduction="10000"/>
          </a:bodyPr>
          <a:lstStyle/>
          <a:p>
            <a:pPr algn="just"/>
            <a:r>
              <a:rPr lang="en-US" dirty="0"/>
              <a:t>Transport Layer Security (TLS) protocols operate above the TCP layer. </a:t>
            </a:r>
          </a:p>
          <a:p>
            <a:pPr algn="just"/>
            <a:r>
              <a:rPr lang="en-US" dirty="0"/>
              <a:t>Design of these protocols use popular Application Program Interfaces (API) to TCP, called “sockets" for interfacing with TCP layer.</a:t>
            </a:r>
          </a:p>
          <a:p>
            <a:pPr algn="just"/>
            <a:r>
              <a:rPr lang="en-US" dirty="0"/>
              <a:t>Applications are now interfaced to Transport Security Layer instead of TCP directly. </a:t>
            </a:r>
          </a:p>
          <a:p>
            <a:pPr algn="just"/>
            <a:r>
              <a:rPr lang="en-US" dirty="0"/>
              <a:t>Transport Security Layer provides a simple API with sockets, which is similar and analogous to TCP's API.</a:t>
            </a:r>
          </a:p>
          <a:p>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philosophy_of_tls_design.jpg"/>
          <p:cNvPicPr>
            <a:picLocks noGrp="1" noChangeAspect="1"/>
          </p:cNvPicPr>
          <p:nvPr>
            <p:ph idx="1"/>
          </p:nvPr>
        </p:nvPicPr>
        <p:blipFill>
          <a:blip r:embed="rId2" cstate="print"/>
          <a:stretch>
            <a:fillRect/>
          </a:stretch>
        </p:blipFill>
        <p:spPr>
          <a:xfrm>
            <a:off x="0" y="0"/>
            <a:ext cx="9144000" cy="3276600"/>
          </a:xfrm>
        </p:spPr>
      </p:pic>
      <p:sp>
        <p:nvSpPr>
          <p:cNvPr id="5" name="Rectangle 4"/>
          <p:cNvSpPr/>
          <p:nvPr/>
        </p:nvSpPr>
        <p:spPr>
          <a:xfrm>
            <a:off x="0" y="3302675"/>
            <a:ext cx="9144000" cy="3046988"/>
          </a:xfrm>
          <a:prstGeom prst="rect">
            <a:avLst/>
          </a:prstGeom>
        </p:spPr>
        <p:txBody>
          <a:bodyPr wrap="square">
            <a:spAutoFit/>
          </a:bodyPr>
          <a:lstStyle/>
          <a:p>
            <a:r>
              <a:rPr lang="en-US" sz="2400" dirty="0"/>
              <a:t>In the above diagram, although TLS technically resides between application and transport layer, from the common perspective it is a transport protocol that acts as TCP layer enhanced with security services.</a:t>
            </a:r>
          </a:p>
          <a:p>
            <a:r>
              <a:rPr lang="en-US" sz="2400" dirty="0"/>
              <a:t>TLS is designed to operate over TCP, the reliable layer 4 protocol (not on UDP protocol), to make design of TLS much simpler, because it doesn't have to worry about ‘timing out’ and ‘retransmitting lost data’. The TCP layer continues doing that as usual which serves the need of TLS.</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Why TLS is Popular?</a:t>
            </a:r>
          </a:p>
        </p:txBody>
      </p:sp>
      <p:sp>
        <p:nvSpPr>
          <p:cNvPr id="3" name="Content Placeholder 2"/>
          <p:cNvSpPr>
            <a:spLocks noGrp="1"/>
          </p:cNvSpPr>
          <p:nvPr>
            <p:ph idx="1"/>
          </p:nvPr>
        </p:nvSpPr>
        <p:spPr/>
        <p:txBody>
          <a:bodyPr/>
          <a:lstStyle/>
          <a:p>
            <a:r>
              <a:rPr lang="en-US" dirty="0"/>
              <a:t>The reason for popularity of using a security at Transport Layer is </a:t>
            </a:r>
            <a:r>
              <a:rPr lang="en-US" dirty="0">
                <a:solidFill>
                  <a:srgbClr val="FF0000"/>
                </a:solidFill>
              </a:rPr>
              <a:t>simplicity</a:t>
            </a:r>
            <a:r>
              <a:rPr lang="en-US" dirty="0"/>
              <a:t>. </a:t>
            </a:r>
          </a:p>
          <a:p>
            <a:r>
              <a:rPr lang="en-US" dirty="0"/>
              <a:t>Design and deployment of security at this layer does not require </a:t>
            </a:r>
            <a:r>
              <a:rPr lang="en-US" dirty="0">
                <a:solidFill>
                  <a:srgbClr val="FF0000"/>
                </a:solidFill>
              </a:rPr>
              <a:t>any change </a:t>
            </a:r>
            <a:r>
              <a:rPr lang="en-US" dirty="0"/>
              <a:t>in TCP/IP protocols that are implemented in an operating system. </a:t>
            </a:r>
          </a:p>
          <a:p>
            <a:r>
              <a:rPr lang="en-US" dirty="0"/>
              <a:t>Only user processes and </a:t>
            </a:r>
            <a:r>
              <a:rPr lang="en-US" dirty="0">
                <a:solidFill>
                  <a:srgbClr val="FF0000"/>
                </a:solidFill>
              </a:rPr>
              <a:t>applications needs</a:t>
            </a:r>
            <a:r>
              <a:rPr lang="en-US" dirty="0"/>
              <a:t> to be designed/modified which is less complex.</a:t>
            </a:r>
          </a:p>
          <a:p>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a:t>Secure Socket Layer (SSL)</a:t>
            </a:r>
          </a:p>
        </p:txBody>
      </p:sp>
      <p:sp>
        <p:nvSpPr>
          <p:cNvPr id="3" name="Content Placeholder 2"/>
          <p:cNvSpPr>
            <a:spLocks noGrp="1"/>
          </p:cNvSpPr>
          <p:nvPr>
            <p:ph idx="1"/>
          </p:nvPr>
        </p:nvSpPr>
        <p:spPr>
          <a:xfrm>
            <a:off x="457200" y="762000"/>
            <a:ext cx="8229600" cy="6096000"/>
          </a:xfrm>
        </p:spPr>
        <p:txBody>
          <a:bodyPr>
            <a:normAutofit/>
          </a:bodyPr>
          <a:lstStyle/>
          <a:p>
            <a:endParaRPr lang="en-US" sz="2800" b="1" u="sng" dirty="0">
              <a:hlinkClick r:id="rId2"/>
            </a:endParaRPr>
          </a:p>
          <a:p>
            <a:endParaRPr lang="en-US" sz="2800" b="1" u="sng" dirty="0">
              <a:hlinkClick r:id="rId2"/>
            </a:endParaRPr>
          </a:p>
          <a:p>
            <a:pPr algn="just"/>
            <a:r>
              <a:rPr lang="en-US" sz="2800" b="1" u="sng" dirty="0">
                <a:hlinkClick r:id="rId2"/>
              </a:rPr>
              <a:t>Secure Socket Layer (SSL)</a:t>
            </a:r>
            <a:r>
              <a:rPr lang="en-US" sz="2800" dirty="0"/>
              <a:t> provides security to the data that is transferred between </a:t>
            </a:r>
            <a:r>
              <a:rPr lang="en-US" sz="2800" b="1" dirty="0"/>
              <a:t>web browser and server</a:t>
            </a:r>
            <a:r>
              <a:rPr lang="en-US" sz="2800" dirty="0"/>
              <a:t>. </a:t>
            </a:r>
          </a:p>
          <a:p>
            <a:pPr algn="just"/>
            <a:r>
              <a:rPr lang="en-US" sz="2800" dirty="0"/>
              <a:t>SSL encrypts the link between a web server and a browser which ensures that all data passed between them </a:t>
            </a:r>
            <a:r>
              <a:rPr lang="en-US" sz="2800" b="1" dirty="0"/>
              <a:t>remain private and free from attack. </a:t>
            </a:r>
          </a:p>
          <a:p>
            <a:endParaRPr lang="en-US" sz="2800" b="1" dirty="0"/>
          </a:p>
          <a:p>
            <a:endParaRPr lang="en-US" sz="2800" b="1"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Salient Features of SSL</a:t>
            </a:r>
          </a:p>
        </p:txBody>
      </p:sp>
      <p:sp>
        <p:nvSpPr>
          <p:cNvPr id="3" name="Content Placeholder 2"/>
          <p:cNvSpPr>
            <a:spLocks noGrp="1"/>
          </p:cNvSpPr>
          <p:nvPr>
            <p:ph idx="1"/>
          </p:nvPr>
        </p:nvSpPr>
        <p:spPr>
          <a:xfrm>
            <a:off x="457200" y="1447800"/>
            <a:ext cx="8229600" cy="4525963"/>
          </a:xfrm>
        </p:spPr>
        <p:txBody>
          <a:bodyPr>
            <a:normAutofit fontScale="92500" lnSpcReduction="20000"/>
          </a:bodyPr>
          <a:lstStyle/>
          <a:p>
            <a:pPr algn="just"/>
            <a:r>
              <a:rPr lang="en-US" dirty="0"/>
              <a:t>The salient features of SSL protocol are as follows −</a:t>
            </a:r>
          </a:p>
          <a:p>
            <a:pPr algn="just"/>
            <a:r>
              <a:rPr lang="en-US" dirty="0"/>
              <a:t>SSL provides network connection security through −</a:t>
            </a:r>
          </a:p>
          <a:p>
            <a:pPr lvl="1" algn="just"/>
            <a:r>
              <a:rPr lang="en-US" b="1" dirty="0"/>
              <a:t>Confidentiality</a:t>
            </a:r>
            <a:r>
              <a:rPr lang="en-US" dirty="0"/>
              <a:t> − Information is exchanged in an encrypted form.</a:t>
            </a:r>
          </a:p>
          <a:p>
            <a:pPr lvl="1" algn="just"/>
            <a:r>
              <a:rPr lang="en-US" b="1" dirty="0"/>
              <a:t>Authentication</a:t>
            </a:r>
            <a:r>
              <a:rPr lang="en-US" dirty="0"/>
              <a:t> − Communication entities identify each other through the use of digital certificates. Web-server authentication is mandatory whereas client authentication is kept optional.</a:t>
            </a:r>
          </a:p>
          <a:p>
            <a:pPr lvl="1" algn="just"/>
            <a:r>
              <a:rPr lang="en-US" b="1" dirty="0"/>
              <a:t>Reliability</a:t>
            </a:r>
            <a:r>
              <a:rPr lang="en-US" dirty="0"/>
              <a:t> − Maintains message integrity checks.</a:t>
            </a:r>
          </a:p>
          <a:p>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US" dirty="0"/>
              <a:t>SSL is available for all TCP applications.</a:t>
            </a:r>
          </a:p>
          <a:p>
            <a:pPr algn="just"/>
            <a:r>
              <a:rPr lang="en-US" dirty="0"/>
              <a:t>Supported by almost all web browsers.</a:t>
            </a:r>
          </a:p>
          <a:p>
            <a:pPr algn="just"/>
            <a:r>
              <a:rPr lang="en-US" dirty="0"/>
              <a:t>Provides ease in doing business with new online entities.</a:t>
            </a:r>
          </a:p>
          <a:p>
            <a:pPr algn="just"/>
            <a:r>
              <a:rPr lang="en-US" dirty="0"/>
              <a:t>Developed  for Web e-commerce</a:t>
            </a:r>
          </a:p>
          <a:p>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Architecture of SSL</a:t>
            </a:r>
          </a:p>
        </p:txBody>
      </p:sp>
      <p:sp>
        <p:nvSpPr>
          <p:cNvPr id="3" name="Content Placeholder 2"/>
          <p:cNvSpPr>
            <a:spLocks noGrp="1"/>
          </p:cNvSpPr>
          <p:nvPr>
            <p:ph idx="1"/>
          </p:nvPr>
        </p:nvSpPr>
        <p:spPr/>
        <p:txBody>
          <a:bodyPr/>
          <a:lstStyle/>
          <a:p>
            <a:pPr algn="just"/>
            <a:r>
              <a:rPr lang="en-US" dirty="0"/>
              <a:t>SSL protocol is designed to interwork between application and transport layer as shown in the following image −</a:t>
            </a:r>
          </a:p>
          <a:p>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ssl_architecture.jpg"/>
          <p:cNvPicPr>
            <a:picLocks noGrp="1" noChangeAspect="1"/>
          </p:cNvPicPr>
          <p:nvPr>
            <p:ph idx="1"/>
          </p:nvPr>
        </p:nvPicPr>
        <p:blipFill>
          <a:blip r:embed="rId2" cstate="print"/>
          <a:stretch>
            <a:fillRect/>
          </a:stretch>
        </p:blipFill>
        <p:spPr>
          <a:xfrm>
            <a:off x="685800" y="94944"/>
            <a:ext cx="7620000" cy="1657656"/>
          </a:xfrm>
        </p:spPr>
      </p:pic>
      <p:sp>
        <p:nvSpPr>
          <p:cNvPr id="5" name="Rectangle 4"/>
          <p:cNvSpPr/>
          <p:nvPr/>
        </p:nvSpPr>
        <p:spPr>
          <a:xfrm>
            <a:off x="228600" y="1905001"/>
            <a:ext cx="8763000" cy="4293483"/>
          </a:xfrm>
          <a:prstGeom prst="rect">
            <a:avLst/>
          </a:prstGeom>
        </p:spPr>
        <p:txBody>
          <a:bodyPr wrap="square">
            <a:spAutoFit/>
          </a:bodyPr>
          <a:lstStyle/>
          <a:p>
            <a:r>
              <a:rPr lang="en-US" sz="2100" dirty="0"/>
              <a:t>SSL itself is not a single layer protocol as depicted in the image; in fact it is composed of two sub-layers.</a:t>
            </a:r>
          </a:p>
          <a:p>
            <a:r>
              <a:rPr lang="en-US" sz="2100" b="1" dirty="0"/>
              <a:t>Lower sub-layer </a:t>
            </a:r>
            <a:r>
              <a:rPr lang="en-US" sz="2100" dirty="0"/>
              <a:t>comprises of the one component of SSL protocol called as SSL Record Protocol. This component provides integrity and confidentiality services.</a:t>
            </a:r>
          </a:p>
          <a:p>
            <a:r>
              <a:rPr lang="en-US" sz="2100" b="1" dirty="0"/>
              <a:t>Upper sub-layer </a:t>
            </a:r>
            <a:r>
              <a:rPr lang="en-US" sz="2100" dirty="0"/>
              <a:t>comprises of three SSL-related protocol components and an application protocol. Application component provides the information transfer service between client/server interactions. Technically, it can operate on top of SSL layer as well. Three SSL related protocol components are −</a:t>
            </a:r>
          </a:p>
          <a:p>
            <a:pPr lvl="1"/>
            <a:r>
              <a:rPr lang="en-US" sz="2100" dirty="0"/>
              <a:t>SSL Handshake Protocol</a:t>
            </a:r>
          </a:p>
          <a:p>
            <a:pPr lvl="1"/>
            <a:r>
              <a:rPr lang="en-US" sz="2100" dirty="0"/>
              <a:t>Change Cipher Spec Protocol</a:t>
            </a:r>
          </a:p>
          <a:p>
            <a:pPr lvl="1"/>
            <a:r>
              <a:rPr lang="en-US" sz="2100" dirty="0"/>
              <a:t>Alert Protocol.</a:t>
            </a:r>
          </a:p>
          <a:p>
            <a:r>
              <a:rPr lang="en-US" sz="2100" b="1" dirty="0"/>
              <a:t>These three protocols </a:t>
            </a:r>
            <a:r>
              <a:rPr lang="en-US" sz="2100" dirty="0"/>
              <a:t>manage all of SSL message exchanges</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ssl_protocol_architecture.jpg"/>
          <p:cNvPicPr>
            <a:picLocks noGrp="1" noChangeAspect="1"/>
          </p:cNvPicPr>
          <p:nvPr>
            <p:ph idx="1"/>
          </p:nvPr>
        </p:nvPicPr>
        <p:blipFill>
          <a:blip r:embed="rId2" cstate="print"/>
          <a:stretch>
            <a:fillRect/>
          </a:stretch>
        </p:blipFill>
        <p:spPr>
          <a:xfrm>
            <a:off x="0" y="0"/>
            <a:ext cx="9144000" cy="6858000"/>
          </a:xfr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Functions of SSL Protocol Components</a:t>
            </a:r>
          </a:p>
        </p:txBody>
      </p:sp>
      <p:sp>
        <p:nvSpPr>
          <p:cNvPr id="3" name="Content Placeholder 2"/>
          <p:cNvSpPr>
            <a:spLocks noGrp="1"/>
          </p:cNvSpPr>
          <p:nvPr>
            <p:ph idx="1"/>
          </p:nvPr>
        </p:nvSpPr>
        <p:spPr/>
        <p:txBody>
          <a:bodyPr>
            <a:normAutofit fontScale="85000" lnSpcReduction="20000"/>
          </a:bodyPr>
          <a:lstStyle/>
          <a:p>
            <a:r>
              <a:rPr lang="en-US" dirty="0"/>
              <a:t>The four sub-components of the SSL protocol handle various tasks for secure communication between the client machine and the server.</a:t>
            </a:r>
          </a:p>
          <a:p>
            <a:r>
              <a:rPr lang="en-US" dirty="0"/>
              <a:t>Record Protocol</a:t>
            </a:r>
          </a:p>
          <a:p>
            <a:pPr lvl="1"/>
            <a:r>
              <a:rPr lang="en-US" dirty="0"/>
              <a:t>The record layer formats the upper layer protocol messages.</a:t>
            </a:r>
          </a:p>
          <a:p>
            <a:pPr lvl="1"/>
            <a:r>
              <a:rPr lang="en-US" dirty="0"/>
              <a:t>It fragments the data into manageable blocks (max length 16 KB). It optionally compresses the data.</a:t>
            </a:r>
          </a:p>
          <a:p>
            <a:pPr lvl="1"/>
            <a:r>
              <a:rPr lang="en-US" dirty="0"/>
              <a:t>Encrypts the data.</a:t>
            </a:r>
          </a:p>
          <a:p>
            <a:pPr lvl="1"/>
            <a:r>
              <a:rPr lang="en-US" dirty="0"/>
              <a:t>Provides a header for each message and a hash (Message Authentication Code (MAC)) at the end.</a:t>
            </a:r>
          </a:p>
          <a:p>
            <a:pPr lvl="1"/>
            <a:r>
              <a:rPr lang="en-US" dirty="0"/>
              <a:t>Hands over the formatted blocks to TCP layer for transmission.</a:t>
            </a:r>
          </a:p>
          <a:p>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ssl_protocol_functions.jpg"/>
          <p:cNvPicPr>
            <a:picLocks noGrp="1" noChangeAspect="1"/>
          </p:cNvPicPr>
          <p:nvPr>
            <p:ph idx="1"/>
          </p:nvPr>
        </p:nvPicPr>
        <p:blipFill>
          <a:blip r:embed="rId2" cstate="print"/>
          <a:stretch>
            <a:fillRect/>
          </a:stretch>
        </p:blipFill>
        <p:spPr>
          <a:xfrm>
            <a:off x="1561701" y="457200"/>
            <a:ext cx="5715798" cy="2486372"/>
          </a:xfrm>
        </p:spPr>
      </p:pic>
      <p:sp>
        <p:nvSpPr>
          <p:cNvPr id="5" name="Rectangle 4"/>
          <p:cNvSpPr/>
          <p:nvPr/>
        </p:nvSpPr>
        <p:spPr>
          <a:xfrm>
            <a:off x="228600" y="3429000"/>
            <a:ext cx="8382000" cy="2862322"/>
          </a:xfrm>
          <a:prstGeom prst="rect">
            <a:avLst/>
          </a:prstGeom>
        </p:spPr>
        <p:txBody>
          <a:bodyPr wrap="square">
            <a:spAutoFit/>
          </a:bodyPr>
          <a:lstStyle/>
          <a:p>
            <a:r>
              <a:rPr lang="en-US" b="1" dirty="0"/>
              <a:t>SSL Handshake Protocol</a:t>
            </a:r>
          </a:p>
          <a:p>
            <a:pPr marL="742950" lvl="1" indent="-285750" algn="just">
              <a:buFont typeface="Arial" panose="020B0604020202020204" pitchFamily="34" charset="0"/>
              <a:buChar char="•"/>
            </a:pPr>
            <a:r>
              <a:rPr lang="en-US" dirty="0"/>
              <a:t>It is the most complex part of SSL. It is invoked before any application data is transmitted. </a:t>
            </a:r>
          </a:p>
          <a:p>
            <a:pPr marL="742950" lvl="1" indent="-285750" algn="just">
              <a:buFont typeface="Arial" panose="020B0604020202020204" pitchFamily="34" charset="0"/>
              <a:buChar char="•"/>
            </a:pPr>
            <a:r>
              <a:rPr lang="en-US" dirty="0"/>
              <a:t>It creates SSL sessions between the client and the server.</a:t>
            </a:r>
          </a:p>
          <a:p>
            <a:pPr marL="742950" lvl="1" indent="-285750" algn="just">
              <a:buFont typeface="Arial" panose="020B0604020202020204" pitchFamily="34" charset="0"/>
              <a:buChar char="•"/>
            </a:pPr>
            <a:r>
              <a:rPr lang="en-US" dirty="0"/>
              <a:t>Establishment of session involves Server authentication, Key and algorithm negotiation, Establishing keys and Client authentication (optional).</a:t>
            </a:r>
          </a:p>
          <a:p>
            <a:pPr marL="742950" lvl="1" indent="-285750" algn="just">
              <a:buFont typeface="Arial" panose="020B0604020202020204" pitchFamily="34" charset="0"/>
              <a:buChar char="•"/>
            </a:pPr>
            <a:r>
              <a:rPr lang="en-US" dirty="0"/>
              <a:t>A session is identified by unique set of cryptographic security parameters.</a:t>
            </a:r>
          </a:p>
          <a:p>
            <a:pPr marL="742950" lvl="1" indent="-285750" algn="just">
              <a:buFont typeface="Arial" panose="020B0604020202020204" pitchFamily="34" charset="0"/>
              <a:buChar char="•"/>
            </a:pPr>
            <a:r>
              <a:rPr lang="en-US" dirty="0"/>
              <a:t>Multiple secure TCP connections between a client and a server can share the same session.</a:t>
            </a:r>
          </a:p>
          <a:p>
            <a:pPr lvl="1"/>
            <a:r>
              <a:rPr lang="en-US" dirty="0"/>
              <a:t>Handshake protocol actions through four phases. </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5973763"/>
          </a:xfrm>
        </p:spPr>
        <p:txBody>
          <a:bodyPr>
            <a:normAutofit fontScale="85000" lnSpcReduction="20000"/>
          </a:bodyPr>
          <a:lstStyle/>
          <a:p>
            <a:r>
              <a:rPr lang="en-US" b="1" dirty="0"/>
              <a:t>ChangeCipherSpec Protocol</a:t>
            </a:r>
          </a:p>
          <a:p>
            <a:pPr lvl="1"/>
            <a:r>
              <a:rPr lang="en-US" dirty="0"/>
              <a:t>Simplest part of SSL protocol. It comprises of a single message exchanged between two communicating entities, the client and the server.</a:t>
            </a:r>
          </a:p>
          <a:p>
            <a:pPr lvl="1"/>
            <a:r>
              <a:rPr lang="en-US" dirty="0"/>
              <a:t>As each entity sends the ChangeCipherSpec message, it changes its side of the connection into the secure state as agreed upon.</a:t>
            </a:r>
          </a:p>
          <a:p>
            <a:pPr lvl="1"/>
            <a:r>
              <a:rPr lang="en-US" dirty="0"/>
              <a:t>The cipher parameters pending state is copied into the current state.</a:t>
            </a:r>
          </a:p>
          <a:p>
            <a:pPr lvl="1"/>
            <a:r>
              <a:rPr lang="en-US" dirty="0"/>
              <a:t>Exchange of this Message indicates all future data exchanges are encrypted and integrity is protected.</a:t>
            </a:r>
          </a:p>
          <a:p>
            <a:r>
              <a:rPr lang="en-US" b="1" dirty="0"/>
              <a:t>SSL Alert Protocol</a:t>
            </a:r>
          </a:p>
          <a:p>
            <a:pPr lvl="1"/>
            <a:r>
              <a:rPr lang="en-US" dirty="0"/>
              <a:t>This protocol is used to report errors – such as unexpected message, bad record MAC, security parameters negotiation failed, etc.</a:t>
            </a:r>
          </a:p>
          <a:p>
            <a:pPr lvl="1"/>
            <a:r>
              <a:rPr lang="en-US" dirty="0"/>
              <a:t>It is also used for other purposes – such as notify closure of the TCP connection, notify receipt of bad or unknown certificate, etc</a:t>
            </a:r>
          </a:p>
          <a:p>
            <a:endParaRPr 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AB53B-ADB8-BC69-7556-1D71C84987C2}"/>
              </a:ext>
            </a:extLst>
          </p:cNvPr>
          <p:cNvSpPr>
            <a:spLocks noGrp="1"/>
          </p:cNvSpPr>
          <p:nvPr>
            <p:ph type="title"/>
          </p:nvPr>
        </p:nvSpPr>
        <p:spPr/>
        <p:txBody>
          <a:bodyPr>
            <a:normAutofit fontScale="90000"/>
          </a:bodyPr>
          <a:lstStyle/>
          <a:p>
            <a:r>
              <a:rPr lang="en-IN" b="1" i="0" dirty="0">
                <a:solidFill>
                  <a:srgbClr val="000000"/>
                </a:solidFill>
                <a:effectLst/>
                <a:latin typeface="var(--ff-lato)"/>
              </a:rPr>
              <a:t>Security in Network Layer</a:t>
            </a:r>
            <a:br>
              <a:rPr lang="en-IN" b="0" i="0" dirty="0">
                <a:solidFill>
                  <a:srgbClr val="000000"/>
                </a:solidFill>
                <a:effectLst/>
                <a:latin typeface="var(--ff-lato)"/>
              </a:rPr>
            </a:br>
            <a:endParaRPr lang="en-IN" dirty="0"/>
          </a:p>
        </p:txBody>
      </p:sp>
      <p:sp>
        <p:nvSpPr>
          <p:cNvPr id="3" name="Content Placeholder 2">
            <a:extLst>
              <a:ext uri="{FF2B5EF4-FFF2-40B4-BE49-F238E27FC236}">
                <a16:creationId xmlns:a16="http://schemas.microsoft.com/office/drawing/2014/main" id="{4494FB0D-202B-EA38-9633-7527C7A9D217}"/>
              </a:ext>
            </a:extLst>
          </p:cNvPr>
          <p:cNvSpPr>
            <a:spLocks noGrp="1"/>
          </p:cNvSpPr>
          <p:nvPr>
            <p:ph idx="1"/>
          </p:nvPr>
        </p:nvSpPr>
        <p:spPr>
          <a:xfrm>
            <a:off x="441960" y="1066800"/>
            <a:ext cx="8229600" cy="5410200"/>
          </a:xfrm>
        </p:spPr>
        <p:txBody>
          <a:bodyPr>
            <a:noAutofit/>
          </a:bodyPr>
          <a:lstStyle/>
          <a:p>
            <a:pPr algn="l"/>
            <a:r>
              <a:rPr lang="en-US" sz="1600" b="0" i="0" dirty="0">
                <a:solidFill>
                  <a:srgbClr val="000000"/>
                </a:solidFill>
                <a:effectLst/>
                <a:latin typeface="Verdana" panose="020B0604030504040204" pitchFamily="34" charset="0"/>
              </a:rPr>
              <a:t>The popular framework developed for ensuring security at network layer is Internet Protocol Security (IPsec).</a:t>
            </a:r>
          </a:p>
          <a:p>
            <a:pPr algn="l"/>
            <a:endParaRPr lang="en-US" sz="1600" b="0" i="0" dirty="0">
              <a:effectLst/>
              <a:latin typeface="Verdana" panose="020B0604030504040204" pitchFamily="34" charset="0"/>
            </a:endParaRPr>
          </a:p>
          <a:p>
            <a:pPr algn="l"/>
            <a:r>
              <a:rPr lang="en-US" sz="1600" b="1" i="0" dirty="0">
                <a:effectLst/>
                <a:latin typeface="Verdana" panose="020B0604030504040204" pitchFamily="34" charset="0"/>
              </a:rPr>
              <a:t>Features of </a:t>
            </a:r>
            <a:r>
              <a:rPr lang="en-US" sz="1600" b="1" i="0" dirty="0" err="1">
                <a:effectLst/>
                <a:latin typeface="Verdana" panose="020B0604030504040204" pitchFamily="34" charset="0"/>
              </a:rPr>
              <a:t>Ipsec</a:t>
            </a:r>
            <a:endParaRPr lang="en-US" sz="1600" b="1" i="0" dirty="0">
              <a:effectLst/>
              <a:latin typeface="Verdana" panose="020B0604030504040204" pitchFamily="34" charset="0"/>
            </a:endParaRPr>
          </a:p>
          <a:p>
            <a:pPr algn="l"/>
            <a:endParaRPr lang="en-US" sz="1600" b="1" dirty="0">
              <a:latin typeface="Verdana" panose="020B0604030504040204" pitchFamily="34" charset="0"/>
            </a:endParaRPr>
          </a:p>
          <a:p>
            <a:pPr algn="just">
              <a:buFont typeface="Arial" panose="020B0604020202020204" pitchFamily="34" charset="0"/>
              <a:buChar char="•"/>
            </a:pPr>
            <a:r>
              <a:rPr lang="en-US" sz="1600" b="0" i="0" dirty="0">
                <a:solidFill>
                  <a:srgbClr val="000000"/>
                </a:solidFill>
                <a:effectLst/>
                <a:latin typeface="Verdana" panose="020B0604030504040204" pitchFamily="34" charset="0"/>
              </a:rPr>
              <a:t>IPsec is not designed to work only with TCP as a transport protocol. It works with UDP as well as any other protocol above IP such as ICMP, OSPF etc.</a:t>
            </a:r>
          </a:p>
          <a:p>
            <a:pPr algn="just">
              <a:buFont typeface="Arial" panose="020B0604020202020204" pitchFamily="34" charset="0"/>
              <a:buChar char="•"/>
            </a:pPr>
            <a:endParaRPr lang="en-US" sz="1600" b="0" i="0" dirty="0">
              <a:solidFill>
                <a:srgbClr val="000000"/>
              </a:solidFill>
              <a:effectLst/>
              <a:latin typeface="Verdana" panose="020B0604030504040204" pitchFamily="34" charset="0"/>
            </a:endParaRPr>
          </a:p>
          <a:p>
            <a:pPr algn="just">
              <a:buFont typeface="Arial" panose="020B0604020202020204" pitchFamily="34" charset="0"/>
              <a:buChar char="•"/>
            </a:pPr>
            <a:r>
              <a:rPr lang="en-US" sz="1600" b="0" i="0" dirty="0">
                <a:solidFill>
                  <a:srgbClr val="000000"/>
                </a:solidFill>
                <a:effectLst/>
                <a:latin typeface="Verdana" panose="020B0604030504040204" pitchFamily="34" charset="0"/>
              </a:rPr>
              <a:t>IPsec protects the entire packet presented to IP layer including higher layer headers.</a:t>
            </a:r>
          </a:p>
          <a:p>
            <a:pPr algn="just">
              <a:buFont typeface="Arial" panose="020B0604020202020204" pitchFamily="34" charset="0"/>
              <a:buChar char="•"/>
            </a:pPr>
            <a:r>
              <a:rPr lang="en-US" sz="1600" b="0" i="0" dirty="0">
                <a:solidFill>
                  <a:srgbClr val="000000"/>
                </a:solidFill>
                <a:effectLst/>
                <a:latin typeface="Verdana" panose="020B0604030504040204" pitchFamily="34" charset="0"/>
              </a:rPr>
              <a:t>Since higher layer headers are hidden which carry port number, traffic analysis is more difficult.</a:t>
            </a:r>
          </a:p>
          <a:p>
            <a:pPr algn="just">
              <a:buFont typeface="Arial" panose="020B0604020202020204" pitchFamily="34" charset="0"/>
              <a:buChar char="•"/>
            </a:pPr>
            <a:r>
              <a:rPr lang="en-US" sz="1600" b="0" i="0" dirty="0">
                <a:solidFill>
                  <a:srgbClr val="000000"/>
                </a:solidFill>
                <a:effectLst/>
                <a:latin typeface="Verdana" panose="020B0604030504040204" pitchFamily="34" charset="0"/>
              </a:rPr>
              <a:t>IPsec works from one network entity to another network entity.</a:t>
            </a:r>
          </a:p>
          <a:p>
            <a:pPr algn="just">
              <a:buFont typeface="Arial" panose="020B0604020202020204" pitchFamily="34" charset="0"/>
              <a:buChar char="•"/>
            </a:pPr>
            <a:r>
              <a:rPr lang="en-US" sz="1600" b="0" i="0" dirty="0">
                <a:solidFill>
                  <a:srgbClr val="000000"/>
                </a:solidFill>
                <a:effectLst/>
                <a:latin typeface="Verdana" panose="020B0604030504040204" pitchFamily="34" charset="0"/>
              </a:rPr>
              <a:t>Tough widely used to provide secure communication between network entities, IPsec can provide host-to-host security as well.</a:t>
            </a:r>
          </a:p>
          <a:p>
            <a:pPr algn="just">
              <a:buFont typeface="Arial" panose="020B0604020202020204" pitchFamily="34" charset="0"/>
              <a:buChar char="•"/>
            </a:pPr>
            <a:r>
              <a:rPr lang="en-US" sz="1600" b="0" i="0" dirty="0">
                <a:solidFill>
                  <a:srgbClr val="000000"/>
                </a:solidFill>
                <a:effectLst/>
                <a:latin typeface="Verdana" panose="020B0604030504040204" pitchFamily="34" charset="0"/>
              </a:rPr>
              <a:t>The most common use of IPsec is to provide a Virtual Private Network (VPN), either between two locations (gateway-to-gateway) or between a remote user and an enterprise network (host-to-gateway).</a:t>
            </a:r>
          </a:p>
          <a:p>
            <a:pPr marL="0" indent="0">
              <a:buNone/>
            </a:pPr>
            <a:br>
              <a:rPr lang="en-US" sz="1600" dirty="0"/>
            </a:br>
            <a:endParaRPr lang="en-IN" sz="1600" dirty="0"/>
          </a:p>
        </p:txBody>
      </p:sp>
    </p:spTree>
    <p:extLst>
      <p:ext uri="{BB962C8B-B14F-4D97-AF65-F5344CB8AC3E}">
        <p14:creationId xmlns:p14="http://schemas.microsoft.com/office/powerpoint/2010/main" val="20489920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51C49-73DE-18E2-5207-01D5454F997A}"/>
              </a:ext>
            </a:extLst>
          </p:cNvPr>
          <p:cNvSpPr>
            <a:spLocks noGrp="1"/>
          </p:cNvSpPr>
          <p:nvPr>
            <p:ph type="title"/>
          </p:nvPr>
        </p:nvSpPr>
        <p:spPr/>
        <p:txBody>
          <a:bodyPr>
            <a:normAutofit fontScale="90000"/>
          </a:bodyPr>
          <a:lstStyle/>
          <a:p>
            <a:r>
              <a:rPr lang="en-US" b="0" i="0" dirty="0">
                <a:effectLst/>
                <a:latin typeface="Verdana" panose="020B0604030504040204" pitchFamily="34" charset="0"/>
              </a:rPr>
              <a:t>Security Functions</a:t>
            </a:r>
            <a:br>
              <a:rPr lang="en-US" b="0" i="0" dirty="0">
                <a:effectLst/>
                <a:latin typeface="Verdana" panose="020B0604030504040204" pitchFamily="34" charset="0"/>
              </a:rPr>
            </a:br>
            <a:endParaRPr lang="en-IN" dirty="0"/>
          </a:p>
        </p:txBody>
      </p:sp>
      <p:sp>
        <p:nvSpPr>
          <p:cNvPr id="3" name="Content Placeholder 2">
            <a:extLst>
              <a:ext uri="{FF2B5EF4-FFF2-40B4-BE49-F238E27FC236}">
                <a16:creationId xmlns:a16="http://schemas.microsoft.com/office/drawing/2014/main" id="{8AD6BF67-B379-AD75-D8E4-8FA7B22FC31D}"/>
              </a:ext>
            </a:extLst>
          </p:cNvPr>
          <p:cNvSpPr>
            <a:spLocks noGrp="1"/>
          </p:cNvSpPr>
          <p:nvPr>
            <p:ph idx="1"/>
          </p:nvPr>
        </p:nvSpPr>
        <p:spPr>
          <a:xfrm>
            <a:off x="457200" y="1219200"/>
            <a:ext cx="8229600" cy="4906963"/>
          </a:xfrm>
        </p:spPr>
        <p:txBody>
          <a:bodyPr>
            <a:normAutofit lnSpcReduction="10000"/>
          </a:bodyPr>
          <a:lstStyle/>
          <a:p>
            <a:pPr algn="just"/>
            <a:r>
              <a:rPr lang="en-US" sz="2100" b="0" i="0" dirty="0">
                <a:solidFill>
                  <a:srgbClr val="000000"/>
                </a:solidFill>
                <a:effectLst/>
                <a:latin typeface="Verdana" panose="020B0604030504040204" pitchFamily="34" charset="0"/>
              </a:rPr>
              <a:t>The important security functions provided by the IPsec are as follows −</a:t>
            </a:r>
          </a:p>
          <a:p>
            <a:pPr algn="just">
              <a:buFont typeface="Arial" panose="020B0604020202020204" pitchFamily="34" charset="0"/>
              <a:buChar char="•"/>
            </a:pPr>
            <a:r>
              <a:rPr lang="en-US" sz="2100" b="1" i="0" dirty="0">
                <a:solidFill>
                  <a:srgbClr val="000000"/>
                </a:solidFill>
                <a:effectLst/>
                <a:latin typeface="Verdana" panose="020B0604030504040204" pitchFamily="34" charset="0"/>
              </a:rPr>
              <a:t>Confidentiality</a:t>
            </a:r>
          </a:p>
          <a:p>
            <a:pPr marL="742950" lvl="1" indent="-285750" algn="just">
              <a:buFont typeface="Arial" panose="020B0604020202020204" pitchFamily="34" charset="0"/>
              <a:buChar char="•"/>
            </a:pPr>
            <a:r>
              <a:rPr lang="en-US" sz="2100" b="0" i="0" dirty="0">
                <a:solidFill>
                  <a:srgbClr val="000000"/>
                </a:solidFill>
                <a:effectLst/>
                <a:latin typeface="Verdana" panose="020B0604030504040204" pitchFamily="34" charset="0"/>
              </a:rPr>
              <a:t>Enables communicating nodes to encrypt messages.</a:t>
            </a:r>
          </a:p>
          <a:p>
            <a:pPr marL="742950" lvl="1" indent="-285750" algn="just">
              <a:buFont typeface="Arial" panose="020B0604020202020204" pitchFamily="34" charset="0"/>
              <a:buChar char="•"/>
            </a:pPr>
            <a:r>
              <a:rPr lang="en-US" sz="2100" b="0" i="0" dirty="0">
                <a:solidFill>
                  <a:srgbClr val="000000"/>
                </a:solidFill>
                <a:effectLst/>
                <a:latin typeface="Verdana" panose="020B0604030504040204" pitchFamily="34" charset="0"/>
              </a:rPr>
              <a:t>Prevents eavesdropping by third parties.</a:t>
            </a:r>
          </a:p>
          <a:p>
            <a:pPr algn="just">
              <a:buFont typeface="Arial" panose="020B0604020202020204" pitchFamily="34" charset="0"/>
              <a:buChar char="•"/>
            </a:pPr>
            <a:r>
              <a:rPr lang="en-US" sz="2100" b="1" i="0" dirty="0">
                <a:solidFill>
                  <a:srgbClr val="000000"/>
                </a:solidFill>
                <a:effectLst/>
                <a:latin typeface="Verdana" panose="020B0604030504040204" pitchFamily="34" charset="0"/>
              </a:rPr>
              <a:t>Origin authentication and data integrity.</a:t>
            </a:r>
          </a:p>
          <a:p>
            <a:pPr marL="742950" lvl="1" indent="-285750" algn="just">
              <a:buFont typeface="Arial" panose="020B0604020202020204" pitchFamily="34" charset="0"/>
              <a:buChar char="•"/>
            </a:pPr>
            <a:r>
              <a:rPr lang="en-US" sz="2100" b="0" i="0" dirty="0">
                <a:solidFill>
                  <a:srgbClr val="000000"/>
                </a:solidFill>
                <a:effectLst/>
                <a:latin typeface="Verdana" panose="020B0604030504040204" pitchFamily="34" charset="0"/>
              </a:rPr>
              <a:t>Provides assurance that a received packet was actually transmitted by the party identified as the source in the packet header.</a:t>
            </a:r>
          </a:p>
          <a:p>
            <a:pPr marL="742950" lvl="1" indent="-285750" algn="just">
              <a:buFont typeface="Arial" panose="020B0604020202020204" pitchFamily="34" charset="0"/>
              <a:buChar char="•"/>
            </a:pPr>
            <a:r>
              <a:rPr lang="en-US" sz="2100" b="0" i="0" dirty="0">
                <a:solidFill>
                  <a:srgbClr val="000000"/>
                </a:solidFill>
                <a:effectLst/>
                <a:latin typeface="Verdana" panose="020B0604030504040204" pitchFamily="34" charset="0"/>
              </a:rPr>
              <a:t>Confirms that the packet has not been altered</a:t>
            </a:r>
          </a:p>
          <a:p>
            <a:pPr algn="just">
              <a:buFont typeface="Arial" panose="020B0604020202020204" pitchFamily="34" charset="0"/>
              <a:buChar char="•"/>
            </a:pPr>
            <a:r>
              <a:rPr lang="en-US" sz="2100" b="1" i="0" dirty="0">
                <a:solidFill>
                  <a:srgbClr val="000000"/>
                </a:solidFill>
                <a:effectLst/>
                <a:latin typeface="Verdana" panose="020B0604030504040204" pitchFamily="34" charset="0"/>
              </a:rPr>
              <a:t>Key management.</a:t>
            </a:r>
          </a:p>
          <a:p>
            <a:pPr marL="742950" lvl="1" indent="-285750" algn="just">
              <a:buFont typeface="Arial" panose="020B0604020202020204" pitchFamily="34" charset="0"/>
              <a:buChar char="•"/>
            </a:pPr>
            <a:r>
              <a:rPr lang="en-US" sz="2100" b="0" i="0" dirty="0">
                <a:solidFill>
                  <a:srgbClr val="000000"/>
                </a:solidFill>
                <a:effectLst/>
                <a:latin typeface="Verdana" panose="020B0604030504040204" pitchFamily="34" charset="0"/>
              </a:rPr>
              <a:t>Allows secure exchange of keys.</a:t>
            </a:r>
          </a:p>
          <a:p>
            <a:pPr marL="742950" lvl="1" indent="-285750" algn="just">
              <a:buFont typeface="Arial" panose="020B0604020202020204" pitchFamily="34" charset="0"/>
              <a:buChar char="•"/>
            </a:pPr>
            <a:r>
              <a:rPr lang="en-US" sz="2100" b="0" i="0" dirty="0">
                <a:solidFill>
                  <a:srgbClr val="000000"/>
                </a:solidFill>
                <a:effectLst/>
                <a:latin typeface="Verdana" panose="020B0604030504040204" pitchFamily="34" charset="0"/>
              </a:rPr>
              <a:t>Protection against certain types of security attacks, such as replay attacks.</a:t>
            </a:r>
          </a:p>
          <a:p>
            <a:endParaRPr lang="en-IN" dirty="0"/>
          </a:p>
        </p:txBody>
      </p:sp>
    </p:spTree>
    <p:extLst>
      <p:ext uri="{BB962C8B-B14F-4D97-AF65-F5344CB8AC3E}">
        <p14:creationId xmlns:p14="http://schemas.microsoft.com/office/powerpoint/2010/main" val="63029009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1EBB3-CA5E-90EA-8954-294FE8E599B3}"/>
              </a:ext>
            </a:extLst>
          </p:cNvPr>
          <p:cNvSpPr>
            <a:spLocks noGrp="1"/>
          </p:cNvSpPr>
          <p:nvPr>
            <p:ph type="title"/>
          </p:nvPr>
        </p:nvSpPr>
        <p:spPr/>
        <p:txBody>
          <a:bodyPr>
            <a:normAutofit fontScale="90000"/>
          </a:bodyPr>
          <a:lstStyle/>
          <a:p>
            <a:r>
              <a:rPr lang="en-US" b="0" i="0" dirty="0">
                <a:effectLst/>
                <a:latin typeface="Verdana" panose="020B0604030504040204" pitchFamily="34" charset="0"/>
              </a:rPr>
              <a:t>Operations Within IPsec</a:t>
            </a:r>
            <a:br>
              <a:rPr lang="en-US" b="0" i="0" dirty="0">
                <a:effectLst/>
                <a:latin typeface="Verdana" panose="020B0604030504040204" pitchFamily="34" charset="0"/>
              </a:rPr>
            </a:br>
            <a:endParaRPr lang="en-IN" dirty="0"/>
          </a:p>
        </p:txBody>
      </p:sp>
      <p:sp>
        <p:nvSpPr>
          <p:cNvPr id="3" name="Content Placeholder 2">
            <a:extLst>
              <a:ext uri="{FF2B5EF4-FFF2-40B4-BE49-F238E27FC236}">
                <a16:creationId xmlns:a16="http://schemas.microsoft.com/office/drawing/2014/main" id="{D6191782-3D78-10C0-5864-3890C7817037}"/>
              </a:ext>
            </a:extLst>
          </p:cNvPr>
          <p:cNvSpPr>
            <a:spLocks noGrp="1"/>
          </p:cNvSpPr>
          <p:nvPr>
            <p:ph idx="1"/>
          </p:nvPr>
        </p:nvSpPr>
        <p:spPr/>
        <p:txBody>
          <a:bodyPr/>
          <a:lstStyle/>
          <a:p>
            <a:pPr algn="just"/>
            <a:r>
              <a:rPr lang="en-US" b="0" i="0" dirty="0">
                <a:solidFill>
                  <a:srgbClr val="000000"/>
                </a:solidFill>
                <a:effectLst/>
                <a:latin typeface="Verdana" panose="020B0604030504040204" pitchFamily="34" charset="0"/>
              </a:rPr>
              <a:t>The IPsec suite can be considered to have two separate operations providing a complete set of security services. </a:t>
            </a:r>
          </a:p>
          <a:p>
            <a:pPr algn="just"/>
            <a:r>
              <a:rPr lang="en-US" b="0" i="0" dirty="0">
                <a:solidFill>
                  <a:srgbClr val="000000"/>
                </a:solidFill>
                <a:effectLst/>
                <a:latin typeface="Verdana" panose="020B0604030504040204" pitchFamily="34" charset="0"/>
              </a:rPr>
              <a:t>These two operations are </a:t>
            </a:r>
            <a:r>
              <a:rPr lang="en-US" b="1" i="0" dirty="0">
                <a:solidFill>
                  <a:srgbClr val="000000"/>
                </a:solidFill>
                <a:effectLst/>
                <a:latin typeface="Verdana" panose="020B0604030504040204" pitchFamily="34" charset="0"/>
              </a:rPr>
              <a:t>IPsec Communication and Internet Key Exchange.</a:t>
            </a:r>
          </a:p>
          <a:p>
            <a:endParaRPr lang="en-IN" dirty="0"/>
          </a:p>
        </p:txBody>
      </p:sp>
    </p:spTree>
    <p:extLst>
      <p:ext uri="{BB962C8B-B14F-4D97-AF65-F5344CB8AC3E}">
        <p14:creationId xmlns:p14="http://schemas.microsoft.com/office/powerpoint/2010/main" val="135102439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DEF041-FA3F-C01D-43F3-8A908D539AE2}"/>
              </a:ext>
            </a:extLst>
          </p:cNvPr>
          <p:cNvSpPr>
            <a:spLocks noGrp="1"/>
          </p:cNvSpPr>
          <p:nvPr>
            <p:ph idx="1"/>
          </p:nvPr>
        </p:nvSpPr>
        <p:spPr>
          <a:xfrm>
            <a:off x="457200" y="914400"/>
            <a:ext cx="8229600" cy="5211763"/>
          </a:xfrm>
        </p:spPr>
        <p:txBody>
          <a:bodyPr>
            <a:normAutofit fontScale="92500" lnSpcReduction="10000"/>
          </a:bodyPr>
          <a:lstStyle/>
          <a:p>
            <a:r>
              <a:rPr lang="en-US" sz="4100" b="1" dirty="0">
                <a:effectLst/>
              </a:rPr>
              <a:t>IPsec Communication</a:t>
            </a:r>
          </a:p>
          <a:p>
            <a:pPr algn="just">
              <a:buFont typeface="Arial" panose="020B0604020202020204" pitchFamily="34" charset="0"/>
              <a:buChar char="•"/>
            </a:pPr>
            <a:r>
              <a:rPr lang="en-US" b="0" i="0" dirty="0">
                <a:solidFill>
                  <a:srgbClr val="000000"/>
                </a:solidFill>
                <a:effectLst/>
                <a:latin typeface="Verdana" panose="020B0604030504040204" pitchFamily="34" charset="0"/>
              </a:rPr>
              <a:t>It is typically associated with standard IPsec functionality. It involves encapsulation, encryption, and hashing the IP datagrams and handling all packet processes.</a:t>
            </a:r>
          </a:p>
          <a:p>
            <a:pPr algn="just"/>
            <a:endParaRPr lang="en-US" b="1" i="0" dirty="0">
              <a:solidFill>
                <a:srgbClr val="000000"/>
              </a:solidFill>
              <a:effectLst/>
              <a:latin typeface="Verdana" panose="020B0604030504040204" pitchFamily="34" charset="0"/>
            </a:endParaRPr>
          </a:p>
          <a:p>
            <a:pPr algn="just"/>
            <a:r>
              <a:rPr lang="en-US" b="1" i="0" dirty="0">
                <a:solidFill>
                  <a:srgbClr val="000000"/>
                </a:solidFill>
                <a:effectLst/>
                <a:latin typeface="Verdana" panose="020B0604030504040204" pitchFamily="34" charset="0"/>
              </a:rPr>
              <a:t>Internet Key Exchange.</a:t>
            </a:r>
            <a:endParaRPr lang="en-US" b="0" i="0" dirty="0">
              <a:solidFill>
                <a:srgbClr val="000000"/>
              </a:solidFill>
              <a:effectLst/>
              <a:latin typeface="Verdana" panose="020B0604030504040204" pitchFamily="34" charset="0"/>
            </a:endParaRPr>
          </a:p>
          <a:p>
            <a:pPr algn="just"/>
            <a:r>
              <a:rPr lang="en-US" b="0" i="0" dirty="0">
                <a:solidFill>
                  <a:srgbClr val="000000"/>
                </a:solidFill>
                <a:effectLst/>
                <a:latin typeface="Verdana" panose="020B0604030504040204" pitchFamily="34" charset="0"/>
              </a:rPr>
              <a:t>IKE is responsible for creation of keys for IPsec and providing authentication during key establishment process. </a:t>
            </a:r>
            <a:endParaRPr lang="en-IN" dirty="0"/>
          </a:p>
        </p:txBody>
      </p:sp>
    </p:spTree>
    <p:extLst>
      <p:ext uri="{BB962C8B-B14F-4D97-AF65-F5344CB8AC3E}">
        <p14:creationId xmlns:p14="http://schemas.microsoft.com/office/powerpoint/2010/main" val="165791381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296E1-D0E9-97C5-BB59-4C1A945A425D}"/>
              </a:ext>
            </a:extLst>
          </p:cNvPr>
          <p:cNvSpPr>
            <a:spLocks noGrp="1"/>
          </p:cNvSpPr>
          <p:nvPr>
            <p:ph type="title"/>
          </p:nvPr>
        </p:nvSpPr>
        <p:spPr/>
        <p:txBody>
          <a:bodyPr>
            <a:normAutofit fontScale="90000"/>
          </a:bodyPr>
          <a:lstStyle/>
          <a:p>
            <a:r>
              <a:rPr lang="en-US" b="1" i="0" dirty="0">
                <a:solidFill>
                  <a:srgbClr val="000000"/>
                </a:solidFill>
                <a:effectLst/>
                <a:latin typeface="var(--ff-lato)"/>
              </a:rPr>
              <a:t>IPsec Communication Modes</a:t>
            </a:r>
            <a:br>
              <a:rPr lang="en-US" b="0" i="0" dirty="0">
                <a:solidFill>
                  <a:srgbClr val="000000"/>
                </a:solidFill>
                <a:effectLst/>
                <a:latin typeface="var(--ff-lato)"/>
              </a:rPr>
            </a:br>
            <a:endParaRPr lang="en-IN" dirty="0"/>
          </a:p>
        </p:txBody>
      </p:sp>
      <p:sp>
        <p:nvSpPr>
          <p:cNvPr id="3" name="Content Placeholder 2">
            <a:extLst>
              <a:ext uri="{FF2B5EF4-FFF2-40B4-BE49-F238E27FC236}">
                <a16:creationId xmlns:a16="http://schemas.microsoft.com/office/drawing/2014/main" id="{47071CE0-71B8-EE60-EC0F-8FD554A8A1C8}"/>
              </a:ext>
            </a:extLst>
          </p:cNvPr>
          <p:cNvSpPr>
            <a:spLocks noGrp="1"/>
          </p:cNvSpPr>
          <p:nvPr>
            <p:ph idx="1"/>
          </p:nvPr>
        </p:nvSpPr>
        <p:spPr/>
        <p:txBody>
          <a:bodyPr>
            <a:normAutofit/>
          </a:bodyPr>
          <a:lstStyle/>
          <a:p>
            <a:pPr algn="l"/>
            <a:r>
              <a:rPr lang="en-US" b="0" i="0" dirty="0">
                <a:solidFill>
                  <a:srgbClr val="000000"/>
                </a:solidFill>
                <a:effectLst/>
                <a:latin typeface="Verdana" panose="020B0604030504040204" pitchFamily="34" charset="0"/>
              </a:rPr>
              <a:t>IPsec Communication has two modes of functioning</a:t>
            </a:r>
          </a:p>
          <a:p>
            <a:pPr algn="l"/>
            <a:r>
              <a:rPr lang="en-US" b="1" dirty="0">
                <a:solidFill>
                  <a:srgbClr val="000000"/>
                </a:solidFill>
                <a:latin typeface="Verdana" panose="020B0604030504040204" pitchFamily="34" charset="0"/>
              </a:rPr>
              <a:t>T</a:t>
            </a:r>
            <a:r>
              <a:rPr lang="en-US" b="1" i="0" dirty="0">
                <a:solidFill>
                  <a:srgbClr val="000000"/>
                </a:solidFill>
                <a:effectLst/>
                <a:latin typeface="Verdana" panose="020B0604030504040204" pitchFamily="34" charset="0"/>
              </a:rPr>
              <a:t>ransport mode</a:t>
            </a:r>
          </a:p>
          <a:p>
            <a:pPr algn="just"/>
            <a:endParaRPr lang="en-US" sz="1800" dirty="0">
              <a:solidFill>
                <a:srgbClr val="273239"/>
              </a:solidFill>
              <a:latin typeface="Nunito" pitchFamily="2" charset="0"/>
            </a:endParaRPr>
          </a:p>
          <a:p>
            <a:pPr algn="just"/>
            <a:r>
              <a:rPr lang="en-US" sz="1800" b="0" i="0" dirty="0">
                <a:solidFill>
                  <a:srgbClr val="273239"/>
                </a:solidFill>
                <a:effectLst/>
                <a:latin typeface="Nunito" pitchFamily="2" charset="0"/>
              </a:rPr>
              <a:t>Transport mode encrypts only the payload (records) of the authentic IP packet, leaving the IP header intact. Its used for end-to-end communication between hosts.</a:t>
            </a:r>
            <a:endParaRPr lang="en-US" sz="1800" b="1" i="0" dirty="0">
              <a:solidFill>
                <a:srgbClr val="000000"/>
              </a:solidFill>
              <a:effectLst/>
              <a:latin typeface="Verdana" panose="020B0604030504040204" pitchFamily="34" charset="0"/>
            </a:endParaRPr>
          </a:p>
          <a:p>
            <a:pPr algn="l"/>
            <a:r>
              <a:rPr lang="en-US" b="1" dirty="0">
                <a:solidFill>
                  <a:srgbClr val="000000"/>
                </a:solidFill>
                <a:latin typeface="Verdana" panose="020B0604030504040204" pitchFamily="34" charset="0"/>
              </a:rPr>
              <a:t>T</a:t>
            </a:r>
            <a:r>
              <a:rPr lang="en-US" b="1" i="0" dirty="0">
                <a:solidFill>
                  <a:srgbClr val="000000"/>
                </a:solidFill>
                <a:effectLst/>
                <a:latin typeface="Verdana" panose="020B0604030504040204" pitchFamily="34" charset="0"/>
              </a:rPr>
              <a:t>unnel mode</a:t>
            </a:r>
            <a:r>
              <a:rPr lang="en-US" b="0" i="0" dirty="0">
                <a:solidFill>
                  <a:srgbClr val="000000"/>
                </a:solidFill>
                <a:effectLst/>
                <a:latin typeface="Verdana" panose="020B0604030504040204" pitchFamily="34" charset="0"/>
              </a:rPr>
              <a:t>. </a:t>
            </a:r>
          </a:p>
          <a:p>
            <a:pPr algn="just"/>
            <a:r>
              <a:rPr lang="en-US" sz="1800" dirty="0">
                <a:solidFill>
                  <a:srgbClr val="273239"/>
                </a:solidFill>
                <a:latin typeface="Nunito" pitchFamily="2" charset="0"/>
              </a:rPr>
              <a:t>In tunnel mode, the complete original IP packet which includes the header and payload is encrypted and inserted into the brand-new IP packet. This mode is normally used for network-to-network connections.</a:t>
            </a:r>
          </a:p>
          <a:p>
            <a:endParaRPr lang="en-IN" dirty="0"/>
          </a:p>
        </p:txBody>
      </p:sp>
    </p:spTree>
    <p:extLst>
      <p:ext uri="{BB962C8B-B14F-4D97-AF65-F5344CB8AC3E}">
        <p14:creationId xmlns:p14="http://schemas.microsoft.com/office/powerpoint/2010/main" val="385244478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AADEC-7E60-249A-342F-60B134E8D854}"/>
              </a:ext>
            </a:extLst>
          </p:cNvPr>
          <p:cNvSpPr>
            <a:spLocks noGrp="1"/>
          </p:cNvSpPr>
          <p:nvPr>
            <p:ph type="title"/>
          </p:nvPr>
        </p:nvSpPr>
        <p:spPr/>
        <p:txBody>
          <a:bodyPr/>
          <a:lstStyle/>
          <a:p>
            <a:r>
              <a:rPr lang="en-US" dirty="0" err="1"/>
              <a:t>IPSec</a:t>
            </a:r>
            <a:r>
              <a:rPr lang="en-US" dirty="0"/>
              <a:t> Architecture</a:t>
            </a:r>
            <a:endParaRPr lang="en-IN" dirty="0"/>
          </a:p>
        </p:txBody>
      </p:sp>
      <p:pic>
        <p:nvPicPr>
          <p:cNvPr id="1026" name="Picture 2">
            <a:extLst>
              <a:ext uri="{FF2B5EF4-FFF2-40B4-BE49-F238E27FC236}">
                <a16:creationId xmlns:a16="http://schemas.microsoft.com/office/drawing/2014/main" id="{0097AF9F-373E-6208-E3AC-90E0B999A78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814528" y="1600200"/>
            <a:ext cx="5514944" cy="4525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009927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46C43-F8EC-4BDB-229B-9C992F8DC64F}"/>
              </a:ext>
            </a:extLst>
          </p:cNvPr>
          <p:cNvSpPr>
            <a:spLocks noGrp="1"/>
          </p:cNvSpPr>
          <p:nvPr>
            <p:ph type="title"/>
          </p:nvPr>
        </p:nvSpPr>
        <p:spPr/>
        <p:txBody>
          <a:bodyPr>
            <a:normAutofit fontScale="90000"/>
          </a:bodyPr>
          <a:lstStyle/>
          <a:p>
            <a:r>
              <a:rPr lang="en-US" b="0" i="0" dirty="0">
                <a:solidFill>
                  <a:srgbClr val="000000"/>
                </a:solidFill>
                <a:effectLst/>
                <a:latin typeface="var(--ff-lato)"/>
              </a:rPr>
              <a:t>IPsec Protocols</a:t>
            </a:r>
            <a:br>
              <a:rPr lang="en-US" b="0" i="0" dirty="0">
                <a:solidFill>
                  <a:srgbClr val="000000"/>
                </a:solidFill>
                <a:effectLst/>
                <a:latin typeface="var(--ff-lato)"/>
              </a:rPr>
            </a:br>
            <a:endParaRPr lang="en-IN" dirty="0"/>
          </a:p>
        </p:txBody>
      </p:sp>
      <p:sp>
        <p:nvSpPr>
          <p:cNvPr id="3" name="Content Placeholder 2">
            <a:extLst>
              <a:ext uri="{FF2B5EF4-FFF2-40B4-BE49-F238E27FC236}">
                <a16:creationId xmlns:a16="http://schemas.microsoft.com/office/drawing/2014/main" id="{B3039AC7-8C6E-A18E-7F0F-4303886BB365}"/>
              </a:ext>
            </a:extLst>
          </p:cNvPr>
          <p:cNvSpPr>
            <a:spLocks noGrp="1"/>
          </p:cNvSpPr>
          <p:nvPr>
            <p:ph idx="1"/>
          </p:nvPr>
        </p:nvSpPr>
        <p:spPr/>
        <p:txBody>
          <a:bodyPr>
            <a:normAutofit fontScale="92500" lnSpcReduction="10000"/>
          </a:bodyPr>
          <a:lstStyle/>
          <a:p>
            <a:pPr algn="just"/>
            <a:r>
              <a:rPr lang="en-US" b="0" i="0" dirty="0">
                <a:solidFill>
                  <a:srgbClr val="000000"/>
                </a:solidFill>
                <a:effectLst/>
                <a:latin typeface="Verdana" panose="020B0604030504040204" pitchFamily="34" charset="0"/>
              </a:rPr>
              <a:t>IPsec uses the security protocols to provide desired security services. </a:t>
            </a:r>
          </a:p>
          <a:p>
            <a:pPr algn="just"/>
            <a:r>
              <a:rPr lang="en-US" b="0" i="0" dirty="0">
                <a:solidFill>
                  <a:srgbClr val="000000"/>
                </a:solidFill>
                <a:effectLst/>
                <a:latin typeface="Verdana" panose="020B0604030504040204" pitchFamily="34" charset="0"/>
              </a:rPr>
              <a:t>Security associations between the communicating entities are established and maintained by the security protocol used.</a:t>
            </a:r>
          </a:p>
          <a:p>
            <a:pPr algn="just"/>
            <a:r>
              <a:rPr lang="en-US" b="0" i="0" dirty="0">
                <a:solidFill>
                  <a:srgbClr val="000000"/>
                </a:solidFill>
                <a:effectLst/>
                <a:latin typeface="Verdana" panose="020B0604030504040204" pitchFamily="34" charset="0"/>
              </a:rPr>
              <a:t>There are two security protocols defined by IPsec — Authentication Header (AH) and Encapsulating Security Payload (ESP).</a:t>
            </a:r>
          </a:p>
          <a:p>
            <a:endParaRPr lang="en-IN" dirty="0"/>
          </a:p>
        </p:txBody>
      </p:sp>
    </p:spTree>
    <p:extLst>
      <p:ext uri="{BB962C8B-B14F-4D97-AF65-F5344CB8AC3E}">
        <p14:creationId xmlns:p14="http://schemas.microsoft.com/office/powerpoint/2010/main" val="361184900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CA48D1-F1E4-F3AD-9AF9-261A154048C8}"/>
              </a:ext>
            </a:extLst>
          </p:cNvPr>
          <p:cNvSpPr>
            <a:spLocks noGrp="1"/>
          </p:cNvSpPr>
          <p:nvPr>
            <p:ph idx="1"/>
          </p:nvPr>
        </p:nvSpPr>
        <p:spPr>
          <a:xfrm>
            <a:off x="457200" y="685800"/>
            <a:ext cx="8229600" cy="5440363"/>
          </a:xfrm>
        </p:spPr>
        <p:txBody>
          <a:bodyPr>
            <a:normAutofit fontScale="85000" lnSpcReduction="20000"/>
          </a:bodyPr>
          <a:lstStyle/>
          <a:p>
            <a:pPr algn="l"/>
            <a:r>
              <a:rPr lang="en-US" b="1" i="0" dirty="0">
                <a:effectLst/>
                <a:latin typeface="Verdana" panose="020B0604030504040204" pitchFamily="34" charset="0"/>
              </a:rPr>
              <a:t>Authentication Header</a:t>
            </a:r>
          </a:p>
          <a:p>
            <a:pPr algn="just"/>
            <a:r>
              <a:rPr lang="en-US" b="0" i="0" dirty="0">
                <a:solidFill>
                  <a:srgbClr val="000000"/>
                </a:solidFill>
                <a:effectLst/>
                <a:latin typeface="Verdana" panose="020B0604030504040204" pitchFamily="34" charset="0"/>
              </a:rPr>
              <a:t>The AH protocol provides service of data integrity and origin authentication. It optionally provides for message replay resistance. However, it does not provide any form of confidentiality.</a:t>
            </a:r>
          </a:p>
          <a:p>
            <a:pPr marL="0" indent="0" algn="l">
              <a:buNone/>
            </a:pPr>
            <a:endParaRPr lang="en-US" b="0" i="0" dirty="0">
              <a:effectLst/>
              <a:latin typeface="Verdana" panose="020B0604030504040204" pitchFamily="34" charset="0"/>
            </a:endParaRPr>
          </a:p>
          <a:p>
            <a:pPr algn="l"/>
            <a:r>
              <a:rPr lang="en-US" b="1" i="0" dirty="0">
                <a:effectLst/>
                <a:latin typeface="Verdana" panose="020B0604030504040204" pitchFamily="34" charset="0"/>
              </a:rPr>
              <a:t>Encapsulation Security Protocol (ESP)</a:t>
            </a:r>
          </a:p>
          <a:p>
            <a:pPr algn="just"/>
            <a:r>
              <a:rPr lang="en-US" b="0" i="0" dirty="0">
                <a:solidFill>
                  <a:srgbClr val="000000"/>
                </a:solidFill>
                <a:effectLst/>
                <a:latin typeface="Verdana" panose="020B0604030504040204" pitchFamily="34" charset="0"/>
              </a:rPr>
              <a:t>ESP provides security services such as confidentiality, integrity, origin authentication, and optional replay resistance. The set of services provided depends on options selected at the time of Security Association (SA) establishment.</a:t>
            </a:r>
          </a:p>
          <a:p>
            <a:endParaRPr lang="en-IN" dirty="0"/>
          </a:p>
        </p:txBody>
      </p:sp>
    </p:spTree>
    <p:extLst>
      <p:ext uri="{BB962C8B-B14F-4D97-AF65-F5344CB8AC3E}">
        <p14:creationId xmlns:p14="http://schemas.microsoft.com/office/powerpoint/2010/main" val="202852086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a:t>Open source/Free/ Trial Tools: Implementation of Cryptographic Techniques -OpenSSL</a:t>
            </a:r>
          </a:p>
        </p:txBody>
      </p:sp>
      <p:sp>
        <p:nvSpPr>
          <p:cNvPr id="3" name="Content Placeholder 2"/>
          <p:cNvSpPr>
            <a:spLocks noGrp="1"/>
          </p:cNvSpPr>
          <p:nvPr>
            <p:ph idx="1"/>
          </p:nvPr>
        </p:nvSpPr>
        <p:spPr/>
        <p:txBody>
          <a:bodyPr>
            <a:normAutofit fontScale="92500" lnSpcReduction="10000"/>
          </a:bodyPr>
          <a:lstStyle/>
          <a:p>
            <a:pPr algn="just"/>
            <a:r>
              <a:rPr lang="en-US" dirty="0"/>
              <a:t>OpenSSL is an open source tool for using the Secure Socket Layer (SSL) and Transport Layer Security (TLS) protocols for </a:t>
            </a:r>
            <a:r>
              <a:rPr lang="en-US" b="1" dirty="0"/>
              <a:t>Web authentication</a:t>
            </a:r>
          </a:p>
          <a:p>
            <a:pPr algn="just"/>
            <a:r>
              <a:rPr lang="en-US" dirty="0"/>
              <a:t>OpenSSL </a:t>
            </a:r>
            <a:r>
              <a:rPr lang="en-US" dirty="0">
                <a:solidFill>
                  <a:srgbClr val="FF0000"/>
                </a:solidFill>
              </a:rPr>
              <a:t>offers cryptographic functions</a:t>
            </a:r>
            <a:r>
              <a:rPr lang="en-US" dirty="0"/>
              <a:t> to support SSL/TLS protocols. </a:t>
            </a:r>
          </a:p>
          <a:p>
            <a:pPr algn="just"/>
            <a:r>
              <a:rPr lang="en-US" dirty="0"/>
              <a:t>In SSL security, websites use digital certificates to prove their legitimacy.</a:t>
            </a:r>
          </a:p>
          <a:p>
            <a:pPr algn="just"/>
            <a:r>
              <a:rPr lang="en-US" dirty="0"/>
              <a:t>OpenSSL is written in the </a:t>
            </a:r>
            <a:r>
              <a:rPr lang="en-US" b="1" dirty="0"/>
              <a:t>C programming </a:t>
            </a:r>
            <a:r>
              <a:rPr lang="en-US" dirty="0"/>
              <a:t>language and depend on different ciphers and algorithms to </a:t>
            </a:r>
            <a:r>
              <a:rPr lang="en-US" b="1" dirty="0"/>
              <a:t>provide encryption.</a:t>
            </a:r>
          </a:p>
          <a:p>
            <a:endParaRPr 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Autofit/>
          </a:bodyPr>
          <a:lstStyle/>
          <a:p>
            <a:r>
              <a:rPr lang="en-US" sz="2800" dirty="0"/>
              <a:t> OpenSSL is split into four principal components</a:t>
            </a:r>
          </a:p>
        </p:txBody>
      </p:sp>
      <p:sp>
        <p:nvSpPr>
          <p:cNvPr id="3" name="Content Placeholder 2"/>
          <p:cNvSpPr>
            <a:spLocks noGrp="1"/>
          </p:cNvSpPr>
          <p:nvPr>
            <p:ph idx="1"/>
          </p:nvPr>
        </p:nvSpPr>
        <p:spPr>
          <a:xfrm>
            <a:off x="457200" y="1066800"/>
            <a:ext cx="8458200" cy="5486400"/>
          </a:xfrm>
        </p:spPr>
        <p:txBody>
          <a:bodyPr>
            <a:noAutofit/>
          </a:bodyPr>
          <a:lstStyle/>
          <a:p>
            <a:pPr fontAlgn="base"/>
            <a:r>
              <a:rPr lang="en-US" sz="1800" dirty="0" err="1">
                <a:solidFill>
                  <a:srgbClr val="FF0000"/>
                </a:solidFill>
              </a:rPr>
              <a:t>libcrypto</a:t>
            </a:r>
            <a:r>
              <a:rPr lang="en-US" sz="1800" dirty="0"/>
              <a:t>. </a:t>
            </a:r>
          </a:p>
          <a:p>
            <a:pPr fontAlgn="base">
              <a:buNone/>
            </a:pPr>
            <a:r>
              <a:rPr lang="en-US" sz="1800" dirty="0"/>
              <a:t>     This is the core library for </a:t>
            </a:r>
            <a:r>
              <a:rPr lang="en-US" sz="1800" b="1" dirty="0">
                <a:solidFill>
                  <a:srgbClr val="FF0000"/>
                </a:solidFill>
              </a:rPr>
              <a:t>providing</a:t>
            </a:r>
            <a:r>
              <a:rPr lang="en-US" sz="1800" dirty="0"/>
              <a:t> implementations of </a:t>
            </a:r>
            <a:r>
              <a:rPr lang="en-US" sz="1800" b="1" dirty="0"/>
              <a:t>numerous cryptographic primitives.</a:t>
            </a:r>
            <a:r>
              <a:rPr lang="en-US" sz="1800" dirty="0"/>
              <a:t> In </a:t>
            </a:r>
            <a:r>
              <a:rPr lang="en-US" sz="1800" b="1" dirty="0">
                <a:solidFill>
                  <a:srgbClr val="FF0000"/>
                </a:solidFill>
              </a:rPr>
              <a:t>addition it provides</a:t>
            </a:r>
            <a:r>
              <a:rPr lang="en-US" sz="1800" dirty="0"/>
              <a:t> a set of supporting services which are </a:t>
            </a:r>
            <a:r>
              <a:rPr lang="en-US" sz="1800" b="1" dirty="0"/>
              <a:t>used by </a:t>
            </a:r>
            <a:r>
              <a:rPr lang="en-US" sz="1800" dirty="0" err="1"/>
              <a:t>libssl</a:t>
            </a:r>
            <a:r>
              <a:rPr lang="en-US" sz="1800" dirty="0"/>
              <a:t> .</a:t>
            </a:r>
          </a:p>
          <a:p>
            <a:r>
              <a:rPr lang="en-US" sz="1800" dirty="0" err="1">
                <a:solidFill>
                  <a:srgbClr val="FF0000"/>
                </a:solidFill>
              </a:rPr>
              <a:t>Libssl</a:t>
            </a:r>
            <a:endParaRPr lang="en-US" sz="1800" dirty="0">
              <a:solidFill>
                <a:srgbClr val="FF0000"/>
              </a:solidFill>
            </a:endParaRPr>
          </a:p>
          <a:p>
            <a:pPr>
              <a:buNone/>
            </a:pPr>
            <a:r>
              <a:rPr lang="en-US" sz="1800" dirty="0"/>
              <a:t>     This library </a:t>
            </a:r>
            <a:r>
              <a:rPr lang="en-US" sz="1800" b="1" dirty="0"/>
              <a:t>depends</a:t>
            </a:r>
            <a:r>
              <a:rPr lang="en-US" sz="1800" dirty="0"/>
              <a:t> on </a:t>
            </a:r>
            <a:r>
              <a:rPr lang="en-US" sz="1800" dirty="0" err="1"/>
              <a:t>libcrypto</a:t>
            </a:r>
            <a:r>
              <a:rPr lang="en-US" sz="1800" dirty="0"/>
              <a:t> and </a:t>
            </a:r>
            <a:r>
              <a:rPr lang="en-US" sz="1800" b="1" dirty="0"/>
              <a:t>implements</a:t>
            </a:r>
            <a:r>
              <a:rPr lang="en-US" sz="1800" dirty="0"/>
              <a:t> the TLS and DTLS protocols.</a:t>
            </a:r>
          </a:p>
          <a:p>
            <a:pPr>
              <a:buNone/>
            </a:pPr>
            <a:endParaRPr lang="en-US" sz="1800" dirty="0"/>
          </a:p>
          <a:p>
            <a:pPr fontAlgn="base"/>
            <a:r>
              <a:rPr lang="en-US" sz="1800" dirty="0">
                <a:solidFill>
                  <a:srgbClr val="FF0000"/>
                </a:solidFill>
              </a:rPr>
              <a:t>Engine</a:t>
            </a:r>
            <a:r>
              <a:rPr lang="en-US" sz="1800" dirty="0"/>
              <a:t>. The functionality of </a:t>
            </a:r>
            <a:r>
              <a:rPr lang="en-US" sz="1800" dirty="0" err="1"/>
              <a:t>libcrypto</a:t>
            </a:r>
            <a:r>
              <a:rPr lang="en-US" sz="1800" dirty="0"/>
              <a:t> can be extended through the Engine API.</a:t>
            </a:r>
          </a:p>
          <a:p>
            <a:pPr fontAlgn="base">
              <a:buNone/>
            </a:pPr>
            <a:r>
              <a:rPr lang="en-US" sz="1800" dirty="0"/>
              <a:t>     Typically engines are dynamically loadable modules that are registered with </a:t>
            </a:r>
            <a:r>
              <a:rPr lang="en-US" sz="1800" dirty="0" err="1"/>
              <a:t>libcrypto</a:t>
            </a:r>
            <a:r>
              <a:rPr lang="en-US" sz="1800" dirty="0"/>
              <a:t>  to provide </a:t>
            </a:r>
            <a:r>
              <a:rPr lang="en-US" sz="1800" b="1" dirty="0"/>
              <a:t>cryptographic algorithm implementation</a:t>
            </a:r>
          </a:p>
          <a:p>
            <a:r>
              <a:rPr lang="en-US" sz="1800" dirty="0">
                <a:solidFill>
                  <a:srgbClr val="FF0000"/>
                </a:solidFill>
              </a:rPr>
              <a:t>Applications</a:t>
            </a:r>
          </a:p>
          <a:p>
            <a:pPr fontAlgn="base">
              <a:buNone/>
            </a:pPr>
            <a:r>
              <a:rPr lang="en-US" sz="1800" dirty="0"/>
              <a:t>       The applications are a set of command line tools that use the underlying </a:t>
            </a:r>
            <a:r>
              <a:rPr lang="en-US" sz="1800" dirty="0" err="1"/>
              <a:t>libssl</a:t>
            </a:r>
            <a:r>
              <a:rPr lang="en-US" sz="1800" dirty="0"/>
              <a:t> and </a:t>
            </a:r>
            <a:r>
              <a:rPr lang="en-US" sz="1800" dirty="0" err="1"/>
              <a:t>libcrypto</a:t>
            </a:r>
            <a:r>
              <a:rPr lang="en-US" sz="1800" dirty="0"/>
              <a:t> components to </a:t>
            </a:r>
            <a:r>
              <a:rPr lang="en-US" sz="1800" b="1" dirty="0"/>
              <a:t>provide a set of cryptographic </a:t>
            </a:r>
            <a:r>
              <a:rPr lang="en-US" sz="1800" dirty="0"/>
              <a:t>and </a:t>
            </a:r>
            <a:r>
              <a:rPr lang="en-US" sz="1800" b="1" dirty="0"/>
              <a:t>other features </a:t>
            </a:r>
            <a:r>
              <a:rPr lang="en-US" sz="1800" dirty="0">
                <a:solidFill>
                  <a:srgbClr val="FF0000"/>
                </a:solidFill>
              </a:rPr>
              <a:t>such as</a:t>
            </a:r>
          </a:p>
          <a:p>
            <a:pPr fontAlgn="base">
              <a:buNone/>
            </a:pPr>
            <a:r>
              <a:rPr lang="en-US" sz="1800" dirty="0"/>
              <a:t>                      a) Key and parameter generation and inspection</a:t>
            </a:r>
          </a:p>
          <a:p>
            <a:pPr lvl="2" fontAlgn="base">
              <a:buNone/>
            </a:pPr>
            <a:r>
              <a:rPr lang="en-US" sz="1800" dirty="0"/>
              <a:t>     b)Certificate generation and inspection</a:t>
            </a:r>
          </a:p>
          <a:p>
            <a:pPr lvl="2" fontAlgn="base">
              <a:buNone/>
            </a:pPr>
            <a:r>
              <a:rPr lang="en-US" sz="1800" dirty="0"/>
              <a:t>     c)SSL/TLS test tools</a:t>
            </a:r>
          </a:p>
          <a:p>
            <a:pPr lvl="2" fontAlgn="base">
              <a:buNone/>
            </a:pPr>
            <a:r>
              <a:rPr lang="en-US" sz="1800" dirty="0"/>
              <a:t>     d)ASN.1 inspection</a:t>
            </a:r>
          </a:p>
          <a:p>
            <a:pPr lvl="2" fontAlgn="base">
              <a:buNone/>
            </a:pPr>
            <a:r>
              <a:rPr lang="en-US" sz="1800" dirty="0"/>
              <a:t>     </a:t>
            </a:r>
          </a:p>
          <a:p>
            <a:endParaRPr lang="en-US" sz="18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Autofit/>
          </a:bodyPr>
          <a:lstStyle/>
          <a:p>
            <a:r>
              <a:rPr lang="en-US" sz="2800" b="1" dirty="0"/>
              <a:t> OpenSSL  characteristics</a:t>
            </a:r>
          </a:p>
        </p:txBody>
      </p:sp>
      <p:sp>
        <p:nvSpPr>
          <p:cNvPr id="3" name="Content Placeholder 2"/>
          <p:cNvSpPr>
            <a:spLocks noGrp="1"/>
          </p:cNvSpPr>
          <p:nvPr>
            <p:ph idx="1"/>
          </p:nvPr>
        </p:nvSpPr>
        <p:spPr>
          <a:xfrm>
            <a:off x="457200" y="990600"/>
            <a:ext cx="8229600" cy="5638800"/>
          </a:xfrm>
        </p:spPr>
        <p:txBody>
          <a:bodyPr>
            <a:normAutofit fontScale="92500" lnSpcReduction="10000"/>
          </a:bodyPr>
          <a:lstStyle/>
          <a:p>
            <a:pPr algn="just"/>
            <a:r>
              <a:rPr lang="en-US" b="1" dirty="0">
                <a:solidFill>
                  <a:srgbClr val="FF0000"/>
                </a:solidFill>
              </a:rPr>
              <a:t>EVP</a:t>
            </a:r>
            <a:r>
              <a:rPr lang="en-US" dirty="0"/>
              <a:t>. The EVP (envelope) API level provides the high-level abstract interface to cryptographic functionality separate from the concrete implementation binding. </a:t>
            </a:r>
          </a:p>
          <a:p>
            <a:pPr algn="just">
              <a:buNone/>
            </a:pPr>
            <a:r>
              <a:rPr lang="en-US" dirty="0"/>
              <a:t>    Direct use of concrete cryptographic algorithm implementations via interfaces</a:t>
            </a:r>
          </a:p>
          <a:p>
            <a:pPr algn="just">
              <a:buNone/>
            </a:pPr>
            <a:r>
              <a:rPr lang="en-US" dirty="0"/>
              <a:t>     The EVP layer also </a:t>
            </a:r>
            <a:r>
              <a:rPr lang="en-US" b="1" dirty="0"/>
              <a:t>provides</a:t>
            </a:r>
            <a:r>
              <a:rPr lang="en-US" dirty="0"/>
              <a:t> </a:t>
            </a:r>
            <a:r>
              <a:rPr lang="en-US" dirty="0">
                <a:solidFill>
                  <a:srgbClr val="FF0000"/>
                </a:solidFill>
              </a:rPr>
              <a:t>composite operations</a:t>
            </a:r>
            <a:r>
              <a:rPr lang="en-US" dirty="0"/>
              <a:t>, such as </a:t>
            </a:r>
            <a:r>
              <a:rPr lang="en-US" dirty="0">
                <a:solidFill>
                  <a:srgbClr val="FF0000"/>
                </a:solidFill>
              </a:rPr>
              <a:t>signing and verifying</a:t>
            </a:r>
            <a:r>
              <a:rPr lang="en-US" dirty="0"/>
              <a:t>. Certain composite operations are also provided as an EVP-level operation (such as HMAC-SHA256). </a:t>
            </a:r>
          </a:p>
          <a:p>
            <a:pPr algn="just">
              <a:buNone/>
            </a:pPr>
            <a:r>
              <a:rPr lang="en-US" dirty="0"/>
              <a:t>     EVP also </a:t>
            </a:r>
            <a:r>
              <a:rPr lang="en-US" b="1" dirty="0"/>
              <a:t>allow</a:t>
            </a:r>
            <a:r>
              <a:rPr lang="en-US" dirty="0"/>
              <a:t> use of cryptographic algorithms in an </a:t>
            </a:r>
            <a:r>
              <a:rPr lang="en-US" b="1" dirty="0"/>
              <a:t>algorithm-agnostic manner</a:t>
            </a:r>
            <a:endParaRPr lang="en-US" dirty="0"/>
          </a:p>
          <a:p>
            <a:endParaRPr 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a:t>Conceptual Component View</a:t>
            </a:r>
            <a:endParaRPr lang="en-US" dirty="0"/>
          </a:p>
        </p:txBody>
      </p:sp>
      <p:pic>
        <p:nvPicPr>
          <p:cNvPr id="4" name="Content Placeholder 3" descr="AsIsComponent.png"/>
          <p:cNvPicPr>
            <a:picLocks noGrp="1" noChangeAspect="1"/>
          </p:cNvPicPr>
          <p:nvPr>
            <p:ph idx="1"/>
          </p:nvPr>
        </p:nvPicPr>
        <p:blipFill>
          <a:blip r:embed="rId2" cstate="print"/>
          <a:stretch>
            <a:fillRect/>
          </a:stretch>
        </p:blipFill>
        <p:spPr>
          <a:xfrm>
            <a:off x="0" y="921050"/>
            <a:ext cx="9144000" cy="5936950"/>
          </a:xfr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8534400" cy="1143000"/>
          </a:xfrm>
        </p:spPr>
        <p:txBody>
          <a:bodyPr>
            <a:noAutofit/>
          </a:bodyPr>
          <a:lstStyle/>
          <a:p>
            <a:r>
              <a:rPr lang="en-US" sz="1800" b="1" dirty="0"/>
              <a:t>Packaging View</a:t>
            </a:r>
            <a:br>
              <a:rPr lang="en-US" sz="1800" b="1" dirty="0"/>
            </a:br>
            <a:r>
              <a:rPr lang="en-US" sz="1800" dirty="0"/>
              <a:t>The components described above are packaged into libraries (</a:t>
            </a:r>
            <a:r>
              <a:rPr lang="en-US" sz="1800" dirty="0" err="1"/>
              <a:t>libcrypto</a:t>
            </a:r>
            <a:r>
              <a:rPr lang="en-US" sz="1800" dirty="0"/>
              <a:t> and </a:t>
            </a:r>
            <a:r>
              <a:rPr lang="en-US" sz="1800" dirty="0" err="1"/>
              <a:t>libssl</a:t>
            </a:r>
            <a:r>
              <a:rPr lang="en-US" sz="1800" dirty="0"/>
              <a:t>) and associated engine interfaces as well as an “</a:t>
            </a:r>
            <a:r>
              <a:rPr lang="en-US" sz="1800" dirty="0" err="1"/>
              <a:t>openssl</a:t>
            </a:r>
            <a:r>
              <a:rPr lang="en-US" sz="1800" dirty="0"/>
              <a:t>” command line executable for running the various applications. This is illustrated in the diagram below.</a:t>
            </a:r>
          </a:p>
        </p:txBody>
      </p:sp>
      <p:pic>
        <p:nvPicPr>
          <p:cNvPr id="4" name="Content Placeholder 3" descr="AsIsPackaging.png"/>
          <p:cNvPicPr>
            <a:picLocks noGrp="1" noChangeAspect="1"/>
          </p:cNvPicPr>
          <p:nvPr>
            <p:ph idx="1"/>
          </p:nvPr>
        </p:nvPicPr>
        <p:blipFill>
          <a:blip r:embed="rId2" cstate="print"/>
          <a:stretch>
            <a:fillRect/>
          </a:stretch>
        </p:blipFill>
        <p:spPr>
          <a:xfrm>
            <a:off x="1600200" y="1828800"/>
            <a:ext cx="6553200" cy="4572000"/>
          </a:xfr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480218"/>
            <a:ext cx="8229600" cy="5897563"/>
          </a:xfrm>
        </p:spPr>
        <p:txBody>
          <a:bodyPr>
            <a:normAutofit fontScale="70000" lnSpcReduction="20000"/>
          </a:bodyPr>
          <a:lstStyle/>
          <a:p>
            <a:pPr algn="just" fontAlgn="base"/>
            <a:r>
              <a:rPr lang="fr-FR" dirty="0"/>
              <a:t>Applications: Command line applications, </a:t>
            </a:r>
            <a:r>
              <a:rPr lang="fr-FR" dirty="0" err="1"/>
              <a:t>e.g</a:t>
            </a:r>
            <a:r>
              <a:rPr lang="fr-FR" dirty="0"/>
              <a:t>. ca, </a:t>
            </a:r>
            <a:r>
              <a:rPr lang="fr-FR" dirty="0" err="1"/>
              <a:t>ciphers</a:t>
            </a:r>
            <a:r>
              <a:rPr lang="fr-FR" dirty="0"/>
              <a:t>, </a:t>
            </a:r>
            <a:r>
              <a:rPr lang="fr-FR" dirty="0" err="1"/>
              <a:t>cms</a:t>
            </a:r>
            <a:r>
              <a:rPr lang="fr-FR" dirty="0"/>
              <a:t>, </a:t>
            </a:r>
            <a:r>
              <a:rPr lang="fr-FR" dirty="0" err="1"/>
              <a:t>dgst</a:t>
            </a:r>
            <a:r>
              <a:rPr lang="fr-FR" dirty="0"/>
              <a:t> </a:t>
            </a:r>
            <a:r>
              <a:rPr lang="fr-FR" dirty="0" err="1"/>
              <a:t>etc</a:t>
            </a:r>
            <a:endParaRPr lang="fr-FR" dirty="0"/>
          </a:p>
          <a:p>
            <a:pPr algn="just" fontAlgn="base"/>
            <a:br>
              <a:rPr lang="fr-FR" dirty="0"/>
            </a:br>
            <a:r>
              <a:rPr lang="en-US" dirty="0"/>
              <a:t>Protocols: Provides capabilities for communicating between endpoints according to standard protocols</a:t>
            </a:r>
          </a:p>
          <a:p>
            <a:pPr lvl="1" algn="just" fontAlgn="base"/>
            <a:r>
              <a:rPr lang="en-US" dirty="0"/>
              <a:t>TLS Protocols: An implementation of all supported TLS/DTLS protocols and supporting infrastructure such as:</a:t>
            </a:r>
          </a:p>
          <a:p>
            <a:pPr lvl="2" algn="just" fontAlgn="base"/>
            <a:r>
              <a:rPr lang="en-US" dirty="0"/>
              <a:t>SSL BIO: A BIO for communication using TLS</a:t>
            </a:r>
          </a:p>
          <a:p>
            <a:pPr lvl="2" algn="just" fontAlgn="base"/>
            <a:r>
              <a:rPr lang="en-US" dirty="0" err="1"/>
              <a:t>Statem</a:t>
            </a:r>
            <a:r>
              <a:rPr lang="en-US" dirty="0"/>
              <a:t>: The TLS state machine</a:t>
            </a:r>
          </a:p>
          <a:p>
            <a:pPr lvl="2" algn="just" fontAlgn="base"/>
            <a:r>
              <a:rPr lang="en-US" dirty="0"/>
              <a:t>Record: The TLS record layer</a:t>
            </a:r>
          </a:p>
          <a:p>
            <a:pPr lvl="1" algn="just" fontAlgn="base"/>
            <a:r>
              <a:rPr lang="en-US" dirty="0"/>
              <a:t>Other Protocols</a:t>
            </a:r>
          </a:p>
          <a:p>
            <a:pPr lvl="2" algn="just" fontAlgn="base"/>
            <a:r>
              <a:rPr lang="en-US" dirty="0"/>
              <a:t>CMS: An implementation of the Cryptographic Message Syntax standard</a:t>
            </a:r>
          </a:p>
          <a:p>
            <a:pPr lvl="2" algn="just" fontAlgn="base"/>
            <a:r>
              <a:rPr lang="en-US" dirty="0"/>
              <a:t>OCSP: An implementation of Online Certificate Status Protocol</a:t>
            </a:r>
          </a:p>
          <a:p>
            <a:pPr lvl="2" algn="just" fontAlgn="base"/>
            <a:r>
              <a:rPr lang="en-US" dirty="0"/>
              <a:t>TS: An implementation of the Timestamp Protocol</a:t>
            </a:r>
          </a:p>
          <a:p>
            <a:pPr algn="just" fontAlgn="base"/>
            <a:r>
              <a:rPr lang="en-US" dirty="0"/>
              <a:t>Supporting Services: Components specifically designed to support the implementation of protocol code</a:t>
            </a:r>
          </a:p>
          <a:p>
            <a:pPr lvl="1" algn="just" fontAlgn="base"/>
            <a:r>
              <a:rPr lang="en-US" dirty="0"/>
              <a:t>Packet: Internal component for reading protocol messages</a:t>
            </a:r>
          </a:p>
          <a:p>
            <a:pPr lvl="1" algn="just" fontAlgn="base"/>
            <a:r>
              <a:rPr lang="en-US" dirty="0" err="1"/>
              <a:t>Wpacket</a:t>
            </a:r>
            <a:r>
              <a:rPr lang="en-US" dirty="0"/>
              <a:t>: Internal component for writing protocol messages</a:t>
            </a:r>
            <a:br>
              <a:rPr lang="en-US" dirty="0"/>
            </a:br>
            <a:endParaRPr 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a:t>Hash values</a:t>
            </a:r>
          </a:p>
        </p:txBody>
      </p:sp>
      <p:sp>
        <p:nvSpPr>
          <p:cNvPr id="3" name="Content Placeholder 2"/>
          <p:cNvSpPr>
            <a:spLocks noGrp="1"/>
          </p:cNvSpPr>
          <p:nvPr>
            <p:ph idx="1"/>
          </p:nvPr>
        </p:nvSpPr>
        <p:spPr>
          <a:xfrm>
            <a:off x="457200" y="914400"/>
            <a:ext cx="8229600" cy="5638800"/>
          </a:xfrm>
        </p:spPr>
        <p:txBody>
          <a:bodyPr>
            <a:normAutofit fontScale="77500" lnSpcReduction="20000"/>
          </a:bodyPr>
          <a:lstStyle/>
          <a:p>
            <a:pPr algn="just"/>
            <a:r>
              <a:rPr lang="en-US" dirty="0"/>
              <a:t>Hash values can be thought of </a:t>
            </a:r>
            <a:r>
              <a:rPr lang="en-US" b="1" dirty="0"/>
              <a:t>as fingerprints </a:t>
            </a:r>
            <a:r>
              <a:rPr lang="en-US" dirty="0"/>
              <a:t>for files. </a:t>
            </a:r>
          </a:p>
          <a:p>
            <a:pPr algn="just"/>
            <a:r>
              <a:rPr lang="en-US" dirty="0"/>
              <a:t>The contents of a file are </a:t>
            </a:r>
            <a:r>
              <a:rPr lang="en-US" dirty="0">
                <a:solidFill>
                  <a:srgbClr val="FF0000"/>
                </a:solidFill>
              </a:rPr>
              <a:t>processed through a cryptographic algorithm</a:t>
            </a:r>
            <a:r>
              <a:rPr lang="en-US" dirty="0"/>
              <a:t>, and a unique numerical value – the hash value - is produced that identifies the contents of the file. </a:t>
            </a:r>
          </a:p>
          <a:p>
            <a:pPr algn="just"/>
            <a:r>
              <a:rPr lang="en-US" dirty="0"/>
              <a:t>A hash value is </a:t>
            </a:r>
            <a:r>
              <a:rPr lang="en-US" b="1" dirty="0"/>
              <a:t>a numeric value of a fixed length that uniquely identifies data</a:t>
            </a:r>
            <a:r>
              <a:rPr lang="en-US" dirty="0"/>
              <a:t>. </a:t>
            </a:r>
          </a:p>
          <a:p>
            <a:pPr algn="just"/>
            <a:r>
              <a:rPr lang="en-US" dirty="0"/>
              <a:t>Hash values represent large amounts of data as much smaller numeric values, so they are used with digital signatures. </a:t>
            </a:r>
          </a:p>
          <a:p>
            <a:pPr algn="just"/>
            <a:r>
              <a:rPr lang="en-US" dirty="0"/>
              <a:t>You can sign a hash value more efficiently than signing the larger value.</a:t>
            </a:r>
          </a:p>
          <a:p>
            <a:pPr algn="just"/>
            <a:r>
              <a:rPr lang="en-US" dirty="0"/>
              <a:t>If the contents are modified in any way, the value of the hash will also change significantly. </a:t>
            </a:r>
          </a:p>
          <a:p>
            <a:pPr algn="just"/>
            <a:r>
              <a:rPr lang="en-US" dirty="0"/>
              <a:t>Two algorithms are currently widely used to produce hash values:  </a:t>
            </a:r>
            <a:r>
              <a:rPr lang="en-US" b="1" dirty="0"/>
              <a:t>MD5 and SHA1 </a:t>
            </a:r>
            <a:r>
              <a:rPr lang="en-US" dirty="0"/>
              <a:t>algorithms.</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763000" cy="6629400"/>
          </a:xfrm>
        </p:spPr>
        <p:txBody>
          <a:bodyPr>
            <a:normAutofit fontScale="85000" lnSpcReduction="20000"/>
          </a:bodyPr>
          <a:lstStyle/>
          <a:p>
            <a:pPr algn="just" fontAlgn="base"/>
            <a:r>
              <a:rPr lang="en-US" dirty="0"/>
              <a:t>Hashing is an algorithm performed on data such as a file or message to produce a number called </a:t>
            </a:r>
            <a:r>
              <a:rPr lang="en-US" b="1" dirty="0">
                <a:solidFill>
                  <a:srgbClr val="FF0000"/>
                </a:solidFill>
              </a:rPr>
              <a:t>a hash </a:t>
            </a:r>
            <a:r>
              <a:rPr lang="en-US" dirty="0"/>
              <a:t>(sometimes called a checksum). </a:t>
            </a:r>
          </a:p>
          <a:p>
            <a:pPr algn="just" fontAlgn="base"/>
            <a:r>
              <a:rPr lang="en-US" dirty="0"/>
              <a:t>The hash is used to </a:t>
            </a:r>
            <a:r>
              <a:rPr lang="en-US" dirty="0">
                <a:solidFill>
                  <a:srgbClr val="FF0000"/>
                </a:solidFill>
              </a:rPr>
              <a:t>verify</a:t>
            </a:r>
            <a:r>
              <a:rPr lang="en-US" dirty="0"/>
              <a:t> that data is not modified, tampered with, or corrupted. </a:t>
            </a:r>
          </a:p>
          <a:p>
            <a:pPr algn="just" fontAlgn="base"/>
            <a:r>
              <a:rPr lang="en-US" dirty="0"/>
              <a:t>In other words, you can verify the data has maintained integrity.</a:t>
            </a:r>
          </a:p>
          <a:p>
            <a:pPr algn="just" fontAlgn="base"/>
            <a:r>
              <a:rPr lang="en-US" dirty="0"/>
              <a:t>Hashing is the process of transforming any given key or a string of </a:t>
            </a:r>
            <a:r>
              <a:rPr lang="en-US" u="sng" dirty="0">
                <a:hlinkClick r:id="rId2"/>
              </a:rPr>
              <a:t>characters</a:t>
            </a:r>
            <a:r>
              <a:rPr lang="en-US" dirty="0"/>
              <a:t> into another value. </a:t>
            </a:r>
          </a:p>
          <a:p>
            <a:pPr algn="just" fontAlgn="base"/>
            <a:r>
              <a:rPr lang="en-US" dirty="0"/>
              <a:t>This is usually represented by a </a:t>
            </a:r>
            <a:r>
              <a:rPr lang="en-US" b="1" dirty="0"/>
              <a:t>shorter, fixed-length value or key </a:t>
            </a:r>
            <a:r>
              <a:rPr lang="en-US" dirty="0"/>
              <a:t>that represents and makes it easier to find or employ the original string</a:t>
            </a:r>
          </a:p>
          <a:p>
            <a:pPr algn="just" fontAlgn="base"/>
            <a:r>
              <a:rPr lang="en-US" dirty="0"/>
              <a:t>A key point about a hash is that no matter </a:t>
            </a:r>
            <a:r>
              <a:rPr lang="en-US" b="1" dirty="0"/>
              <a:t>how many times you execute</a:t>
            </a:r>
            <a:r>
              <a:rPr lang="en-US" dirty="0"/>
              <a:t> the hashing algorithm against the data, the hash will always be the same if the data is the same</a:t>
            </a:r>
          </a:p>
          <a:p>
            <a:pPr algn="just" fontAlgn="base"/>
            <a:r>
              <a:rPr lang="en-US" dirty="0"/>
              <a:t>The most popular use for hashing is the implementation of </a:t>
            </a:r>
            <a:r>
              <a:rPr lang="en-US" b="1" dirty="0"/>
              <a:t>hash tables</a:t>
            </a:r>
          </a:p>
          <a:p>
            <a:endParaRPr 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fontScale="90000"/>
          </a:bodyPr>
          <a:lstStyle/>
          <a:p>
            <a:r>
              <a:rPr lang="en-US" dirty="0"/>
              <a:t>Hashing Algorithms</a:t>
            </a:r>
          </a:p>
        </p:txBody>
      </p:sp>
      <p:sp>
        <p:nvSpPr>
          <p:cNvPr id="3" name="Content Placeholder 2"/>
          <p:cNvSpPr>
            <a:spLocks noGrp="1"/>
          </p:cNvSpPr>
          <p:nvPr>
            <p:ph idx="1"/>
          </p:nvPr>
        </p:nvSpPr>
        <p:spPr>
          <a:xfrm>
            <a:off x="0" y="762000"/>
            <a:ext cx="9144000" cy="5943600"/>
          </a:xfrm>
        </p:spPr>
        <p:txBody>
          <a:bodyPr>
            <a:noAutofit/>
          </a:bodyPr>
          <a:lstStyle/>
          <a:p>
            <a:pPr fontAlgn="base"/>
            <a:r>
              <a:rPr lang="en-US" sz="2800" b="1" dirty="0"/>
              <a:t>MD5</a:t>
            </a:r>
          </a:p>
          <a:p>
            <a:pPr algn="just" fontAlgn="base">
              <a:buNone/>
            </a:pPr>
            <a:r>
              <a:rPr lang="en-US" sz="2800" dirty="0"/>
              <a:t>        Message Digest 5 (MD5) is a common hashing algorithm that produces a </a:t>
            </a:r>
            <a:r>
              <a:rPr lang="en-US" sz="2800" b="1" dirty="0"/>
              <a:t>128-bithash. </a:t>
            </a:r>
          </a:p>
          <a:p>
            <a:pPr algn="just" fontAlgn="base">
              <a:buNone/>
            </a:pPr>
            <a:r>
              <a:rPr lang="en-US" sz="2800" dirty="0"/>
              <a:t>        Hashes are commonly shown in hexadecimal format instead of a stream of 1s and 0s.</a:t>
            </a:r>
          </a:p>
          <a:p>
            <a:pPr algn="just" fontAlgn="base">
              <a:buNone/>
            </a:pPr>
            <a:r>
              <a:rPr lang="en-US" sz="2800" dirty="0"/>
              <a:t>    ---&gt; For example, an MD5 hash is displayed as 32 hexadecimal characters instead of 128 bits.</a:t>
            </a:r>
          </a:p>
          <a:p>
            <a:pPr algn="just"/>
            <a:r>
              <a:rPr lang="en-US" sz="2800" dirty="0"/>
              <a:t>MD5 was developed as an improvement of MD4, with advanced security purposes. The output of MD5 (Digest size) is always </a:t>
            </a:r>
            <a:r>
              <a:rPr lang="en-US" sz="2800" b="1" dirty="0"/>
              <a:t>128 bits. </a:t>
            </a:r>
          </a:p>
          <a:p>
            <a:pPr algn="just"/>
            <a:r>
              <a:rPr lang="en-US" sz="2800" b="1" dirty="0"/>
              <a:t>MD5 </a:t>
            </a:r>
            <a:r>
              <a:rPr lang="en-US" sz="2800" dirty="0"/>
              <a:t>was</a:t>
            </a:r>
            <a:r>
              <a:rPr lang="en-US" sz="2800" b="1" dirty="0"/>
              <a:t> </a:t>
            </a:r>
            <a:r>
              <a:rPr lang="en-US" sz="2800" dirty="0"/>
              <a:t>developed in 1991 by </a:t>
            </a:r>
            <a:r>
              <a:rPr lang="en-US" sz="2800" b="1" dirty="0"/>
              <a:t>Ronald Rivest</a:t>
            </a:r>
            <a:endParaRPr lang="en-US" sz="28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b="1" dirty="0"/>
              <a:t>Use Of MD5 Algorithm</a:t>
            </a:r>
            <a:endParaRPr lang="en-US" dirty="0"/>
          </a:p>
        </p:txBody>
      </p:sp>
      <p:sp>
        <p:nvSpPr>
          <p:cNvPr id="3" name="Content Placeholder 2"/>
          <p:cNvSpPr>
            <a:spLocks noGrp="1"/>
          </p:cNvSpPr>
          <p:nvPr>
            <p:ph idx="1"/>
          </p:nvPr>
        </p:nvSpPr>
        <p:spPr>
          <a:xfrm>
            <a:off x="457200" y="1143000"/>
            <a:ext cx="8229600" cy="4525963"/>
          </a:xfrm>
        </p:spPr>
        <p:txBody>
          <a:bodyPr/>
          <a:lstStyle/>
          <a:p>
            <a:pPr fontAlgn="base"/>
            <a:r>
              <a:rPr lang="en-US" b="1" dirty="0"/>
              <a:t>It is used for file a</a:t>
            </a:r>
            <a:r>
              <a:rPr lang="en-US" dirty="0"/>
              <a:t>uthentication.</a:t>
            </a:r>
          </a:p>
          <a:p>
            <a:pPr fontAlgn="base"/>
            <a:r>
              <a:rPr lang="en-US" dirty="0"/>
              <a:t>In a web application, it is used for </a:t>
            </a:r>
            <a:r>
              <a:rPr lang="en-US" b="1" dirty="0"/>
              <a:t>security purposes</a:t>
            </a:r>
            <a:r>
              <a:rPr lang="en-US" dirty="0"/>
              <a:t>. e.g. Secure password of users etc.</a:t>
            </a:r>
          </a:p>
          <a:p>
            <a:pPr fontAlgn="base"/>
            <a:r>
              <a:rPr lang="en-US" dirty="0"/>
              <a:t>Using this algorithm, We can store our password in 128 bits format. </a:t>
            </a:r>
          </a:p>
          <a:p>
            <a:pPr fontAlgn="base"/>
            <a:endParaRPr lang="en-US" dirty="0"/>
          </a:p>
        </p:txBody>
      </p:sp>
      <p:pic>
        <p:nvPicPr>
          <p:cNvPr id="4" name="Picture 3" descr="MD5hash.jpg"/>
          <p:cNvPicPr>
            <a:picLocks noChangeAspect="1"/>
          </p:cNvPicPr>
          <p:nvPr/>
        </p:nvPicPr>
        <p:blipFill>
          <a:blip r:embed="rId2" cstate="print"/>
          <a:stretch>
            <a:fillRect/>
          </a:stretch>
        </p:blipFill>
        <p:spPr>
          <a:xfrm>
            <a:off x="381000" y="3810000"/>
            <a:ext cx="8382000" cy="2667000"/>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C:\Users\dell\OneDrive\Desktop\300px-MD5_algorithm.svg.png"/>
          <p:cNvPicPr>
            <a:picLocks noChangeAspect="1" noChangeArrowheads="1"/>
          </p:cNvPicPr>
          <p:nvPr/>
        </p:nvPicPr>
        <p:blipFill>
          <a:blip r:embed="rId2" cstate="print"/>
          <a:srcRect/>
          <a:stretch>
            <a:fillRect/>
          </a:stretch>
        </p:blipFill>
        <p:spPr bwMode="auto">
          <a:xfrm>
            <a:off x="1600200" y="160020"/>
            <a:ext cx="5715000" cy="6240780"/>
          </a:xfrm>
          <a:prstGeom prst="rect">
            <a:avLst/>
          </a:prstGeom>
          <a:noFill/>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Working of the MD5 Algorithm</a:t>
            </a:r>
            <a:endParaRPr lang="en-US" dirty="0"/>
          </a:p>
        </p:txBody>
      </p:sp>
      <p:sp>
        <p:nvSpPr>
          <p:cNvPr id="3" name="Content Placeholder 2"/>
          <p:cNvSpPr>
            <a:spLocks noGrp="1"/>
          </p:cNvSpPr>
          <p:nvPr>
            <p:ph idx="1"/>
          </p:nvPr>
        </p:nvSpPr>
        <p:spPr>
          <a:xfrm>
            <a:off x="457200" y="1295400"/>
            <a:ext cx="8229600" cy="4830763"/>
          </a:xfrm>
        </p:spPr>
        <p:txBody>
          <a:bodyPr>
            <a:normAutofit fontScale="77500" lnSpcReduction="20000"/>
          </a:bodyPr>
          <a:lstStyle/>
          <a:p>
            <a:pPr algn="just"/>
            <a:r>
              <a:rPr lang="en-US" dirty="0"/>
              <a:t>MD5 algorithm follows the following steps</a:t>
            </a:r>
          </a:p>
          <a:p>
            <a:pPr algn="just" fontAlgn="base"/>
            <a:r>
              <a:rPr lang="en-US" b="1" dirty="0"/>
              <a:t>1. Append Padding Bits: </a:t>
            </a:r>
            <a:r>
              <a:rPr lang="en-US" dirty="0"/>
              <a:t>In the first step, we add padding bits in the original message in such a way that the total length of the message is 64 bits less than the exact multiple of 512. </a:t>
            </a:r>
            <a:r>
              <a:rPr lang="en-US" b="1" dirty="0"/>
              <a:t> </a:t>
            </a:r>
          </a:p>
          <a:p>
            <a:pPr algn="just" fontAlgn="base"/>
            <a:r>
              <a:rPr lang="en-US" dirty="0"/>
              <a:t>Suppose we are given a message of 1000 bits. Now we have to add padding bits to the original message. Here we will add 472 padding bits to the original message.  After adding the padding bits the size of the original message/output of the first step will be 1472 i.e. 64 bits less than an exact multiple of 512 (i.e. 512*3 = 1536).</a:t>
            </a:r>
            <a:br>
              <a:rPr lang="en-US" dirty="0"/>
            </a:br>
            <a:r>
              <a:rPr lang="en-US" b="1" dirty="0"/>
              <a:t>Length(original message + padding bits) =  512 * </a:t>
            </a:r>
            <a:r>
              <a:rPr lang="en-US" b="1" dirty="0" err="1"/>
              <a:t>i</a:t>
            </a:r>
            <a:r>
              <a:rPr lang="en-US" b="1" dirty="0"/>
              <a:t> – 64 </a:t>
            </a:r>
            <a:r>
              <a:rPr lang="en-US" dirty="0"/>
              <a:t>where </a:t>
            </a:r>
            <a:r>
              <a:rPr lang="en-US" dirty="0" err="1"/>
              <a:t>i</a:t>
            </a:r>
            <a:r>
              <a:rPr lang="en-US" dirty="0"/>
              <a:t> = 1,2,3 . . . </a:t>
            </a:r>
            <a:br>
              <a:rPr lang="en-US" dirty="0"/>
            </a:br>
            <a:endParaRPr 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85000" lnSpcReduction="20000"/>
          </a:bodyPr>
          <a:lstStyle/>
          <a:p>
            <a:r>
              <a:rPr lang="en-US" b="1" dirty="0"/>
              <a:t>2. Append Length Bits: </a:t>
            </a:r>
            <a:r>
              <a:rPr lang="en-US" dirty="0"/>
              <a:t>In this step, we add the length bit in the output of the first step in such a way that the total number of the bits is the perfect multiple of 512. Simply, here we add the 64-bit as a length bit in the output of the first step. </a:t>
            </a:r>
            <a:br>
              <a:rPr lang="en-US" dirty="0"/>
            </a:br>
            <a:r>
              <a:rPr lang="en-US" dirty="0"/>
              <a:t>i.e. output of first step = 512 * n – 64 </a:t>
            </a:r>
            <a:br>
              <a:rPr lang="en-US" dirty="0"/>
            </a:br>
            <a:r>
              <a:rPr lang="en-US" dirty="0"/>
              <a:t>length bits = 64. </a:t>
            </a:r>
            <a:br>
              <a:rPr lang="en-US" dirty="0"/>
            </a:br>
            <a:r>
              <a:rPr lang="en-US" dirty="0"/>
              <a:t>After adding both we will get</a:t>
            </a:r>
            <a:r>
              <a:rPr lang="en-US" b="1" dirty="0"/>
              <a:t> 512 * n </a:t>
            </a:r>
            <a:r>
              <a:rPr lang="en-US" dirty="0"/>
              <a:t>i.e. the exact multiple of 512.</a:t>
            </a:r>
          </a:p>
          <a:p>
            <a:pPr fontAlgn="base"/>
            <a:r>
              <a:rPr lang="en-US" b="1" dirty="0"/>
              <a:t>3. Initialize MD buffer: </a:t>
            </a:r>
            <a:r>
              <a:rPr lang="en-US" dirty="0"/>
              <a:t>Here, we use the 4 buffers i.e. A, B, C, and D. The size of each buffer is 32 bits.  </a:t>
            </a:r>
          </a:p>
          <a:p>
            <a:pPr lvl="3">
              <a:buNone/>
            </a:pPr>
            <a:r>
              <a:rPr lang="en-US" dirty="0"/>
              <a:t>       </a:t>
            </a:r>
            <a:r>
              <a:rPr lang="en-US" sz="2800" dirty="0"/>
              <a:t>- A = 0x67425301 </a:t>
            </a:r>
          </a:p>
          <a:p>
            <a:pPr lvl="3">
              <a:buNone/>
            </a:pPr>
            <a:r>
              <a:rPr lang="en-US" sz="2800" dirty="0"/>
              <a:t>     - B = 0xEDFCBA45 </a:t>
            </a:r>
          </a:p>
          <a:p>
            <a:pPr lvl="3">
              <a:buNone/>
            </a:pPr>
            <a:r>
              <a:rPr lang="en-US" sz="2800" dirty="0"/>
              <a:t>     - C = 0x98CBADFE </a:t>
            </a:r>
          </a:p>
          <a:p>
            <a:pPr lvl="3">
              <a:buNone/>
            </a:pPr>
            <a:r>
              <a:rPr lang="en-US" sz="2800" dirty="0"/>
              <a:t>     - D = 0x13DCE476</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Autofit/>
          </a:bodyPr>
          <a:lstStyle/>
          <a:p>
            <a:pPr fontAlgn="base"/>
            <a:r>
              <a:rPr lang="en-US" sz="1800" b="1" dirty="0"/>
              <a:t>4. Process Each 512-bit Block:</a:t>
            </a:r>
            <a:r>
              <a:rPr lang="en-US" sz="1600" b="1" dirty="0"/>
              <a:t> </a:t>
            </a:r>
          </a:p>
          <a:p>
            <a:pPr fontAlgn="base"/>
            <a:endParaRPr lang="en-US" sz="1600" dirty="0"/>
          </a:p>
          <a:p>
            <a:pPr fontAlgn="base"/>
            <a:r>
              <a:rPr lang="en-US" sz="1600" dirty="0"/>
              <a:t>This is the most important step of the MD5 algorithm. Here, a total of </a:t>
            </a:r>
            <a:r>
              <a:rPr lang="en-US" sz="1600" b="1" dirty="0"/>
              <a:t>64 operations </a:t>
            </a:r>
            <a:r>
              <a:rPr lang="en-US" sz="1600" dirty="0"/>
              <a:t>are performed in 4 rounds. </a:t>
            </a:r>
          </a:p>
          <a:p>
            <a:pPr fontAlgn="base"/>
            <a:r>
              <a:rPr lang="en-US" sz="1600" dirty="0"/>
              <a:t>In the 1st round, 16 operations will be performed, 2nd round 16 operations will be performed, 3rd round 16 operations will be performed, and in the 4th round, 16 operations will be performed. </a:t>
            </a:r>
          </a:p>
          <a:p>
            <a:pPr fontAlgn="base"/>
            <a:r>
              <a:rPr lang="en-US" sz="1600" dirty="0"/>
              <a:t>We apply a different function on each round i.e. for the 1st round we apply the F function, for the 2nd G function, 3rd for the H function, and 4th for the I function. </a:t>
            </a:r>
            <a:br>
              <a:rPr lang="en-US" sz="1600" dirty="0"/>
            </a:br>
            <a:r>
              <a:rPr lang="en-US" sz="1600" dirty="0"/>
              <a:t>We perform OR, AND, XOR, and NOT (basically these are logic gates) for calculating functions. We use 3 buffers for each function i.e. B, C, D.</a:t>
            </a:r>
          </a:p>
          <a:p>
            <a:pPr fontAlgn="base"/>
            <a:r>
              <a:rPr lang="en-US" sz="1600" dirty="0"/>
              <a:t>- F(B,C,D) = (B AND C) OR (NOT B AND D)</a:t>
            </a:r>
          </a:p>
          <a:p>
            <a:pPr fontAlgn="base"/>
            <a:r>
              <a:rPr lang="en-US" sz="1600" dirty="0"/>
              <a:t> - G(B,C,D) = (B AND C) OR (C AND NOT D) </a:t>
            </a:r>
          </a:p>
          <a:p>
            <a:pPr fontAlgn="base"/>
            <a:r>
              <a:rPr lang="en-US" sz="1600" dirty="0"/>
              <a:t>- H(B,C,D) = B XOR C XOR D </a:t>
            </a:r>
          </a:p>
          <a:p>
            <a:pPr fontAlgn="base"/>
            <a:r>
              <a:rPr lang="en-US" sz="1600" dirty="0"/>
              <a:t>- I(B,C,D) = C XOR (B OR NOT D )</a:t>
            </a:r>
          </a:p>
          <a:p>
            <a:pPr fontAlgn="base"/>
            <a:r>
              <a:rPr lang="en-US" sz="1600" dirty="0"/>
              <a:t>After applying the function now we perform an operation on each block. </a:t>
            </a:r>
          </a:p>
          <a:p>
            <a:pPr fontAlgn="base"/>
            <a:r>
              <a:rPr lang="en-US" sz="1600" dirty="0"/>
              <a:t>For performing operations we need </a:t>
            </a:r>
          </a:p>
          <a:p>
            <a:pPr fontAlgn="base">
              <a:buNone/>
            </a:pPr>
            <a:r>
              <a:rPr lang="en-US" sz="1600" dirty="0"/>
              <a:t>                        add modulo 2</a:t>
            </a:r>
            <a:r>
              <a:rPr lang="en-US" sz="1600" baseline="30000" dirty="0"/>
              <a:t>32</a:t>
            </a:r>
            <a:endParaRPr lang="en-US" sz="1600" dirty="0"/>
          </a:p>
          <a:p>
            <a:pPr fontAlgn="base">
              <a:buNone/>
            </a:pPr>
            <a:r>
              <a:rPr lang="en-US" sz="1600" dirty="0"/>
              <a:t>                        M[</a:t>
            </a:r>
            <a:r>
              <a:rPr lang="en-US" sz="1600" dirty="0" err="1"/>
              <a:t>i</a:t>
            </a:r>
            <a:r>
              <a:rPr lang="en-US" sz="1600" dirty="0"/>
              <a:t>] – 32 bit message.</a:t>
            </a:r>
          </a:p>
          <a:p>
            <a:pPr fontAlgn="base">
              <a:buNone/>
            </a:pPr>
            <a:r>
              <a:rPr lang="en-US" sz="1600" dirty="0"/>
              <a:t>                        K[</a:t>
            </a:r>
            <a:r>
              <a:rPr lang="en-US" sz="1600" dirty="0" err="1"/>
              <a:t>i</a:t>
            </a:r>
            <a:r>
              <a:rPr lang="en-US" sz="1600" dirty="0"/>
              <a:t>] – 32 bit constant.</a:t>
            </a:r>
          </a:p>
          <a:p>
            <a:pPr fontAlgn="base">
              <a:buNone/>
            </a:pPr>
            <a:r>
              <a:rPr lang="en-US" sz="1600" dirty="0"/>
              <a:t>                         &lt;&lt;&lt;n – Left shift by n bits.</a:t>
            </a:r>
          </a:p>
          <a:p>
            <a:endParaRPr lang="en-US" sz="16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70000" lnSpcReduction="20000"/>
          </a:bodyPr>
          <a:lstStyle/>
          <a:p>
            <a:pPr fontAlgn="base"/>
            <a:r>
              <a:rPr lang="en-US" b="1" dirty="0"/>
              <a:t>Application Of MD5 Algorithm:</a:t>
            </a:r>
          </a:p>
          <a:p>
            <a:pPr fontAlgn="base"/>
            <a:r>
              <a:rPr lang="en-US" dirty="0"/>
              <a:t>We use message digest to verify the integrity of files/ authenticates files.</a:t>
            </a:r>
          </a:p>
          <a:p>
            <a:pPr fontAlgn="base"/>
            <a:r>
              <a:rPr lang="en-US" dirty="0"/>
              <a:t>MD5 was used for data security and encryption.</a:t>
            </a:r>
          </a:p>
          <a:p>
            <a:pPr fontAlgn="base"/>
            <a:r>
              <a:rPr lang="en-US" dirty="0"/>
              <a:t>It is used to Digest the message of any size and also used for Password verification.</a:t>
            </a:r>
          </a:p>
          <a:p>
            <a:pPr fontAlgn="base"/>
            <a:r>
              <a:rPr lang="en-US" dirty="0"/>
              <a:t>MD5 is faster and simple to understand.</a:t>
            </a:r>
          </a:p>
          <a:p>
            <a:pPr fontAlgn="base"/>
            <a:r>
              <a:rPr lang="en-US" dirty="0"/>
              <a:t>MD5 algorithm generates a strong password in 16 bytes format. All developers like web developers  use the MD5 algorithm to secure the password of users. </a:t>
            </a:r>
          </a:p>
          <a:p>
            <a:pPr fontAlgn="base"/>
            <a:r>
              <a:rPr lang="en-US" dirty="0"/>
              <a:t>To integrate the MD5 algorithm, relatively low memory is necessary. </a:t>
            </a:r>
          </a:p>
          <a:p>
            <a:pPr fontAlgn="base"/>
            <a:r>
              <a:rPr lang="en-US" dirty="0"/>
              <a:t>It is very easy and faster to generate a digest message of the original message.</a:t>
            </a:r>
          </a:p>
          <a:p>
            <a:pPr fontAlgn="base"/>
            <a:r>
              <a:rPr lang="en-US" b="1" dirty="0"/>
              <a:t>Disadvantages of MD5 Algorithm:</a:t>
            </a:r>
          </a:p>
          <a:p>
            <a:pPr fontAlgn="base"/>
            <a:r>
              <a:rPr lang="en-US" dirty="0"/>
              <a:t>MD5 generates the same hash function for different inputs. </a:t>
            </a:r>
          </a:p>
          <a:p>
            <a:pPr fontAlgn="base"/>
            <a:r>
              <a:rPr lang="en-US" dirty="0"/>
              <a:t>MD5 provides poor security over </a:t>
            </a:r>
            <a:r>
              <a:rPr lang="en-US" u="sng" dirty="0">
                <a:hlinkClick r:id="rId2"/>
              </a:rPr>
              <a:t>SHA1</a:t>
            </a:r>
            <a:r>
              <a:rPr lang="en-US" dirty="0"/>
              <a:t>.</a:t>
            </a:r>
          </a:p>
          <a:p>
            <a:pPr fontAlgn="base"/>
            <a:r>
              <a:rPr lang="en-US" dirty="0"/>
              <a:t>MD5 has been considered an insecure algorithm. So now we are using SHA256 instead of MD5  </a:t>
            </a:r>
          </a:p>
          <a:p>
            <a:pPr fontAlgn="base"/>
            <a:r>
              <a:rPr lang="en-US" dirty="0"/>
              <a:t>MD5 is neither a symmetric nor asymmetric algorithm.</a:t>
            </a:r>
            <a:br>
              <a:rPr lang="en-US" dirty="0"/>
            </a:br>
            <a:endParaRPr lang="en-US"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l="19820" t="11628" r="19820" b="8140"/>
          <a:stretch>
            <a:fillRect/>
          </a:stretch>
        </p:blipFill>
        <p:spPr bwMode="auto">
          <a:xfrm>
            <a:off x="0" y="0"/>
            <a:ext cx="9144000" cy="6858000"/>
          </a:xfrm>
          <a:prstGeom prst="rect">
            <a:avLst/>
          </a:prstGeom>
          <a:noFill/>
          <a:ln w="9525">
            <a:noFill/>
            <a:miter lim="800000"/>
            <a:headEnd/>
            <a:tailEnd/>
          </a:ln>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l="7407" t="4167" r="11111" b="8419"/>
          <a:stretch>
            <a:fillRect/>
          </a:stretch>
        </p:blipFill>
        <p:spPr bwMode="auto">
          <a:xfrm>
            <a:off x="0" y="13845"/>
            <a:ext cx="9144000" cy="6844155"/>
          </a:xfrm>
          <a:prstGeom prst="rect">
            <a:avLst/>
          </a:prstGeom>
          <a:noFill/>
          <a:ln w="9525">
            <a:noFill/>
            <a:miter lim="800000"/>
            <a:headEnd/>
            <a:tailEnd/>
          </a:ln>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cstate="print"/>
          <a:srcRect l="4118" t="5208" r="12941" b="9375"/>
          <a:stretch>
            <a:fillRect/>
          </a:stretch>
        </p:blipFill>
        <p:spPr bwMode="auto">
          <a:xfrm>
            <a:off x="0" y="0"/>
            <a:ext cx="9144000" cy="6858000"/>
          </a:xfrm>
          <a:prstGeom prst="rect">
            <a:avLst/>
          </a:prstGeom>
          <a:noFill/>
          <a:ln w="9525">
            <a:noFill/>
            <a:miter lim="800000"/>
            <a:headEnd/>
            <a:tailEnd/>
          </a:ln>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cstate="print"/>
          <a:srcRect l="19412" t="9375" r="19412" b="9375"/>
          <a:stretch>
            <a:fillRect/>
          </a:stretch>
        </p:blipFill>
        <p:spPr bwMode="auto">
          <a:xfrm>
            <a:off x="0" y="0"/>
            <a:ext cx="9144000" cy="6858000"/>
          </a:xfrm>
          <a:prstGeom prst="rect">
            <a:avLst/>
          </a:prstGeom>
          <a:noFill/>
          <a:ln w="9525">
            <a:noFill/>
            <a:miter lim="800000"/>
            <a:headEnd/>
            <a:tailEnd/>
          </a:ln>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cstate="print"/>
          <a:srcRect l="18823" t="9375" r="19412" b="9375"/>
          <a:stretch>
            <a:fillRect/>
          </a:stretch>
        </p:blipFill>
        <p:spPr bwMode="auto">
          <a:xfrm>
            <a:off x="-1" y="0"/>
            <a:ext cx="9144001" cy="6858000"/>
          </a:xfrm>
          <a:prstGeom prst="rect">
            <a:avLst/>
          </a:prstGeom>
          <a:noFill/>
          <a:ln w="9525">
            <a:noFill/>
            <a:miter lim="800000"/>
            <a:headEnd/>
            <a:tailEnd/>
          </a:ln>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cstate="print"/>
          <a:srcRect l="19412" t="13542" r="19412" b="9375"/>
          <a:stretch>
            <a:fillRect/>
          </a:stretch>
        </p:blipFill>
        <p:spPr bwMode="auto">
          <a:xfrm>
            <a:off x="-1" y="0"/>
            <a:ext cx="9144001" cy="6858000"/>
          </a:xfrm>
          <a:prstGeom prst="rect">
            <a:avLst/>
          </a:prstGeom>
          <a:noFill/>
          <a:ln w="9525">
            <a:noFill/>
            <a:miter lim="800000"/>
            <a:headEnd/>
            <a:tailEnd/>
          </a:ln>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cstate="print"/>
          <a:srcRect l="19412" t="9375" r="19412" b="9375"/>
          <a:stretch>
            <a:fillRect/>
          </a:stretch>
        </p:blipFill>
        <p:spPr bwMode="auto">
          <a:xfrm>
            <a:off x="0" y="0"/>
            <a:ext cx="9144000" cy="6858000"/>
          </a:xfrm>
          <a:prstGeom prst="rect">
            <a:avLst/>
          </a:prstGeom>
          <a:noFill/>
          <a:ln w="9525">
            <a:noFill/>
            <a:miter lim="800000"/>
            <a:headEnd/>
            <a:tailEnd/>
          </a:ln>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cstate="print"/>
          <a:srcRect l="19412" t="9375" r="20000" b="10417"/>
          <a:stretch>
            <a:fillRect/>
          </a:stretch>
        </p:blipFill>
        <p:spPr bwMode="auto">
          <a:xfrm>
            <a:off x="0" y="0"/>
            <a:ext cx="9173688" cy="6858000"/>
          </a:xfrm>
          <a:prstGeom prst="rect">
            <a:avLst/>
          </a:prstGeom>
          <a:noFill/>
          <a:ln w="9525">
            <a:noFill/>
            <a:miter lim="800000"/>
            <a:headEnd/>
            <a:tailEnd/>
          </a:ln>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cstate="print"/>
          <a:srcRect l="19412" t="9375" r="20000" b="9375"/>
          <a:stretch>
            <a:fillRect/>
          </a:stretch>
        </p:blipFill>
        <p:spPr bwMode="auto">
          <a:xfrm>
            <a:off x="0" y="-1"/>
            <a:ext cx="9144000" cy="6924583"/>
          </a:xfrm>
          <a:prstGeom prst="rect">
            <a:avLst/>
          </a:prstGeom>
          <a:noFill/>
          <a:ln w="9525">
            <a:noFill/>
            <a:miter lim="800000"/>
            <a:headEnd/>
            <a:tailEnd/>
          </a:ln>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cstate="print"/>
          <a:srcRect l="19412" t="9375" r="19412" b="9375"/>
          <a:stretch>
            <a:fillRect/>
          </a:stretch>
        </p:blipFill>
        <p:spPr bwMode="auto">
          <a:xfrm>
            <a:off x="0" y="0"/>
            <a:ext cx="9144000" cy="6858000"/>
          </a:xfrm>
          <a:prstGeom prst="rect">
            <a:avLst/>
          </a:prstGeom>
          <a:noFill/>
          <a:ln w="9525">
            <a:noFill/>
            <a:miter lim="800000"/>
            <a:headEnd/>
            <a:tailEnd/>
          </a:ln>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cstate="print"/>
          <a:srcRect l="19412" t="10417" r="19412" b="10417"/>
          <a:stretch>
            <a:fillRect/>
          </a:stretch>
        </p:blipFill>
        <p:spPr bwMode="auto">
          <a:xfrm>
            <a:off x="-1" y="0"/>
            <a:ext cx="9144001" cy="6858000"/>
          </a:xfrm>
          <a:prstGeom prst="rect">
            <a:avLst/>
          </a:prstGeom>
          <a:noFill/>
          <a:ln w="9525">
            <a:noFill/>
            <a:miter lim="800000"/>
            <a:headEnd/>
            <a:tailEnd/>
          </a:ln>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cstate="print"/>
          <a:srcRect l="20000" t="10417" r="20000" b="9375"/>
          <a:stretch>
            <a:fillRect/>
          </a:stretch>
        </p:blipFill>
        <p:spPr bwMode="auto">
          <a:xfrm>
            <a:off x="-1" y="0"/>
            <a:ext cx="9144001" cy="6858000"/>
          </a:xfrm>
          <a:prstGeom prst="rect">
            <a:avLst/>
          </a:prstGeom>
          <a:noFill/>
          <a:ln w="9525">
            <a:noFill/>
            <a:miter lim="800000"/>
            <a:headEnd/>
            <a:tailEnd/>
          </a:ln>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cstate="print"/>
          <a:srcRect l="20000" t="10417" r="19412" b="9375"/>
          <a:stretch>
            <a:fillRect/>
          </a:stretch>
        </p:blipFill>
        <p:spPr bwMode="auto">
          <a:xfrm>
            <a:off x="0" y="0"/>
            <a:ext cx="9173688" cy="6858000"/>
          </a:xfrm>
          <a:prstGeom prst="rect">
            <a:avLst/>
          </a:prstGeom>
          <a:noFill/>
          <a:ln w="9525">
            <a:noFill/>
            <a:miter lim="800000"/>
            <a:headEnd/>
            <a:tailEnd/>
          </a:ln>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cstate="print"/>
          <a:srcRect l="19412" t="10417" r="19412" b="10417"/>
          <a:stretch>
            <a:fillRect/>
          </a:stretch>
        </p:blipFill>
        <p:spPr bwMode="auto">
          <a:xfrm>
            <a:off x="0" y="0"/>
            <a:ext cx="9176084" cy="6858000"/>
          </a:xfrm>
          <a:prstGeom prst="rect">
            <a:avLst/>
          </a:prstGeom>
          <a:noFill/>
          <a:ln w="9525">
            <a:noFill/>
            <a:miter lim="800000"/>
            <a:headEnd/>
            <a:tailEnd/>
          </a:ln>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2" cstate="print"/>
          <a:srcRect l="19412" t="10417" r="20000" b="10417"/>
          <a:stretch>
            <a:fillRect/>
          </a:stretch>
        </p:blipFill>
        <p:spPr bwMode="auto">
          <a:xfrm>
            <a:off x="-1" y="0"/>
            <a:ext cx="9144001" cy="6858000"/>
          </a:xfrm>
          <a:prstGeom prst="rect">
            <a:avLst/>
          </a:prstGeom>
          <a:noFill/>
          <a:ln w="9525">
            <a:noFill/>
            <a:miter lim="800000"/>
            <a:headEnd/>
            <a:tailEnd/>
          </a:ln>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2" cstate="print"/>
          <a:srcRect l="20000" t="10417" r="19412" b="9375"/>
          <a:stretch>
            <a:fillRect/>
          </a:stretch>
        </p:blipFill>
        <p:spPr bwMode="auto">
          <a:xfrm>
            <a:off x="0" y="0"/>
            <a:ext cx="9144000" cy="6858000"/>
          </a:xfrm>
          <a:prstGeom prst="rect">
            <a:avLst/>
          </a:prstGeom>
          <a:noFill/>
          <a:ln w="9525">
            <a:noFill/>
            <a:miter lim="800000"/>
            <a:headEnd/>
            <a:tailEnd/>
          </a:ln>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2" cstate="print"/>
          <a:srcRect l="20000" t="10417" r="19412" b="9375"/>
          <a:stretch>
            <a:fillRect/>
          </a:stretch>
        </p:blipFill>
        <p:spPr bwMode="auto">
          <a:xfrm>
            <a:off x="0" y="0"/>
            <a:ext cx="9144000" cy="6835806"/>
          </a:xfrm>
          <a:prstGeom prst="rect">
            <a:avLst/>
          </a:prstGeom>
          <a:noFill/>
          <a:ln w="9525">
            <a:noFill/>
            <a:miter lim="800000"/>
            <a:headEnd/>
            <a:tailEnd/>
          </a:ln>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spect="1" noChangeArrowheads="1"/>
          </p:cNvPicPr>
          <p:nvPr/>
        </p:nvPicPr>
        <p:blipFill>
          <a:blip r:embed="rId2" cstate="print"/>
          <a:srcRect l="19412" t="9375" r="20000" b="9375"/>
          <a:stretch>
            <a:fillRect/>
          </a:stretch>
        </p:blipFill>
        <p:spPr bwMode="auto">
          <a:xfrm>
            <a:off x="-1" y="0"/>
            <a:ext cx="9144001" cy="6858000"/>
          </a:xfrm>
          <a:prstGeom prst="rect">
            <a:avLst/>
          </a:prstGeom>
          <a:noFill/>
          <a:ln w="9525">
            <a:noFill/>
            <a:miter lim="800000"/>
            <a:headEnd/>
            <a:tailEnd/>
          </a:ln>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ym typeface="+mn-ea"/>
              </a:rPr>
              <a:t>Steganography</a:t>
            </a:r>
          </a:p>
        </p:txBody>
      </p:sp>
      <p:sp>
        <p:nvSpPr>
          <p:cNvPr id="3" name="Content Placeholder 2"/>
          <p:cNvSpPr>
            <a:spLocks noGrp="1"/>
          </p:cNvSpPr>
          <p:nvPr>
            <p:ph idx="1"/>
          </p:nvPr>
        </p:nvSpPr>
        <p:spPr>
          <a:xfrm>
            <a:off x="457200" y="1295400"/>
            <a:ext cx="8229600" cy="4830763"/>
          </a:xfrm>
        </p:spPr>
        <p:txBody>
          <a:bodyPr>
            <a:normAutofit fontScale="90000" lnSpcReduction="10000"/>
          </a:bodyPr>
          <a:lstStyle/>
          <a:p>
            <a:pPr algn="just"/>
            <a:r>
              <a:rPr lang="en-US" sz="2400" dirty="0">
                <a:latin typeface="Times New Roman" panose="02020603050405020304" charset="0"/>
                <a:cs typeface="Times New Roman" panose="02020603050405020304" charset="0"/>
              </a:rPr>
              <a:t>Steganography is a method of hiding secret data, by embedding it into an audio, video, image, or text file. It is one of the methods working to protect secret or sensitive data from malicious attacks</a:t>
            </a:r>
            <a:r>
              <a:rPr lang="en-US" dirty="0"/>
              <a:t>. </a:t>
            </a:r>
            <a:endParaRPr lang="en-US" sz="2400" dirty="0">
              <a:latin typeface="Times New Roman" panose="02020603050405020304" charset="0"/>
              <a:cs typeface="Times New Roman" panose="02020603050405020304" charset="0"/>
            </a:endParaRPr>
          </a:p>
          <a:p>
            <a:pPr algn="just"/>
            <a:r>
              <a:rPr lang="en-US" sz="2400" dirty="0">
                <a:latin typeface="Times New Roman" panose="02020603050405020304" charset="0"/>
                <a:cs typeface="Times New Roman" panose="02020603050405020304" charset="0"/>
              </a:rPr>
              <a:t>Cryptography and steganography are both methods used to hide or protect secret data. However, they differ in the respect that cryptography makes the data unreadable, or hides the meaning of the data, while steganography hides the existence of the data.</a:t>
            </a:r>
          </a:p>
          <a:p>
            <a:pPr algn="just"/>
            <a:r>
              <a:rPr lang="en-US" sz="2400" b="1" dirty="0">
                <a:latin typeface="Times New Roman" panose="02020603050405020304" charset="0"/>
                <a:cs typeface="Times New Roman" panose="02020603050405020304" charset="0"/>
              </a:rPr>
              <a:t>Image Steganography – </a:t>
            </a:r>
          </a:p>
          <a:p>
            <a:r>
              <a:rPr lang="en-US" sz="2400" dirty="0">
                <a:latin typeface="Times New Roman" panose="02020603050405020304" charset="0"/>
                <a:cs typeface="Times New Roman" panose="02020603050405020304" charset="0"/>
              </a:rPr>
              <a:t> Image Steganography refers to the process of hiding data within an image file. The image selected for this purpose is called the </a:t>
            </a:r>
            <a:r>
              <a:rPr lang="en-US" sz="2400" b="1" dirty="0">
                <a:latin typeface="Times New Roman" panose="02020603050405020304" charset="0"/>
                <a:cs typeface="Times New Roman" panose="02020603050405020304" charset="0"/>
              </a:rPr>
              <a:t>cover image</a:t>
            </a:r>
            <a:r>
              <a:rPr lang="en-US" sz="2400" dirty="0">
                <a:latin typeface="Times New Roman" panose="02020603050405020304" charset="0"/>
                <a:cs typeface="Times New Roman" panose="02020603050405020304" charset="0"/>
              </a:rPr>
              <a:t> and the image obtained after steganography is called the </a:t>
            </a:r>
            <a:r>
              <a:rPr lang="en-US" sz="2400" b="1" dirty="0" err="1">
                <a:latin typeface="Times New Roman" panose="02020603050405020304" charset="0"/>
                <a:cs typeface="Times New Roman" panose="02020603050405020304" charset="0"/>
              </a:rPr>
              <a:t>stego</a:t>
            </a:r>
            <a:r>
              <a:rPr lang="en-US" sz="2400" b="1" dirty="0">
                <a:latin typeface="Times New Roman" panose="02020603050405020304" charset="0"/>
                <a:cs typeface="Times New Roman" panose="02020603050405020304" charset="0"/>
              </a:rPr>
              <a:t> image</a:t>
            </a:r>
            <a:r>
              <a:rPr lang="en-US" sz="2400" dirty="0">
                <a:latin typeface="Times New Roman" panose="02020603050405020304" charset="0"/>
                <a:cs typeface="Times New Roman" panose="02020603050405020304" charset="0"/>
              </a:rPr>
              <a:t>.  </a:t>
            </a:r>
            <a:br>
              <a:rPr lang="en-US" sz="2400" dirty="0">
                <a:latin typeface="Times New Roman" panose="02020603050405020304" charset="0"/>
                <a:cs typeface="Times New Roman" panose="02020603050405020304" charset="0"/>
              </a:rPr>
            </a:br>
            <a:endParaRPr lang="en-US"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How is it done? </a:t>
            </a:r>
            <a:endParaRPr lang="en-US" dirty="0"/>
          </a:p>
        </p:txBody>
      </p:sp>
      <p:sp>
        <p:nvSpPr>
          <p:cNvPr id="3" name="Content Placeholder 2"/>
          <p:cNvSpPr>
            <a:spLocks noGrp="1"/>
          </p:cNvSpPr>
          <p:nvPr>
            <p:ph idx="1"/>
          </p:nvPr>
        </p:nvSpPr>
        <p:spPr/>
        <p:txBody>
          <a:bodyPr>
            <a:normAutofit fontScale="90000" lnSpcReduction="10000"/>
          </a:bodyPr>
          <a:lstStyle/>
          <a:p>
            <a:pPr algn="just"/>
            <a:r>
              <a:rPr lang="en-US" dirty="0"/>
              <a:t>An image is represented as an N*M (in case of grayscale images) or N*M*3 (in case of color images) matrix in memory, with each entry representing the intensity value of a pixel. </a:t>
            </a:r>
          </a:p>
          <a:p>
            <a:pPr algn="just"/>
            <a:r>
              <a:rPr lang="en-US" dirty="0"/>
              <a:t>In image steganography, a message is embedded into an image by altering the values of some pixels, which are chosen by an encryption algorithm. </a:t>
            </a:r>
          </a:p>
          <a:p>
            <a:pPr algn="just"/>
            <a:r>
              <a:rPr lang="en-US" dirty="0"/>
              <a:t>The recipient of the image must be aware of the same algorithm in order to know which pixels he or she must select to extract the message</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2-72"/>
          <p:cNvPicPr>
            <a:picLocks noGrp="1" noChangeAspect="1"/>
          </p:cNvPicPr>
          <p:nvPr>
            <p:ph idx="1"/>
          </p:nvPr>
        </p:nvPicPr>
        <p:blipFill>
          <a:blip r:embed="rId2"/>
          <a:stretch>
            <a:fillRect/>
          </a:stretch>
        </p:blipFill>
        <p:spPr>
          <a:xfrm>
            <a:off x="1295400" y="1905000"/>
            <a:ext cx="6400800" cy="3657600"/>
          </a:xfrm>
          <a:prstGeom prst="rect">
            <a:avLst/>
          </a:prstGeom>
        </p:spPr>
      </p:pic>
      <p:sp>
        <p:nvSpPr>
          <p:cNvPr id="4" name="Picture 1" descr="https://media.geeksforgeeks.org/wp-content/uploads/2-72.png"/>
          <p:cNvSpPr/>
          <p:nvPr/>
        </p:nvSpPr>
        <p:spPr>
          <a:xfrm>
            <a:off x="2984079" y="2001329"/>
            <a:ext cx="3175842" cy="2855343"/>
          </a:xfrm>
        </p:spPr>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95400"/>
            <a:ext cx="8229600" cy="4830763"/>
          </a:xfrm>
        </p:spPr>
        <p:txBody>
          <a:bodyPr>
            <a:normAutofit fontScale="67500" lnSpcReduction="20000"/>
          </a:bodyPr>
          <a:lstStyle/>
          <a:p>
            <a:pPr algn="just"/>
            <a:r>
              <a:rPr lang="en-US" dirty="0"/>
              <a:t>steganography approach involves cover a huge amount of data (picture, audio, and text) within a </a:t>
            </a:r>
            <a:r>
              <a:rPr lang="en-US" dirty="0" err="1"/>
              <a:t>colour</a:t>
            </a:r>
            <a:r>
              <a:rPr lang="en-US" dirty="0"/>
              <a:t> bitmap (bmp) image. </a:t>
            </a:r>
          </a:p>
          <a:p>
            <a:pPr algn="just"/>
            <a:r>
              <a:rPr lang="en-US" dirty="0"/>
              <a:t>The image will be filtered and segmented with bits replacement applied to the appropriate pixels. These pixels are chosen at random rather than in order. </a:t>
            </a:r>
          </a:p>
          <a:p>
            <a:pPr algn="just"/>
            <a:r>
              <a:rPr lang="en-US" dirty="0"/>
              <a:t>Detection of the message within the cover image is done by the process of steganalysis. </a:t>
            </a:r>
          </a:p>
          <a:p>
            <a:pPr algn="just"/>
            <a:r>
              <a:rPr lang="en-US" dirty="0"/>
              <a:t>This can be done through comparison with the cover image, histogram plotting, or noise detection. </a:t>
            </a:r>
          </a:p>
          <a:p>
            <a:pPr algn="just"/>
            <a:r>
              <a:rPr lang="en-US" dirty="0"/>
              <a:t>Efforts are being invested in developing new algorithms with a greater degree of immunity against such attacks,</a:t>
            </a:r>
          </a:p>
          <a:p>
            <a:pPr algn="just"/>
            <a:r>
              <a:rPr lang="en-US" dirty="0"/>
              <a:t>Efforts are also being dedicated towards improving existing algorithms for steganalysis, to detect the exchange of secret information between terrorists or criminal </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Outcomes (COs)</a:t>
            </a:r>
          </a:p>
        </p:txBody>
      </p:sp>
      <p:sp>
        <p:nvSpPr>
          <p:cNvPr id="3" name="Content Placeholder 2"/>
          <p:cNvSpPr>
            <a:spLocks noGrp="1"/>
          </p:cNvSpPr>
          <p:nvPr>
            <p:ph idx="1"/>
          </p:nvPr>
        </p:nvSpPr>
        <p:spPr/>
        <p:txBody>
          <a:bodyPr/>
          <a:lstStyle/>
          <a:p>
            <a:r>
              <a:rPr lang="en-US" dirty="0">
                <a:sym typeface="+mn-ea"/>
              </a:rPr>
              <a:t>Upon completion of course the students will be able to</a:t>
            </a:r>
            <a:endParaRPr lang="en-US" dirty="0"/>
          </a:p>
          <a:p>
            <a:r>
              <a:rPr lang="en-US" b="1" dirty="0"/>
              <a:t>Apply cryptographic techniques and digital signature protocols</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4259</TotalTime>
  <Words>7675</Words>
  <Application>Microsoft Office PowerPoint</Application>
  <PresentationFormat>On-screen Show (4:3)</PresentationFormat>
  <Paragraphs>513</Paragraphs>
  <Slides>112</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112</vt:i4>
      </vt:variant>
    </vt:vector>
  </HeadingPairs>
  <TitlesOfParts>
    <vt:vector size="119" baseType="lpstr">
      <vt:lpstr>Arial</vt:lpstr>
      <vt:lpstr>Calibri</vt:lpstr>
      <vt:lpstr>Nunito</vt:lpstr>
      <vt:lpstr>Times New Roman</vt:lpstr>
      <vt:lpstr>var(--ff-lato)</vt:lpstr>
      <vt:lpstr>Verdana</vt:lpstr>
      <vt:lpstr>Office Theme</vt:lpstr>
      <vt:lpstr>UNIT -2 CRYPTOGRAPHY AND CRYPTANALYSIS</vt:lpstr>
      <vt:lpstr>PowerPoint Presentation</vt:lpstr>
      <vt:lpstr>PowerPoint Presentation</vt:lpstr>
      <vt:lpstr>Introduction to Cryptography</vt:lpstr>
      <vt:lpstr>Symmetric cryptography</vt:lpstr>
      <vt:lpstr>PowerPoint Presentation</vt:lpstr>
      <vt:lpstr>Asymmetric cryptography</vt:lpstr>
      <vt:lpstr>Message authentication</vt:lpstr>
      <vt:lpstr>Message Authentication Code (MAC)</vt:lpstr>
      <vt:lpstr>PowerPoint Presentation</vt:lpstr>
      <vt:lpstr>PowerPoint Presentation</vt:lpstr>
      <vt:lpstr>PowerPoint Presentation</vt:lpstr>
      <vt:lpstr>Digital Signatures</vt:lpstr>
      <vt:lpstr>PowerPoint Presentation</vt:lpstr>
      <vt:lpstr>PowerPoint Presentation</vt:lpstr>
      <vt:lpstr>PowerPoint Presentation</vt:lpstr>
      <vt:lpstr>PowerPoint Presentation</vt:lpstr>
      <vt:lpstr>PowerPoint Presentation</vt:lpstr>
      <vt:lpstr>PowerPoint Presentation</vt:lpstr>
      <vt:lpstr>Security protocols</vt:lpstr>
      <vt:lpstr>Types of Security Protocols</vt:lpstr>
      <vt:lpstr>IPSec and VPNs</vt:lpstr>
      <vt:lpstr>SSL and TLS</vt:lpstr>
      <vt:lpstr>Application Transparent Transport Layer Security (AT-TLS)</vt:lpstr>
      <vt:lpstr>Kerberos</vt:lpstr>
      <vt:lpstr>OSPF Authentication</vt:lpstr>
      <vt:lpstr>SNMPv3</vt:lpstr>
      <vt:lpstr>Security at the Application Layer</vt:lpstr>
      <vt:lpstr>PowerPoint Presentation</vt:lpstr>
      <vt:lpstr>PowerPoint Presentation</vt:lpstr>
      <vt:lpstr>E-mail Security</vt:lpstr>
      <vt:lpstr>PowerPoint Presentation</vt:lpstr>
      <vt:lpstr>PowerPoint Presentation</vt:lpstr>
      <vt:lpstr>E-Mail Security Services</vt:lpstr>
      <vt:lpstr> Security services such as privacy, authentication, message integrity, and non-repudiation are usually provided by using public key cryptography.   Typically, there are three different scenarios of e-mail communication. We will discuss the methods of achieving above security services in these scenarios.   One-to-One E-mail One-to-Multiple Recipients E-mail One-to-Distribution List E-mail  </vt:lpstr>
      <vt:lpstr>One-to-One E-mail</vt:lpstr>
      <vt:lpstr>PowerPoint Presentation</vt:lpstr>
      <vt:lpstr>One-to-Multiple Recipients E-mail</vt:lpstr>
      <vt:lpstr>One-to-Distribution List E-mail</vt:lpstr>
      <vt:lpstr>PowerPoint Presentation</vt:lpstr>
      <vt:lpstr>PowerPoint Presentation</vt:lpstr>
      <vt:lpstr>S/MIME (Secure/Multipurpose Internet Mail Extensions)</vt:lpstr>
      <vt:lpstr>PowerPoint Presentation</vt:lpstr>
      <vt:lpstr>PowerPoint Presentation</vt:lpstr>
      <vt:lpstr>PowerPoint Presentation</vt:lpstr>
      <vt:lpstr>Pretty Good Privacy (PGP)</vt:lpstr>
      <vt:lpstr>Working of PGP</vt:lpstr>
      <vt:lpstr>PowerPoint Presentation</vt:lpstr>
      <vt:lpstr>PowerPoint Presentation</vt:lpstr>
      <vt:lpstr>PowerPoint Presentation</vt:lpstr>
      <vt:lpstr>PowerPoint Presentation</vt:lpstr>
      <vt:lpstr>Security at the Transport layer</vt:lpstr>
      <vt:lpstr>Need for Transport Layer Security</vt:lpstr>
      <vt:lpstr>PowerPoint Presentation</vt:lpstr>
      <vt:lpstr>Philosophy of TLS Design</vt:lpstr>
      <vt:lpstr>PowerPoint Presentation</vt:lpstr>
      <vt:lpstr>Why TLS is Popular?</vt:lpstr>
      <vt:lpstr>Secure Socket Layer (SSL)</vt:lpstr>
      <vt:lpstr>Salient Features of SSL</vt:lpstr>
      <vt:lpstr>PowerPoint Presentation</vt:lpstr>
      <vt:lpstr>Architecture of SSL</vt:lpstr>
      <vt:lpstr>PowerPoint Presentation</vt:lpstr>
      <vt:lpstr>PowerPoint Presentation</vt:lpstr>
      <vt:lpstr>Functions of SSL Protocol Components</vt:lpstr>
      <vt:lpstr>PowerPoint Presentation</vt:lpstr>
      <vt:lpstr>PowerPoint Presentation</vt:lpstr>
      <vt:lpstr>Security in Network Layer </vt:lpstr>
      <vt:lpstr>Security Functions </vt:lpstr>
      <vt:lpstr>Operations Within IPsec </vt:lpstr>
      <vt:lpstr>PowerPoint Presentation</vt:lpstr>
      <vt:lpstr>IPsec Communication Modes </vt:lpstr>
      <vt:lpstr>IPSec Architecture</vt:lpstr>
      <vt:lpstr>IPsec Protocols </vt:lpstr>
      <vt:lpstr>PowerPoint Presentation</vt:lpstr>
      <vt:lpstr>Open source/Free/ Trial Tools: Implementation of Cryptographic Techniques -OpenSSL</vt:lpstr>
      <vt:lpstr> OpenSSL is split into four principal components</vt:lpstr>
      <vt:lpstr> OpenSSL  characteristics</vt:lpstr>
      <vt:lpstr>Conceptual Component View</vt:lpstr>
      <vt:lpstr>Packaging View The components described above are packaged into libraries (libcrypto and libssl) and associated engine interfaces as well as an “openssl” command line executable for running the various applications. This is illustrated in the diagram below.</vt:lpstr>
      <vt:lpstr>PowerPoint Presentation</vt:lpstr>
      <vt:lpstr>Hash values</vt:lpstr>
      <vt:lpstr>PowerPoint Presentation</vt:lpstr>
      <vt:lpstr>Hashing Algorithms</vt:lpstr>
      <vt:lpstr>Use Of MD5 Algorithm</vt:lpstr>
      <vt:lpstr>PowerPoint Presentation</vt:lpstr>
      <vt:lpstr>Working of the MD5 Algorithm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Steganography</vt:lpstr>
      <vt:lpstr>How is it done? </vt:lpstr>
      <vt:lpstr>PowerPoint Presentation</vt:lpstr>
      <vt:lpstr>PowerPoint Presentation</vt:lpstr>
      <vt:lpstr>Course Outcomes (COs)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dell</dc:creator>
  <cp:lastModifiedBy>S Alagumuthukrishnan</cp:lastModifiedBy>
  <cp:revision>290</cp:revision>
  <dcterms:created xsi:type="dcterms:W3CDTF">2022-09-27T02:46:56Z</dcterms:created>
  <dcterms:modified xsi:type="dcterms:W3CDTF">2026-07-20T08:54:37Z</dcterms:modified>
</cp:coreProperties>
</file>